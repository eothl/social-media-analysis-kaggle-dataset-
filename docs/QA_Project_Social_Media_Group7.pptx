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32_6CF178EB.xml" ContentType="application/vnd.ms-powerpoint.comments+xml"/>
  <Override PartName="/ppt/notesSlides/notesSlide2.xml" ContentType="application/vnd.openxmlformats-officedocument.presentationml.notesSlide+xml"/>
  <Override PartName="/ppt/comments/modernComment_126_64180AC6.xml" ContentType="application/vnd.ms-powerpoint.comments+xml"/>
  <Override PartName="/ppt/comments/modernComment_12A_A32C1DE8.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8_7D9DDBF5.xml" ContentType="application/vnd.ms-powerpoint.comments+xml"/>
  <Override PartName="/ppt/comments/modernComment_10E_1118DBC8.xml" ContentType="application/vnd.ms-powerpoint.comments+xml"/>
  <Override PartName="/ppt/tags/tag7.xml" ContentType="application/vnd.openxmlformats-officedocument.presentationml.tags+xml"/>
  <Override PartName="/ppt/comments/modernComment_10F_B216BE10.xml" ContentType="application/vnd.ms-powerpoint.comments+xml"/>
  <Override PartName="/ppt/comments/modernComment_13A_7524A5B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handoutMasterIdLst>
    <p:handoutMasterId r:id="rId30"/>
  </p:handoutMasterIdLst>
  <p:sldIdLst>
    <p:sldId id="256" r:id="rId2"/>
    <p:sldId id="260" r:id="rId3"/>
    <p:sldId id="306" r:id="rId4"/>
    <p:sldId id="299" r:id="rId5"/>
    <p:sldId id="294" r:id="rId6"/>
    <p:sldId id="298" r:id="rId7"/>
    <p:sldId id="300" r:id="rId8"/>
    <p:sldId id="301" r:id="rId9"/>
    <p:sldId id="312" r:id="rId10"/>
    <p:sldId id="319" r:id="rId11"/>
    <p:sldId id="308" r:id="rId12"/>
    <p:sldId id="315" r:id="rId13"/>
    <p:sldId id="316" r:id="rId14"/>
    <p:sldId id="304" r:id="rId15"/>
    <p:sldId id="261" r:id="rId16"/>
    <p:sldId id="285" r:id="rId17"/>
    <p:sldId id="280" r:id="rId18"/>
    <p:sldId id="321" r:id="rId19"/>
    <p:sldId id="279" r:id="rId20"/>
    <p:sldId id="313" r:id="rId21"/>
    <p:sldId id="284" r:id="rId22"/>
    <p:sldId id="287" r:id="rId23"/>
    <p:sldId id="270" r:id="rId24"/>
    <p:sldId id="271" r:id="rId25"/>
    <p:sldId id="314" r:id="rId26"/>
    <p:sldId id="318" r:id="rId27"/>
    <p:sldId id="317" r:id="rId28"/>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372747-C0BC-3969-9F35-F8F1C27C5687}" name="Diego Matali Goya" initials="DM" userId="S::je8a8rcaudurzt9x@students.rwth-aachen.de::67204f17-c6e4-48bc-8e03-5da51fe9d35e" providerId="AD"/>
  <p188:author id="{E0635F51-13AE-868B-C869-02FFE7D15D32}" name="theo lin" initials="tl" userId="417bb07c5af0d499" providerId="Windows Live"/>
  <p188:author id="{8DCB36FB-6D7E-CF13-3A3B-3F5B1F7DBD94}" name="Guest User" initials="GU" userId="S::urn:spo:tenantanon#f6c405b7-4967-49ad-b6fe-74187665400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AI XIWEN#" initials="#X" lastIdx="1" clrIdx="0">
    <p:extLst>
      <p:ext uri="{19B8F6BF-5375-455C-9EA6-DF929625EA0E}">
        <p15:presenceInfo xmlns:p15="http://schemas.microsoft.com/office/powerpoint/2012/main" userId="S::baix0010@e.ntu.edu.sg::93fc05f1-e2c8-4a3c-9643-aa1bf2adc0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DEEA"/>
    <a:srgbClr val="EBDFEA"/>
    <a:srgbClr val="743481"/>
    <a:srgbClr val="B7B7B7"/>
    <a:srgbClr val="C35A3A"/>
    <a:srgbClr val="810085"/>
    <a:srgbClr val="702F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45458-0390-883A-3C38-9CF97F3EC390}" v="1048" dt="2025-12-25T03:37:58.626"/>
    <p1510:client id="{7EDA92F9-A2C8-FD44-C141-1329950A5C93}" v="143" dt="2025-12-25T08:36:46.580"/>
    <p1510:client id="{B1476EF0-8316-C34A-CE6B-E58FA871F55B}" v="2" dt="2025-12-24T15:32:02.652"/>
    <p1510:client id="{C67B4AAA-F624-F6AC-D6D8-40B276B8E017}" v="14" dt="2025-12-24T15:29:34.410"/>
    <p1510:client id="{D8037BD1-D112-4865-8BAA-39E9FBC7786C}" v="541" dt="2025-12-25T09:16:34.178"/>
    <p1510:client id="{EDC162C8-7076-E5D1-4BAC-FAEE5046D9D8}" v="318" dt="2025-12-25T09:04:00.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270" autoAdjust="0"/>
  </p:normalViewPr>
  <p:slideViewPr>
    <p:cSldViewPr snapToGrid="0">
      <p:cViewPr varScale="1">
        <p:scale>
          <a:sx n="111" d="100"/>
          <a:sy n="111" d="100"/>
        </p:scale>
        <p:origin x="8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omments/modernComment_10E_1118DBC8.xml><?xml version="1.0" encoding="utf-8"?>
<p188:cmLst xmlns:a="http://schemas.openxmlformats.org/drawingml/2006/main" xmlns:r="http://schemas.openxmlformats.org/officeDocument/2006/relationships" xmlns:p188="http://schemas.microsoft.com/office/powerpoint/2018/8/main">
  <p188:cm id="{0009F0E3-F834-471F-9422-22BB20DD2955}" authorId="{8DCB36FB-6D7E-CF13-3A3B-3F5B1F7DBD94}" created="2025-12-23T08:50:19.222">
    <ac:deMkLst xmlns:ac="http://schemas.microsoft.com/office/drawing/2013/main/command">
      <pc:docMk xmlns:pc="http://schemas.microsoft.com/office/powerpoint/2013/main/command"/>
      <pc:sldMk xmlns:pc="http://schemas.microsoft.com/office/powerpoint/2013/main/command" cId="286841800" sldId="270"/>
      <ac:picMk id="17" creationId="{5D5744E3-A5A8-96B1-2767-A7141B7B4350}"/>
    </ac:deMkLst>
    <p188:txBody>
      <a:bodyPr/>
      <a:lstStyle/>
      <a:p>
        <a:r>
          <a:rPr lang="en-US"/>
          <a:t>add a conclusion like : applying the hierarchical clustering techniques, we first find the number of clusters to use then we find how the data is separated : and here are the following 4 groups we have </a:t>
        </a:r>
      </a:p>
    </p188:txBody>
  </p188:cm>
</p188:cmLst>
</file>

<file path=ppt/comments/modernComment_10F_B216BE10.xml><?xml version="1.0" encoding="utf-8"?>
<p188:cmLst xmlns:a="http://schemas.openxmlformats.org/drawingml/2006/main" xmlns:r="http://schemas.openxmlformats.org/officeDocument/2006/relationships" xmlns:p188="http://schemas.microsoft.com/office/powerpoint/2018/8/main">
  <p188:cm id="{C390E1E3-5B8D-4D29-BED1-4A2EE8FEAC88}" authorId="{8DCB36FB-6D7E-CF13-3A3B-3F5B1F7DBD94}" created="2025-12-23T08:58:30.762">
    <ac:deMkLst xmlns:ac="http://schemas.microsoft.com/office/drawing/2013/main/command">
      <pc:docMk xmlns:pc="http://schemas.microsoft.com/office/powerpoint/2013/main/command"/>
      <pc:sldMk xmlns:pc="http://schemas.microsoft.com/office/powerpoint/2013/main/command" cId="2987834896" sldId="271"/>
      <ac:picMk id="6" creationId="{020FD33F-7838-613D-44BE-BA229B39DB0A}"/>
    </ac:deMkLst>
    <p188:txBody>
      <a:bodyPr/>
      <a:lstStyle/>
      <a:p>
        <a:r>
          <a:rPr lang="en-US"/>
          <a:t>maybe use more soft colors  or use a color for each profiles, so we can easily find each group in the graphic </a:t>
        </a:r>
      </a:p>
    </p188:txBody>
  </p188:cm>
</p188:cmLst>
</file>

<file path=ppt/comments/modernComment_12A_A32C1DE8.xml><?xml version="1.0" encoding="utf-8"?>
<p188:cmLst xmlns:a="http://schemas.openxmlformats.org/drawingml/2006/main" xmlns:r="http://schemas.openxmlformats.org/officeDocument/2006/relationships" xmlns:p188="http://schemas.microsoft.com/office/powerpoint/2018/8/main">
  <p188:cm id="{2EF70508-09F8-4891-B3BD-6BD82E7234B4}" authorId="{F4372747-C0BC-3969-9F35-F8F1C27C5687}" created="2025-12-23T16:57:54.188">
    <ac:txMkLst xmlns:ac="http://schemas.microsoft.com/office/drawing/2013/main/command">
      <pc:docMk xmlns:pc="http://schemas.microsoft.com/office/powerpoint/2013/main/command"/>
      <pc:sldMk xmlns:pc="http://schemas.microsoft.com/office/powerpoint/2013/main/command" cId="2737577448" sldId="298"/>
      <ac:spMk id="12" creationId="{30ABDFB7-AA38-CCC9-F6C1-6F5EEB55CD23}"/>
      <ac:txMk cp="0" len="17">
        <ac:context len="18" hash="1531598866"/>
      </ac:txMk>
    </ac:txMkLst>
    <p188:txBody>
      <a:bodyPr/>
      <a:lstStyle/>
      <a:p>
        <a:r>
          <a:rPr lang="en-GB"/>
          <a:t>Obviouslz this is not the final version, but thell me what u think and then ill export it from napkin, i onlz have three exports thats whz </a:t>
        </a:r>
      </a:p>
    </p188:txBody>
  </p188:cm>
</p188:cmLst>
</file>

<file path=ppt/comments/modernComment_13A_7524A5B8.xml><?xml version="1.0" encoding="utf-8"?>
<p188:cmLst xmlns:a="http://schemas.openxmlformats.org/drawingml/2006/main" xmlns:r="http://schemas.openxmlformats.org/officeDocument/2006/relationships" xmlns:p188="http://schemas.microsoft.com/office/powerpoint/2018/8/main">
  <p188:cm id="{6680484E-4BAE-494F-A8A8-4FB366C9C438}" authorId="{8DCB36FB-6D7E-CF13-3A3B-3F5B1F7DBD94}" created="2025-12-23T08:50:19.222">
    <ac:deMkLst xmlns:ac="http://schemas.microsoft.com/office/drawing/2013/main/command">
      <pc:docMk xmlns:pc="http://schemas.microsoft.com/office/powerpoint/2013/main/command"/>
      <pc:sldMk xmlns:pc="http://schemas.microsoft.com/office/powerpoint/2013/main/command" cId="1965335992" sldId="314"/>
      <ac:picMk id="17" creationId="{18164474-96BB-E833-369A-99114F309510}"/>
    </ac:deMkLst>
    <p188:txBody>
      <a:bodyPr/>
      <a:lstStyle/>
      <a:p>
        <a:r>
          <a:rPr lang="en-US"/>
          <a:t>add a conclusion like : applying the hierarchical clustering techniques, we first find the number of clusters to use then we find how the data is separated : and here are the following 4 groups we have </a:t>
        </a:r>
      </a:p>
    </p188:txBody>
  </p188:cm>
</p188:cmLst>
</file>

<file path=ppt/comments/modernComment_118_7D9DDBF5.xml><?xml version="1.0" encoding="utf-8"?>
<p188:cmLst xmlns:a="http://schemas.openxmlformats.org/drawingml/2006/main" xmlns:r="http://schemas.openxmlformats.org/officeDocument/2006/relationships" xmlns:p188="http://schemas.microsoft.com/office/powerpoint/2018/8/main">
  <p188:cm id="{64730C7B-48F0-46D7-86EB-0DFE65FD3CA2}" authorId="{F4372747-C0BC-3969-9F35-F8F1C27C5687}" created="2025-12-25T08:11:09.832">
    <ac:txMkLst xmlns:ac="http://schemas.microsoft.com/office/drawing/2013/main/command">
      <pc:docMk xmlns:pc="http://schemas.microsoft.com/office/powerpoint/2013/main/command"/>
      <pc:sldMk xmlns:pc="http://schemas.microsoft.com/office/powerpoint/2013/main/command" cId="2107497461" sldId="280"/>
      <ac:spMk id="3" creationId="{3702AB35-95B2-2FE8-18B8-30570B45C2CF}"/>
      <ac:txMk cp="27">
        <ac:context len="51" hash="671892923"/>
      </ac:txMk>
    </ac:txMkLst>
    <p188:pos x="6664714" y="311553"/>
    <p188:txBody>
      <a:bodyPr/>
      <a:lstStyle/>
      <a:p>
        <a:r>
          <a:rPr lang="en-GB"/>
          <a:t>Which factor still matter together ? </a:t>
        </a:r>
      </a:p>
    </p188:txBody>
  </p188:cm>
</p188:cmLst>
</file>

<file path=ppt/comments/modernComment_126_64180AC6.xml><?xml version="1.0" encoding="utf-8"?>
<p188:cmLst xmlns:a="http://schemas.openxmlformats.org/drawingml/2006/main" xmlns:r="http://schemas.openxmlformats.org/officeDocument/2006/relationships" xmlns:p188="http://schemas.microsoft.com/office/powerpoint/2018/8/main">
  <p188:cm id="{C7A15590-8552-4702-A9B9-CDA5AD64267D}" authorId="{8DCB36FB-6D7E-CF13-3A3B-3F5B1F7DBD94}" created="2025-12-23T08:26:01.697">
    <ac:deMkLst xmlns:ac="http://schemas.microsoft.com/office/drawing/2013/main/command">
      <pc:docMk xmlns:pc="http://schemas.microsoft.com/office/powerpoint/2013/main/command"/>
      <pc:sldMk xmlns:pc="http://schemas.microsoft.com/office/powerpoint/2013/main/command" cId="922628072" sldId="294"/>
      <ac:picMk id="6" creationId="{CE76E616-BC69-A126-2D92-37A6B65918C2}"/>
    </ac:deMkLst>
    <p188:txBody>
      <a:bodyPr/>
      <a:lstStyle/>
      <a:p>
        <a:r>
          <a:rPr lang="en-US"/>
          <a:t>i think these colors are too flashy and we need to add conclusion on this graph</a:t>
        </a:r>
      </a:p>
    </p188:txBody>
  </p188:cm>
  <p188:cm id="{49834CE2-9B9E-4E7F-ABB1-0AD06E011391}" authorId="{8DCB36FB-6D7E-CF13-3A3B-3F5B1F7DBD94}" created="2025-12-23T08:27:20.033">
    <ac:deMkLst xmlns:ac="http://schemas.microsoft.com/office/drawing/2013/main/command">
      <pc:docMk xmlns:pc="http://schemas.microsoft.com/office/powerpoint/2013/main/command"/>
      <pc:sldMk xmlns:pc="http://schemas.microsoft.com/office/powerpoint/2013/main/command" cId="922628072" sldId="294"/>
      <ac:spMk id="4" creationId="{C1B2C967-16F7-D733-4B7A-FC6A3B56E953}"/>
    </ac:deMkLst>
    <p188:txBody>
      <a:bodyPr/>
      <a:lstStyle/>
      <a:p>
        <a:r>
          <a:rPr lang="en-US"/>
          <a:t>i will add something like this, in bullet point format with more information</a:t>
        </a:r>
      </a:p>
    </p188:txBody>
  </p188:cm>
</p188:cmLst>
</file>

<file path=ppt/comments/modernComment_132_6CF178EB.xml><?xml version="1.0" encoding="utf-8"?>
<p188:cmLst xmlns:a="http://schemas.openxmlformats.org/drawingml/2006/main" xmlns:r="http://schemas.openxmlformats.org/officeDocument/2006/relationships" xmlns:p188="http://schemas.microsoft.com/office/powerpoint/2018/8/main">
  <p188:cm id="{DD222402-B3A7-4234-AE76-9AAE818F9477}" authorId="{8DCB36FB-6D7E-CF13-3A3B-3F5B1F7DBD94}" status="resolved" created="2025-12-22T09:28:24.583" complete="100000">
    <ac:txMkLst xmlns:ac="http://schemas.microsoft.com/office/drawing/2013/main/command">
      <pc:docMk xmlns:pc="http://schemas.microsoft.com/office/powerpoint/2013/main/command"/>
      <pc:sldMk xmlns:pc="http://schemas.microsoft.com/office/powerpoint/2013/main/command" cId="1827764459" sldId="306"/>
      <ac:graphicFrameMk id="10" creationId="{C8CA0CBB-CA3C-C496-788B-CB0C5CA506AC}"/>
      <ac:tblMk/>
      <ac:tcMk rowId="1300392811" colId="307912904"/>
      <ac:txMk cp="0" len="19">
        <ac:context len="20" hash="2817665337"/>
      </ac:txMk>
    </ac:txMkLst>
    <p188:txBody>
      <a:bodyPr/>
      <a:lstStyle/>
      <a:p>
        <a:r>
          <a:rPr lang="en-US"/>
          <a:t>isn't it supposed to be over 18?</a:t>
        </a:r>
      </a:p>
    </p188:txBody>
    <p188:extLst>
      <p:ext xmlns:p="http://schemas.openxmlformats.org/presentationml/2006/main" uri="{57CB4572-C831-44C2-8A1C-0ADB6CCDFE69}">
        <p223:reactions xmlns:p223="http://schemas.microsoft.com/office/powerpoint/2022/03/main">
          <p223:rxn type="👍">
            <p223:instance time="2025-12-25T07:14:19.084" authorId="{F4372747-C0BC-3969-9F35-F8F1C27C568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FF1F46-C89A-9AF6-3E72-AE249C6C1C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1CE98CA-5189-9313-D642-CFF7B6153B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F81B71-8654-4F74-B86A-4336A97E8E09}" type="datetimeFigureOut">
              <a:rPr lang="en-GB" smtClean="0"/>
              <a:t>26/12/2025</a:t>
            </a:fld>
            <a:endParaRPr lang="en-GB"/>
          </a:p>
        </p:txBody>
      </p:sp>
      <p:sp>
        <p:nvSpPr>
          <p:cNvPr id="4" name="Footer Placeholder 3">
            <a:extLst>
              <a:ext uri="{FF2B5EF4-FFF2-40B4-BE49-F238E27FC236}">
                <a16:creationId xmlns:a16="http://schemas.microsoft.com/office/drawing/2014/main" id="{34A87E5E-5D7B-E420-084E-A2C343330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773A773-A54B-D1B6-432F-C73F8A3B85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3165D9-14E0-4436-BF49-60AD2F43636F}" type="slidenum">
              <a:rPr lang="en-GB" smtClean="0"/>
              <a:t>‹N°›</a:t>
            </a:fld>
            <a:endParaRPr lang="en-GB"/>
          </a:p>
        </p:txBody>
      </p:sp>
    </p:spTree>
    <p:extLst>
      <p:ext uri="{BB962C8B-B14F-4D97-AF65-F5344CB8AC3E}">
        <p14:creationId xmlns:p14="http://schemas.microsoft.com/office/powerpoint/2010/main" val="20833490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964F5-C912-4108-BB44-556FC9992178}" type="datetimeFigureOut">
              <a:rPr lang="zh-CN" altLang="en-US" smtClean="0"/>
              <a:t>2025/12/26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4C742-CC24-4657-89E1-AD5A87674C71}" type="slidenum">
              <a:rPr lang="zh-CN" altLang="en-US" smtClean="0"/>
              <a:t>‹N°›</a:t>
            </a:fld>
            <a:endParaRPr lang="zh-CN" altLang="en-US"/>
          </a:p>
        </p:txBody>
      </p:sp>
    </p:spTree>
    <p:extLst>
      <p:ext uri="{BB962C8B-B14F-4D97-AF65-F5344CB8AC3E}">
        <p14:creationId xmlns:p14="http://schemas.microsoft.com/office/powerpoint/2010/main" val="415253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F34C742-CC24-4657-89E1-AD5A87674C71}" type="slidenum">
              <a:rPr lang="zh-CN" altLang="en-US" smtClean="0"/>
              <a:t>1</a:t>
            </a:fld>
            <a:endParaRPr lang="zh-CN" altLang="en-US"/>
          </a:p>
        </p:txBody>
      </p:sp>
    </p:spTree>
    <p:extLst>
      <p:ext uri="{BB962C8B-B14F-4D97-AF65-F5344CB8AC3E}">
        <p14:creationId xmlns:p14="http://schemas.microsoft.com/office/powerpoint/2010/main" val="886522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F34C742-CC24-4657-89E1-AD5A87674C71}" type="slidenum">
              <a:rPr lang="zh-CN" altLang="en-US" smtClean="0"/>
              <a:t>5</a:t>
            </a:fld>
            <a:endParaRPr lang="zh-CN" altLang="en-US"/>
          </a:p>
        </p:txBody>
      </p:sp>
    </p:spTree>
    <p:extLst>
      <p:ext uri="{BB962C8B-B14F-4D97-AF65-F5344CB8AC3E}">
        <p14:creationId xmlns:p14="http://schemas.microsoft.com/office/powerpoint/2010/main" val="1148736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F34C742-CC24-4657-89E1-AD5A87674C71}" type="slidenum">
              <a:rPr lang="zh-CN" altLang="en-US" smtClean="0"/>
              <a:t>11</a:t>
            </a:fld>
            <a:endParaRPr lang="zh-CN" altLang="en-US"/>
          </a:p>
        </p:txBody>
      </p:sp>
    </p:spTree>
    <p:extLst>
      <p:ext uri="{BB962C8B-B14F-4D97-AF65-F5344CB8AC3E}">
        <p14:creationId xmlns:p14="http://schemas.microsoft.com/office/powerpoint/2010/main" val="2024939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we’ve seen in recent years, many young students are struggling in school, and we see a decline in performance as reported by PISA on math with decline of 22 points in 10 years. And when we analyzed the data from the large group of students, we also find out similar result with over 64% of students reporting that their academic performance had been impacted by social media. This raises the question: If social media contribute to this issue, what factors are influencing whether social media is affecting academic performance?</a:t>
            </a:r>
          </a:p>
          <a:p>
            <a:endParaRPr lang="en-US" dirty="0">
              <a:ea typeface="等线"/>
            </a:endParaRPr>
          </a:p>
          <a:p>
            <a:r>
              <a:rPr lang="en-US" dirty="0"/>
              <a:t>To answer this, </a:t>
            </a:r>
            <a:r>
              <a:rPr lang="en-US" dirty="0">
                <a:latin typeface="等线"/>
                <a:ea typeface="等线"/>
                <a:cs typeface="Calibri"/>
              </a:rPr>
              <a:t>we</a:t>
            </a:r>
            <a:r>
              <a:rPr lang="en-US" dirty="0">
                <a:latin typeface="Calibri"/>
                <a:ea typeface="Calibri"/>
                <a:cs typeface="Calibri"/>
              </a:rPr>
              <a:t> are going to test the following hypothesis.</a:t>
            </a:r>
          </a:p>
        </p:txBody>
      </p:sp>
      <p:sp>
        <p:nvSpPr>
          <p:cNvPr id="4" name="Slide Number Placeholder 3"/>
          <p:cNvSpPr>
            <a:spLocks noGrp="1"/>
          </p:cNvSpPr>
          <p:nvPr>
            <p:ph type="sldNum" sz="quarter" idx="5"/>
          </p:nvPr>
        </p:nvSpPr>
        <p:spPr/>
        <p:txBody>
          <a:bodyPr/>
          <a:lstStyle/>
          <a:p>
            <a:fld id="{1F34C742-CC24-4657-89E1-AD5A87674C71}" type="slidenum">
              <a:rPr lang="zh-CN" altLang="en-US" smtClean="0"/>
              <a:t>15</a:t>
            </a:fld>
            <a:endParaRPr lang="zh-CN" altLang="en-US"/>
          </a:p>
        </p:txBody>
      </p:sp>
    </p:spTree>
    <p:extLst>
      <p:ext uri="{BB962C8B-B14F-4D97-AF65-F5344CB8AC3E}">
        <p14:creationId xmlns:p14="http://schemas.microsoft.com/office/powerpoint/2010/main" val="3740786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data, we observed a significant difference between the 'Yes' and 'No' impact groups. Students reporting no academic impact from social media had lower usage, addiction scores, and conflicts, along with better sleep and mental health.</a:t>
            </a:r>
          </a:p>
          <a:p>
            <a:r>
              <a:rPr lang="en-US" dirty="0"/>
              <a:t>To assess whether these differences were statistically significant, we conducted a </a:t>
            </a:r>
            <a:r>
              <a:rPr lang="en-US" b="1" dirty="0"/>
              <a:t>two-sample z-test for the difference in means</a:t>
            </a:r>
            <a:r>
              <a:rPr lang="en-US" dirty="0"/>
              <a:t>. And we </a:t>
            </a:r>
            <a:r>
              <a:rPr lang="en-US" b="1" dirty="0"/>
              <a:t>reject the null hypothesis</a:t>
            </a:r>
            <a:r>
              <a:rPr lang="en-US" dirty="0"/>
              <a:t>. Therefore, we support the first two hypothesis.</a:t>
            </a:r>
          </a:p>
          <a:p>
            <a:endParaRPr lang="en-US" dirty="0"/>
          </a:p>
          <a:p>
            <a:r>
              <a:rPr lang="en-US" dirty="0"/>
              <a:t>Additionally, we calculated </a:t>
            </a:r>
            <a:r>
              <a:rPr lang="en-US" b="1" dirty="0"/>
              <a:t>Cohen's d</a:t>
            </a:r>
            <a:r>
              <a:rPr lang="en-US" dirty="0"/>
              <a:t> to measure the effect sizes. For all factors, Cohen's d was larger than 0.8, indicating that the observed effects are not only statistically significant but also of substantial magnitude.</a:t>
            </a:r>
          </a:p>
          <a:p>
            <a:endParaRPr lang="en-US" dirty="0"/>
          </a:p>
          <a:p>
            <a:r>
              <a:rPr lang="en-US" dirty="0"/>
              <a:t>The most-used social media platform and relationship status are associated with academic impact. Both </a:t>
            </a:r>
            <a:r>
              <a:rPr lang="en-US" dirty="0" err="1"/>
              <a:t>Most_Used_Platform</a:t>
            </a:r>
            <a:r>
              <a:rPr lang="en-US" dirty="0"/>
              <a:t> and </a:t>
            </a:r>
            <a:r>
              <a:rPr lang="en-US" dirty="0" err="1"/>
              <a:t>Relationship_Status</a:t>
            </a:r>
            <a:r>
              <a:rPr lang="en-US" dirty="0"/>
              <a:t> were found to be </a:t>
            </a:r>
            <a:r>
              <a:rPr lang="en-US" b="1" dirty="0"/>
              <a:t>significantly associated with academic impact</a:t>
            </a:r>
            <a:r>
              <a:rPr lang="en-US" dirty="0"/>
              <a:t>, so we </a:t>
            </a:r>
            <a:r>
              <a:rPr lang="en-US" b="1" dirty="0"/>
              <a:t>reject the null hypothesis</a:t>
            </a:r>
            <a:r>
              <a:rPr lang="en-US" dirty="0"/>
              <a:t> and support H3.</a:t>
            </a:r>
          </a:p>
          <a:p>
            <a:endParaRPr lang="en-US" dirty="0"/>
          </a:p>
          <a:p>
            <a:r>
              <a:rPr lang="en-US" dirty="0"/>
              <a:t>We </a:t>
            </a:r>
            <a:r>
              <a:rPr lang="en-US" b="1" dirty="0"/>
              <a:t>fail to reject the null hypothesis</a:t>
            </a:r>
            <a:r>
              <a:rPr lang="en-US" dirty="0"/>
              <a:t> for H4, suggesting there is no significant relationship between gender and academic impact.</a:t>
            </a:r>
          </a:p>
          <a:p>
            <a:endParaRPr lang="en-US" dirty="0">
              <a:latin typeface="等线"/>
              <a:ea typeface="等线"/>
              <a:cs typeface="Calibri"/>
            </a:endParaRPr>
          </a:p>
          <a:p>
            <a:endParaRPr lang="en-US" dirty="0">
              <a:latin typeface="等线"/>
              <a:ea typeface="等线"/>
              <a:cs typeface="Calibri"/>
            </a:endParaRPr>
          </a:p>
          <a:p>
            <a:endParaRPr lang="en-US" dirty="0">
              <a:latin typeface="等线"/>
              <a:ea typeface="等线"/>
              <a:cs typeface="Calibri"/>
            </a:endParaRPr>
          </a:p>
        </p:txBody>
      </p:sp>
      <p:sp>
        <p:nvSpPr>
          <p:cNvPr id="4" name="Slide Number Placeholder 3"/>
          <p:cNvSpPr>
            <a:spLocks noGrp="1"/>
          </p:cNvSpPr>
          <p:nvPr>
            <p:ph type="sldNum" sz="quarter" idx="5"/>
          </p:nvPr>
        </p:nvSpPr>
        <p:spPr/>
        <p:txBody>
          <a:bodyPr/>
          <a:lstStyle/>
          <a:p>
            <a:fld id="{1F34C742-CC24-4657-89E1-AD5A87674C71}" type="slidenum">
              <a:rPr lang="zh-CN" altLang="en-US" smtClean="0"/>
              <a:t>16</a:t>
            </a:fld>
            <a:endParaRPr lang="zh-CN" altLang="en-US"/>
          </a:p>
        </p:txBody>
      </p:sp>
    </p:spTree>
    <p:extLst>
      <p:ext uri="{BB962C8B-B14F-4D97-AF65-F5344CB8AC3E}">
        <p14:creationId xmlns:p14="http://schemas.microsoft.com/office/powerpoint/2010/main" val="3853238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 used a logistic regression model to identify the most significant predictors. The factor with the highest odds ratio was conflicts over social media, which showed the strongest association with reporting academic impact. This indicates that students who experience more conflicts related to social media are far more likely to report negative effects on their academic performance.</a:t>
            </a:r>
          </a:p>
        </p:txBody>
      </p:sp>
      <p:sp>
        <p:nvSpPr>
          <p:cNvPr id="4" name="Slide Number Placeholder 3"/>
          <p:cNvSpPr>
            <a:spLocks noGrp="1"/>
          </p:cNvSpPr>
          <p:nvPr>
            <p:ph type="sldNum" sz="quarter" idx="5"/>
          </p:nvPr>
        </p:nvSpPr>
        <p:spPr/>
        <p:txBody>
          <a:bodyPr/>
          <a:lstStyle/>
          <a:p>
            <a:fld id="{1F34C742-CC24-4657-89E1-AD5A87674C71}" type="slidenum">
              <a:rPr lang="zh-CN" altLang="en-US" smtClean="0"/>
              <a:t>17</a:t>
            </a:fld>
            <a:endParaRPr lang="zh-CN" altLang="en-US"/>
          </a:p>
        </p:txBody>
      </p:sp>
    </p:spTree>
    <p:extLst>
      <p:ext uri="{BB962C8B-B14F-4D97-AF65-F5344CB8AC3E}">
        <p14:creationId xmlns:p14="http://schemas.microsoft.com/office/powerpoint/2010/main" val="37962817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4.xml"/><Relationship Id="rId7" Type="http://schemas.openxmlformats.org/officeDocument/2006/relationships/image" Target="../media/image2.jpe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标题">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F18B75-B4D8-1149-BAE1-B46E2D19D46F}"/>
              </a:ext>
            </a:extLst>
          </p:cNvPr>
          <p:cNvSpPr/>
          <p:nvPr userDrawn="1"/>
        </p:nvSpPr>
        <p:spPr>
          <a:xfrm>
            <a:off x="-114299" y="3888000"/>
            <a:ext cx="12605657" cy="2970000"/>
          </a:xfrm>
          <a:prstGeom prst="rect">
            <a:avLst/>
          </a:prstGeom>
          <a:solidFill>
            <a:srgbClr val="743481"/>
          </a:solidFill>
          <a:ln w="12700" cap="rnd" cmpd="sng" algn="ctr">
            <a:noFill/>
            <a:prstDash val="solid"/>
          </a:ln>
          <a:effectLst/>
        </p:spPr>
        <p:txBody>
          <a:bodyPr/>
          <a:lstStyle/>
          <a:p>
            <a:endParaRPr lang="en-GB"/>
          </a:p>
        </p:txBody>
      </p:sp>
      <p:sp>
        <p:nvSpPr>
          <p:cNvPr id="21" name="Title 20"/>
          <p:cNvSpPr>
            <a:spLocks noGrp="1"/>
          </p:cNvSpPr>
          <p:nvPr>
            <p:ph type="title"/>
          </p:nvPr>
        </p:nvSpPr>
        <p:spPr>
          <a:xfrm>
            <a:off x="1103445" y="2420888"/>
            <a:ext cx="10174155" cy="819944"/>
          </a:xfrm>
          <a:prstGeom prst="rect">
            <a:avLst/>
          </a:prstGeom>
        </p:spPr>
        <p:txBody>
          <a:bodyPr/>
          <a:lstStyle>
            <a:lvl1pPr algn="ctr">
              <a:defRPr sz="2800" b="1" baseline="0">
                <a:solidFill>
                  <a:srgbClr val="743481"/>
                </a:solidFill>
                <a:latin typeface="Arial" pitchFamily="34" charset="0"/>
                <a:ea typeface="黑体" pitchFamily="2" charset="-122"/>
              </a:defRPr>
            </a:lvl1pPr>
          </a:lstStyle>
          <a:p>
            <a:r>
              <a:rPr lang="en-US" altLang="zh-CN"/>
              <a:t>Click to edit Master title style</a:t>
            </a:r>
            <a:endParaRPr lang="en-US"/>
          </a:p>
        </p:txBody>
      </p:sp>
      <p:sp>
        <p:nvSpPr>
          <p:cNvPr id="9" name="Content Placeholder 8"/>
          <p:cNvSpPr>
            <a:spLocks noGrp="1"/>
          </p:cNvSpPr>
          <p:nvPr>
            <p:ph sz="quarter" idx="10"/>
          </p:nvPr>
        </p:nvSpPr>
        <p:spPr>
          <a:xfrm>
            <a:off x="1102784" y="3994325"/>
            <a:ext cx="10174816" cy="1620000"/>
          </a:xfrm>
        </p:spPr>
        <p:txBody>
          <a:bodyPr/>
          <a:lstStyle>
            <a:lvl1pPr marL="0" indent="0" algn="ctr">
              <a:buNone/>
              <a:defRPr sz="2400" b="1" baseline="0">
                <a:solidFill>
                  <a:schemeClr val="bg1"/>
                </a:solidFill>
                <a:latin typeface="+mn-lt"/>
              </a:defRPr>
            </a:lvl1pPr>
          </a:lstStyle>
          <a:p>
            <a:pPr lvl="0"/>
            <a:r>
              <a:rPr lang="en-US" altLang="zh-CN"/>
              <a:t>Edit Master text styles</a:t>
            </a:r>
          </a:p>
        </p:txBody>
      </p:sp>
      <p:pic>
        <p:nvPicPr>
          <p:cNvPr id="6" name="图片 5">
            <a:extLst>
              <a:ext uri="{FF2B5EF4-FFF2-40B4-BE49-F238E27FC236}">
                <a16:creationId xmlns:a16="http://schemas.microsoft.com/office/drawing/2014/main" id="{3B8D642A-A9E8-E54C-A4D2-105A48967B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479" y="379606"/>
            <a:ext cx="2904592" cy="983017"/>
          </a:xfrm>
          <a:prstGeom prst="rect">
            <a:avLst/>
          </a:prstGeom>
        </p:spPr>
      </p:pic>
    </p:spTree>
    <p:extLst>
      <p:ext uri="{BB962C8B-B14F-4D97-AF65-F5344CB8AC3E}">
        <p14:creationId xmlns:p14="http://schemas.microsoft.com/office/powerpoint/2010/main" val="2299292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AgendaText">
            <a:extLst>
              <a:ext uri="{FF2B5EF4-FFF2-40B4-BE49-F238E27FC236}">
                <a16:creationId xmlns:a16="http://schemas.microsoft.com/office/drawing/2014/main" id="{7FC6244F-842B-3C45-B6AC-E67218282EF3}"/>
              </a:ext>
            </a:extLst>
          </p:cNvPr>
          <p:cNvSpPr>
            <a:spLocks noChangeArrowheads="1"/>
          </p:cNvSpPr>
          <p:nvPr userDrawn="1">
            <p:custDataLst>
              <p:tags r:id="rId1"/>
            </p:custDataLst>
          </p:nvPr>
        </p:nvSpPr>
        <p:spPr bwMode="gray">
          <a:xfrm>
            <a:off x="4120695" y="1913347"/>
            <a:ext cx="2308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defTabSz="877888">
              <a:defRPr sz="2400">
                <a:solidFill>
                  <a:schemeClr val="tx1"/>
                </a:solidFill>
                <a:latin typeface="Arial" charset="0"/>
              </a:defRPr>
            </a:lvl1pPr>
            <a:lvl2pPr marL="742950" indent="-285750" defTabSz="877888">
              <a:defRPr sz="2400">
                <a:solidFill>
                  <a:schemeClr val="tx1"/>
                </a:solidFill>
                <a:latin typeface="Arial" charset="0"/>
              </a:defRPr>
            </a:lvl2pPr>
            <a:lvl3pPr marL="1143000" indent="-228600" defTabSz="877888">
              <a:defRPr sz="2400">
                <a:solidFill>
                  <a:schemeClr val="tx1"/>
                </a:solidFill>
                <a:latin typeface="Arial" charset="0"/>
              </a:defRPr>
            </a:lvl3pPr>
            <a:lvl4pPr marL="1600200" indent="-228600" defTabSz="877888">
              <a:defRPr sz="2400">
                <a:solidFill>
                  <a:schemeClr val="tx1"/>
                </a:solidFill>
                <a:latin typeface="Arial" charset="0"/>
              </a:defRPr>
            </a:lvl4pPr>
            <a:lvl5pPr marL="2057400" indent="-228600" defTabSz="877888">
              <a:defRPr sz="2400">
                <a:solidFill>
                  <a:schemeClr val="tx1"/>
                </a:solidFill>
                <a:latin typeface="Arial" charset="0"/>
              </a:defRPr>
            </a:lvl5pPr>
            <a:lvl6pPr marL="2514600" indent="-228600" defTabSz="877888" fontAlgn="base">
              <a:spcBef>
                <a:spcPct val="0"/>
              </a:spcBef>
              <a:spcAft>
                <a:spcPct val="0"/>
              </a:spcAft>
              <a:defRPr sz="2400">
                <a:solidFill>
                  <a:schemeClr val="tx1"/>
                </a:solidFill>
                <a:latin typeface="Arial" charset="0"/>
              </a:defRPr>
            </a:lvl6pPr>
            <a:lvl7pPr marL="2971800" indent="-228600" defTabSz="877888" fontAlgn="base">
              <a:spcBef>
                <a:spcPct val="0"/>
              </a:spcBef>
              <a:spcAft>
                <a:spcPct val="0"/>
              </a:spcAft>
              <a:defRPr sz="2400">
                <a:solidFill>
                  <a:schemeClr val="tx1"/>
                </a:solidFill>
                <a:latin typeface="Arial" charset="0"/>
              </a:defRPr>
            </a:lvl7pPr>
            <a:lvl8pPr marL="3429000" indent="-228600" defTabSz="877888" fontAlgn="base">
              <a:spcBef>
                <a:spcPct val="0"/>
              </a:spcBef>
              <a:spcAft>
                <a:spcPct val="0"/>
              </a:spcAft>
              <a:defRPr sz="2400">
                <a:solidFill>
                  <a:schemeClr val="tx1"/>
                </a:solidFill>
                <a:latin typeface="Arial" charset="0"/>
              </a:defRPr>
            </a:lvl8pPr>
            <a:lvl9pPr marL="3886200" indent="-228600" defTabSz="877888" fontAlgn="base">
              <a:spcBef>
                <a:spcPct val="0"/>
              </a:spcBef>
              <a:spcAft>
                <a:spcPct val="0"/>
              </a:spcAft>
              <a:defRPr sz="2400">
                <a:solidFill>
                  <a:schemeClr val="tx1"/>
                </a:solidFill>
                <a:latin typeface="Arial" charset="0"/>
              </a:defRPr>
            </a:lvl9pPr>
          </a:lstStyle>
          <a:p>
            <a:pPr>
              <a:buClr>
                <a:srgbClr val="FFFFFF"/>
              </a:buClr>
              <a:buSzPct val="120000"/>
            </a:pPr>
            <a:r>
              <a:rPr lang="en-US" sz="1800" b="1">
                <a:solidFill>
                  <a:srgbClr val="FFFFFF"/>
                </a:solidFill>
                <a:cs typeface="Arial" charset="0"/>
              </a:rPr>
              <a:t>…</a:t>
            </a:r>
          </a:p>
        </p:txBody>
      </p:sp>
      <p:sp>
        <p:nvSpPr>
          <p:cNvPr id="8" name="AgendaText">
            <a:extLst>
              <a:ext uri="{FF2B5EF4-FFF2-40B4-BE49-F238E27FC236}">
                <a16:creationId xmlns:a16="http://schemas.microsoft.com/office/drawing/2014/main" id="{A38F7917-65ED-CD40-B0B2-C4999AC8C12A}"/>
              </a:ext>
            </a:extLst>
          </p:cNvPr>
          <p:cNvSpPr>
            <a:spLocks noChangeArrowheads="1"/>
          </p:cNvSpPr>
          <p:nvPr userDrawn="1">
            <p:custDataLst>
              <p:tags r:id="rId2"/>
            </p:custDataLst>
          </p:nvPr>
        </p:nvSpPr>
        <p:spPr bwMode="gray">
          <a:xfrm>
            <a:off x="2212978" y="5165725"/>
            <a:ext cx="45434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877888">
              <a:defRPr sz="2400">
                <a:solidFill>
                  <a:schemeClr val="tx1"/>
                </a:solidFill>
                <a:latin typeface="Arial" charset="0"/>
              </a:defRPr>
            </a:lvl1pPr>
            <a:lvl2pPr marL="742950" indent="-285750" defTabSz="877888">
              <a:defRPr sz="2400">
                <a:solidFill>
                  <a:schemeClr val="tx1"/>
                </a:solidFill>
                <a:latin typeface="Arial" charset="0"/>
              </a:defRPr>
            </a:lvl2pPr>
            <a:lvl3pPr marL="1143000" indent="-228600" defTabSz="877888">
              <a:defRPr sz="2400">
                <a:solidFill>
                  <a:schemeClr val="tx1"/>
                </a:solidFill>
                <a:latin typeface="Arial" charset="0"/>
              </a:defRPr>
            </a:lvl3pPr>
            <a:lvl4pPr marL="1600200" indent="-228600" defTabSz="877888">
              <a:defRPr sz="2400">
                <a:solidFill>
                  <a:schemeClr val="tx1"/>
                </a:solidFill>
                <a:latin typeface="Arial" charset="0"/>
              </a:defRPr>
            </a:lvl4pPr>
            <a:lvl5pPr marL="2057400" indent="-228600" defTabSz="877888">
              <a:defRPr sz="2400">
                <a:solidFill>
                  <a:schemeClr val="tx1"/>
                </a:solidFill>
                <a:latin typeface="Arial" charset="0"/>
              </a:defRPr>
            </a:lvl5pPr>
            <a:lvl6pPr marL="2514600" indent="-228600" defTabSz="877888" fontAlgn="base">
              <a:spcBef>
                <a:spcPct val="0"/>
              </a:spcBef>
              <a:spcAft>
                <a:spcPct val="0"/>
              </a:spcAft>
              <a:defRPr sz="2400">
                <a:solidFill>
                  <a:schemeClr val="tx1"/>
                </a:solidFill>
                <a:latin typeface="Arial" charset="0"/>
              </a:defRPr>
            </a:lvl6pPr>
            <a:lvl7pPr marL="2971800" indent="-228600" defTabSz="877888" fontAlgn="base">
              <a:spcBef>
                <a:spcPct val="0"/>
              </a:spcBef>
              <a:spcAft>
                <a:spcPct val="0"/>
              </a:spcAft>
              <a:defRPr sz="2400">
                <a:solidFill>
                  <a:schemeClr val="tx1"/>
                </a:solidFill>
                <a:latin typeface="Arial" charset="0"/>
              </a:defRPr>
            </a:lvl7pPr>
            <a:lvl8pPr marL="3429000" indent="-228600" defTabSz="877888" fontAlgn="base">
              <a:spcBef>
                <a:spcPct val="0"/>
              </a:spcBef>
              <a:spcAft>
                <a:spcPct val="0"/>
              </a:spcAft>
              <a:defRPr sz="2400">
                <a:solidFill>
                  <a:schemeClr val="tx1"/>
                </a:solidFill>
                <a:latin typeface="Arial" charset="0"/>
              </a:defRPr>
            </a:lvl8pPr>
            <a:lvl9pPr marL="3886200" indent="-228600" defTabSz="877888" fontAlgn="base">
              <a:spcBef>
                <a:spcPct val="0"/>
              </a:spcBef>
              <a:spcAft>
                <a:spcPct val="0"/>
              </a:spcAft>
              <a:defRPr sz="2400">
                <a:solidFill>
                  <a:schemeClr val="tx1"/>
                </a:solidFill>
                <a:latin typeface="Arial" charset="0"/>
              </a:defRPr>
            </a:lvl9pPr>
          </a:lstStyle>
          <a:p>
            <a:pPr algn="l">
              <a:spcBef>
                <a:spcPct val="100000"/>
              </a:spcBef>
              <a:buClr>
                <a:srgbClr val="808080"/>
              </a:buClr>
              <a:buSzPct val="120000"/>
            </a:pPr>
            <a:r>
              <a:rPr lang="en-US" sz="1800" b="1">
                <a:solidFill>
                  <a:srgbClr val="808080"/>
                </a:solidFill>
                <a:cs typeface="Arial" charset="0"/>
              </a:rPr>
              <a:t>…</a:t>
            </a:r>
          </a:p>
        </p:txBody>
      </p:sp>
      <p:sp>
        <p:nvSpPr>
          <p:cNvPr id="10" name="AgendaText">
            <a:extLst>
              <a:ext uri="{FF2B5EF4-FFF2-40B4-BE49-F238E27FC236}">
                <a16:creationId xmlns:a16="http://schemas.microsoft.com/office/drawing/2014/main" id="{0D623714-3407-564F-874E-866C008C953C}"/>
              </a:ext>
            </a:extLst>
          </p:cNvPr>
          <p:cNvSpPr>
            <a:spLocks noChangeArrowheads="1"/>
          </p:cNvSpPr>
          <p:nvPr userDrawn="1">
            <p:custDataLst>
              <p:tags r:id="rId3"/>
            </p:custDataLst>
          </p:nvPr>
        </p:nvSpPr>
        <p:spPr bwMode="gray">
          <a:xfrm>
            <a:off x="2212978" y="2757488"/>
            <a:ext cx="45434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877888">
              <a:defRPr sz="2400">
                <a:solidFill>
                  <a:schemeClr val="tx1"/>
                </a:solidFill>
                <a:latin typeface="Arial" charset="0"/>
              </a:defRPr>
            </a:lvl1pPr>
            <a:lvl2pPr marL="742950" indent="-285750" defTabSz="877888">
              <a:defRPr sz="2400">
                <a:solidFill>
                  <a:schemeClr val="tx1"/>
                </a:solidFill>
                <a:latin typeface="Arial" charset="0"/>
              </a:defRPr>
            </a:lvl2pPr>
            <a:lvl3pPr marL="1143000" indent="-228600" defTabSz="877888">
              <a:defRPr sz="2400">
                <a:solidFill>
                  <a:schemeClr val="tx1"/>
                </a:solidFill>
                <a:latin typeface="Arial" charset="0"/>
              </a:defRPr>
            </a:lvl3pPr>
            <a:lvl4pPr marL="1600200" indent="-228600" defTabSz="877888">
              <a:defRPr sz="2400">
                <a:solidFill>
                  <a:schemeClr val="tx1"/>
                </a:solidFill>
                <a:latin typeface="Arial" charset="0"/>
              </a:defRPr>
            </a:lvl4pPr>
            <a:lvl5pPr marL="2057400" indent="-228600" defTabSz="877888">
              <a:defRPr sz="2400">
                <a:solidFill>
                  <a:schemeClr val="tx1"/>
                </a:solidFill>
                <a:latin typeface="Arial" charset="0"/>
              </a:defRPr>
            </a:lvl5pPr>
            <a:lvl6pPr marL="2514600" indent="-228600" defTabSz="877888" fontAlgn="base">
              <a:spcBef>
                <a:spcPct val="0"/>
              </a:spcBef>
              <a:spcAft>
                <a:spcPct val="0"/>
              </a:spcAft>
              <a:defRPr sz="2400">
                <a:solidFill>
                  <a:schemeClr val="tx1"/>
                </a:solidFill>
                <a:latin typeface="Arial" charset="0"/>
              </a:defRPr>
            </a:lvl6pPr>
            <a:lvl7pPr marL="2971800" indent="-228600" defTabSz="877888" fontAlgn="base">
              <a:spcBef>
                <a:spcPct val="0"/>
              </a:spcBef>
              <a:spcAft>
                <a:spcPct val="0"/>
              </a:spcAft>
              <a:defRPr sz="2400">
                <a:solidFill>
                  <a:schemeClr val="tx1"/>
                </a:solidFill>
                <a:latin typeface="Arial" charset="0"/>
              </a:defRPr>
            </a:lvl7pPr>
            <a:lvl8pPr marL="3429000" indent="-228600" defTabSz="877888" fontAlgn="base">
              <a:spcBef>
                <a:spcPct val="0"/>
              </a:spcBef>
              <a:spcAft>
                <a:spcPct val="0"/>
              </a:spcAft>
              <a:defRPr sz="2400">
                <a:solidFill>
                  <a:schemeClr val="tx1"/>
                </a:solidFill>
                <a:latin typeface="Arial" charset="0"/>
              </a:defRPr>
            </a:lvl8pPr>
            <a:lvl9pPr marL="3886200" indent="-228600" defTabSz="877888" fontAlgn="base">
              <a:spcBef>
                <a:spcPct val="0"/>
              </a:spcBef>
              <a:spcAft>
                <a:spcPct val="0"/>
              </a:spcAft>
              <a:defRPr sz="2400">
                <a:solidFill>
                  <a:schemeClr val="tx1"/>
                </a:solidFill>
                <a:latin typeface="Arial" charset="0"/>
              </a:defRPr>
            </a:lvl9pPr>
          </a:lstStyle>
          <a:p>
            <a:pPr algn="l">
              <a:spcBef>
                <a:spcPct val="100000"/>
              </a:spcBef>
              <a:buClr>
                <a:srgbClr val="808080"/>
              </a:buClr>
              <a:buSzPct val="120000"/>
            </a:pPr>
            <a:r>
              <a:rPr lang="en-US" sz="1800" b="1">
                <a:solidFill>
                  <a:srgbClr val="808080"/>
                </a:solidFill>
                <a:cs typeface="Arial" charset="0"/>
              </a:rPr>
              <a:t>…</a:t>
            </a:r>
          </a:p>
        </p:txBody>
      </p:sp>
      <p:sp>
        <p:nvSpPr>
          <p:cNvPr id="12" name="AgendaText">
            <a:extLst>
              <a:ext uri="{FF2B5EF4-FFF2-40B4-BE49-F238E27FC236}">
                <a16:creationId xmlns:a16="http://schemas.microsoft.com/office/drawing/2014/main" id="{049AD144-32AA-A349-8F39-9C11800D442F}"/>
              </a:ext>
            </a:extLst>
          </p:cNvPr>
          <p:cNvSpPr>
            <a:spLocks noChangeArrowheads="1"/>
          </p:cNvSpPr>
          <p:nvPr userDrawn="1">
            <p:custDataLst>
              <p:tags r:id="rId4"/>
            </p:custDataLst>
          </p:nvPr>
        </p:nvSpPr>
        <p:spPr bwMode="gray">
          <a:xfrm>
            <a:off x="2212978" y="4362450"/>
            <a:ext cx="45434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877888">
              <a:defRPr sz="2400">
                <a:solidFill>
                  <a:schemeClr val="tx1"/>
                </a:solidFill>
                <a:latin typeface="Arial" charset="0"/>
              </a:defRPr>
            </a:lvl1pPr>
            <a:lvl2pPr marL="742950" indent="-285750" defTabSz="877888">
              <a:defRPr sz="2400">
                <a:solidFill>
                  <a:schemeClr val="tx1"/>
                </a:solidFill>
                <a:latin typeface="Arial" charset="0"/>
              </a:defRPr>
            </a:lvl2pPr>
            <a:lvl3pPr marL="1143000" indent="-228600" defTabSz="877888">
              <a:defRPr sz="2400">
                <a:solidFill>
                  <a:schemeClr val="tx1"/>
                </a:solidFill>
                <a:latin typeface="Arial" charset="0"/>
              </a:defRPr>
            </a:lvl3pPr>
            <a:lvl4pPr marL="1600200" indent="-228600" defTabSz="877888">
              <a:defRPr sz="2400">
                <a:solidFill>
                  <a:schemeClr val="tx1"/>
                </a:solidFill>
                <a:latin typeface="Arial" charset="0"/>
              </a:defRPr>
            </a:lvl4pPr>
            <a:lvl5pPr marL="2057400" indent="-228600" defTabSz="877888">
              <a:defRPr sz="2400">
                <a:solidFill>
                  <a:schemeClr val="tx1"/>
                </a:solidFill>
                <a:latin typeface="Arial" charset="0"/>
              </a:defRPr>
            </a:lvl5pPr>
            <a:lvl6pPr marL="2514600" indent="-228600" defTabSz="877888" fontAlgn="base">
              <a:spcBef>
                <a:spcPct val="0"/>
              </a:spcBef>
              <a:spcAft>
                <a:spcPct val="0"/>
              </a:spcAft>
              <a:defRPr sz="2400">
                <a:solidFill>
                  <a:schemeClr val="tx1"/>
                </a:solidFill>
                <a:latin typeface="Arial" charset="0"/>
              </a:defRPr>
            </a:lvl6pPr>
            <a:lvl7pPr marL="2971800" indent="-228600" defTabSz="877888" fontAlgn="base">
              <a:spcBef>
                <a:spcPct val="0"/>
              </a:spcBef>
              <a:spcAft>
                <a:spcPct val="0"/>
              </a:spcAft>
              <a:defRPr sz="2400">
                <a:solidFill>
                  <a:schemeClr val="tx1"/>
                </a:solidFill>
                <a:latin typeface="Arial" charset="0"/>
              </a:defRPr>
            </a:lvl7pPr>
            <a:lvl8pPr marL="3429000" indent="-228600" defTabSz="877888" fontAlgn="base">
              <a:spcBef>
                <a:spcPct val="0"/>
              </a:spcBef>
              <a:spcAft>
                <a:spcPct val="0"/>
              </a:spcAft>
              <a:defRPr sz="2400">
                <a:solidFill>
                  <a:schemeClr val="tx1"/>
                </a:solidFill>
                <a:latin typeface="Arial" charset="0"/>
              </a:defRPr>
            </a:lvl8pPr>
            <a:lvl9pPr marL="3886200" indent="-228600" defTabSz="877888" fontAlgn="base">
              <a:spcBef>
                <a:spcPct val="0"/>
              </a:spcBef>
              <a:spcAft>
                <a:spcPct val="0"/>
              </a:spcAft>
              <a:defRPr sz="2400">
                <a:solidFill>
                  <a:schemeClr val="tx1"/>
                </a:solidFill>
                <a:latin typeface="Arial" charset="0"/>
              </a:defRPr>
            </a:lvl9pPr>
          </a:lstStyle>
          <a:p>
            <a:pPr algn="l">
              <a:spcBef>
                <a:spcPct val="100000"/>
              </a:spcBef>
              <a:buClr>
                <a:srgbClr val="808080"/>
              </a:buClr>
              <a:buSzPct val="120000"/>
            </a:pPr>
            <a:r>
              <a:rPr lang="en-US" sz="1800" b="1">
                <a:solidFill>
                  <a:srgbClr val="808080"/>
                </a:solidFill>
                <a:cs typeface="Arial" charset="0"/>
              </a:rPr>
              <a:t>…</a:t>
            </a:r>
          </a:p>
        </p:txBody>
      </p:sp>
      <p:sp>
        <p:nvSpPr>
          <p:cNvPr id="14" name="AgendaText">
            <a:extLst>
              <a:ext uri="{FF2B5EF4-FFF2-40B4-BE49-F238E27FC236}">
                <a16:creationId xmlns:a16="http://schemas.microsoft.com/office/drawing/2014/main" id="{0A3DE27E-BF2E-6F4D-B3D9-5BC8494145B4}"/>
              </a:ext>
            </a:extLst>
          </p:cNvPr>
          <p:cNvSpPr>
            <a:spLocks noChangeArrowheads="1"/>
          </p:cNvSpPr>
          <p:nvPr userDrawn="1">
            <p:custDataLst>
              <p:tags r:id="rId5"/>
            </p:custDataLst>
          </p:nvPr>
        </p:nvSpPr>
        <p:spPr bwMode="gray">
          <a:xfrm>
            <a:off x="2209802" y="3560763"/>
            <a:ext cx="4541839"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877888">
              <a:defRPr sz="2400">
                <a:solidFill>
                  <a:schemeClr val="tx1"/>
                </a:solidFill>
                <a:latin typeface="Arial" charset="0"/>
              </a:defRPr>
            </a:lvl1pPr>
            <a:lvl2pPr marL="742950" indent="-285750" defTabSz="877888">
              <a:defRPr sz="2400">
                <a:solidFill>
                  <a:schemeClr val="tx1"/>
                </a:solidFill>
                <a:latin typeface="Arial" charset="0"/>
              </a:defRPr>
            </a:lvl2pPr>
            <a:lvl3pPr marL="1143000" indent="-228600" defTabSz="877888">
              <a:defRPr sz="2400">
                <a:solidFill>
                  <a:schemeClr val="tx1"/>
                </a:solidFill>
                <a:latin typeface="Arial" charset="0"/>
              </a:defRPr>
            </a:lvl3pPr>
            <a:lvl4pPr marL="1600200" indent="-228600" defTabSz="877888">
              <a:defRPr sz="2400">
                <a:solidFill>
                  <a:schemeClr val="tx1"/>
                </a:solidFill>
                <a:latin typeface="Arial" charset="0"/>
              </a:defRPr>
            </a:lvl4pPr>
            <a:lvl5pPr marL="2057400" indent="-228600" defTabSz="877888">
              <a:defRPr sz="2400">
                <a:solidFill>
                  <a:schemeClr val="tx1"/>
                </a:solidFill>
                <a:latin typeface="Arial" charset="0"/>
              </a:defRPr>
            </a:lvl5pPr>
            <a:lvl6pPr marL="2514600" indent="-228600" defTabSz="877888" fontAlgn="base">
              <a:spcBef>
                <a:spcPct val="0"/>
              </a:spcBef>
              <a:spcAft>
                <a:spcPct val="0"/>
              </a:spcAft>
              <a:defRPr sz="2400">
                <a:solidFill>
                  <a:schemeClr val="tx1"/>
                </a:solidFill>
                <a:latin typeface="Arial" charset="0"/>
              </a:defRPr>
            </a:lvl6pPr>
            <a:lvl7pPr marL="2971800" indent="-228600" defTabSz="877888" fontAlgn="base">
              <a:spcBef>
                <a:spcPct val="0"/>
              </a:spcBef>
              <a:spcAft>
                <a:spcPct val="0"/>
              </a:spcAft>
              <a:defRPr sz="2400">
                <a:solidFill>
                  <a:schemeClr val="tx1"/>
                </a:solidFill>
                <a:latin typeface="Arial" charset="0"/>
              </a:defRPr>
            </a:lvl7pPr>
            <a:lvl8pPr marL="3429000" indent="-228600" defTabSz="877888" fontAlgn="base">
              <a:spcBef>
                <a:spcPct val="0"/>
              </a:spcBef>
              <a:spcAft>
                <a:spcPct val="0"/>
              </a:spcAft>
              <a:defRPr sz="2400">
                <a:solidFill>
                  <a:schemeClr val="tx1"/>
                </a:solidFill>
                <a:latin typeface="Arial" charset="0"/>
              </a:defRPr>
            </a:lvl8pPr>
            <a:lvl9pPr marL="3886200" indent="-228600" defTabSz="877888" fontAlgn="base">
              <a:spcBef>
                <a:spcPct val="0"/>
              </a:spcBef>
              <a:spcAft>
                <a:spcPct val="0"/>
              </a:spcAft>
              <a:defRPr sz="2400">
                <a:solidFill>
                  <a:schemeClr val="tx1"/>
                </a:solidFill>
                <a:latin typeface="Arial" charset="0"/>
              </a:defRPr>
            </a:lvl9pPr>
          </a:lstStyle>
          <a:p>
            <a:pPr algn="l">
              <a:spcBef>
                <a:spcPct val="100000"/>
              </a:spcBef>
              <a:buClr>
                <a:srgbClr val="808080"/>
              </a:buClr>
              <a:buSzPct val="120000"/>
            </a:pPr>
            <a:r>
              <a:rPr lang="en-US" sz="1800" b="1">
                <a:solidFill>
                  <a:srgbClr val="808080"/>
                </a:solidFill>
                <a:cs typeface="Arial" charset="0"/>
              </a:rPr>
              <a:t>…</a:t>
            </a:r>
          </a:p>
        </p:txBody>
      </p:sp>
      <p:sp>
        <p:nvSpPr>
          <p:cNvPr id="18" name="Title 1">
            <a:extLst>
              <a:ext uri="{FF2B5EF4-FFF2-40B4-BE49-F238E27FC236}">
                <a16:creationId xmlns:a16="http://schemas.microsoft.com/office/drawing/2014/main" id="{7C1DA6DB-9DB5-0048-9AE3-1F9071EE01D4}"/>
              </a:ext>
            </a:extLst>
          </p:cNvPr>
          <p:cNvSpPr txBox="1">
            <a:spLocks/>
          </p:cNvSpPr>
          <p:nvPr userDrawn="1"/>
        </p:nvSpPr>
        <p:spPr bwMode="auto">
          <a:xfrm>
            <a:off x="766233" y="452575"/>
            <a:ext cx="10668000" cy="528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800">
                <a:solidFill>
                  <a:schemeClr val="tx2"/>
                </a:solidFill>
                <a:latin typeface="+mj-lt"/>
                <a:ea typeface="黑体" pitchFamily="2" charset="-122"/>
                <a:cs typeface="+mj-cs"/>
              </a:defRPr>
            </a:lvl1pPr>
            <a:lvl2pPr algn="l" rtl="0" eaLnBrk="1" fontAlgn="base" hangingPunct="1">
              <a:spcBef>
                <a:spcPct val="0"/>
              </a:spcBef>
              <a:spcAft>
                <a:spcPct val="0"/>
              </a:spcAft>
              <a:defRPr sz="3200">
                <a:solidFill>
                  <a:schemeClr val="tx2"/>
                </a:solidFill>
                <a:latin typeface="Arial" charset="0"/>
                <a:ea typeface="黑体" pitchFamily="49" charset="-122"/>
              </a:defRPr>
            </a:lvl2pPr>
            <a:lvl3pPr algn="l" rtl="0" eaLnBrk="1" fontAlgn="base" hangingPunct="1">
              <a:spcBef>
                <a:spcPct val="0"/>
              </a:spcBef>
              <a:spcAft>
                <a:spcPct val="0"/>
              </a:spcAft>
              <a:defRPr sz="3200">
                <a:solidFill>
                  <a:schemeClr val="tx2"/>
                </a:solidFill>
                <a:latin typeface="Arial" charset="0"/>
                <a:ea typeface="黑体" pitchFamily="49" charset="-122"/>
              </a:defRPr>
            </a:lvl3pPr>
            <a:lvl4pPr algn="l" rtl="0" eaLnBrk="1" fontAlgn="base" hangingPunct="1">
              <a:spcBef>
                <a:spcPct val="0"/>
              </a:spcBef>
              <a:spcAft>
                <a:spcPct val="0"/>
              </a:spcAft>
              <a:defRPr sz="3200">
                <a:solidFill>
                  <a:schemeClr val="tx2"/>
                </a:solidFill>
                <a:latin typeface="Arial" charset="0"/>
                <a:ea typeface="黑体" pitchFamily="49" charset="-122"/>
              </a:defRPr>
            </a:lvl4pPr>
            <a:lvl5pPr algn="l" rtl="0" eaLnBrk="1" fontAlgn="base" hangingPunct="1">
              <a:spcBef>
                <a:spcPct val="0"/>
              </a:spcBef>
              <a:spcAft>
                <a:spcPct val="0"/>
              </a:spcAft>
              <a:defRPr sz="3200">
                <a:solidFill>
                  <a:schemeClr val="tx2"/>
                </a:solidFill>
                <a:latin typeface="Arial" charset="0"/>
                <a:ea typeface="黑体" pitchFamily="49" charset="-122"/>
              </a:defRPr>
            </a:lvl5pPr>
            <a:lvl6pPr marL="457200" algn="l" rtl="0" eaLnBrk="1" fontAlgn="base" hangingPunct="1">
              <a:spcBef>
                <a:spcPct val="0"/>
              </a:spcBef>
              <a:spcAft>
                <a:spcPct val="0"/>
              </a:spcAft>
              <a:defRPr sz="3800">
                <a:solidFill>
                  <a:schemeClr val="tx2"/>
                </a:solidFill>
                <a:latin typeface="Arial" charset="0"/>
                <a:ea typeface="宋体" pitchFamily="2" charset="-122"/>
              </a:defRPr>
            </a:lvl6pPr>
            <a:lvl7pPr marL="914400" algn="l" rtl="0" eaLnBrk="1" fontAlgn="base" hangingPunct="1">
              <a:spcBef>
                <a:spcPct val="0"/>
              </a:spcBef>
              <a:spcAft>
                <a:spcPct val="0"/>
              </a:spcAft>
              <a:defRPr sz="3800">
                <a:solidFill>
                  <a:schemeClr val="tx2"/>
                </a:solidFill>
                <a:latin typeface="Arial" charset="0"/>
                <a:ea typeface="宋体" pitchFamily="2" charset="-122"/>
              </a:defRPr>
            </a:lvl7pPr>
            <a:lvl8pPr marL="1371600" algn="l" rtl="0" eaLnBrk="1" fontAlgn="base" hangingPunct="1">
              <a:spcBef>
                <a:spcPct val="0"/>
              </a:spcBef>
              <a:spcAft>
                <a:spcPct val="0"/>
              </a:spcAft>
              <a:defRPr sz="3800">
                <a:solidFill>
                  <a:schemeClr val="tx2"/>
                </a:solidFill>
                <a:latin typeface="Arial" charset="0"/>
                <a:ea typeface="宋体" pitchFamily="2" charset="-122"/>
              </a:defRPr>
            </a:lvl8pPr>
            <a:lvl9pPr marL="1828800" algn="l" rtl="0" eaLnBrk="1" fontAlgn="base" hangingPunct="1">
              <a:spcBef>
                <a:spcPct val="0"/>
              </a:spcBef>
              <a:spcAft>
                <a:spcPct val="0"/>
              </a:spcAft>
              <a:defRPr sz="3800">
                <a:solidFill>
                  <a:schemeClr val="tx2"/>
                </a:solidFill>
                <a:latin typeface="Arial" charset="0"/>
                <a:ea typeface="宋体" pitchFamily="2" charset="-122"/>
              </a:defRPr>
            </a:lvl9pPr>
          </a:lstStyle>
          <a:p>
            <a:pPr lvl="0" algn="l" rtl="0" eaLnBrk="1" fontAlgn="base" hangingPunct="1">
              <a:spcBef>
                <a:spcPct val="0"/>
              </a:spcBef>
              <a:spcAft>
                <a:spcPct val="0"/>
              </a:spcAft>
            </a:pPr>
            <a:r>
              <a:rPr lang="en-US" altLang="zh-CN" sz="2400" b="1" kern="0">
                <a:solidFill>
                  <a:srgbClr val="743481"/>
                </a:solidFill>
                <a:latin typeface="Arial" panose="020B0604020202020204" pitchFamily="34" charset="0"/>
                <a:ea typeface="SimHei" panose="02010609060101010101" pitchFamily="49" charset="-122"/>
                <a:cs typeface="Arial" panose="020B0604020202020204" pitchFamily="34" charset="0"/>
              </a:rPr>
              <a:t>Contents</a:t>
            </a:r>
            <a:endParaRPr lang="zh-CN" altLang="en-US" sz="2400" b="1" kern="0">
              <a:solidFill>
                <a:srgbClr val="743481"/>
              </a:solidFill>
              <a:latin typeface="Arial" panose="020B0604020202020204" pitchFamily="34" charset="0"/>
              <a:ea typeface="SimHei" panose="02010609060101010101" pitchFamily="49" charset="-122"/>
              <a:cs typeface="Arial" panose="020B0604020202020204" pitchFamily="34" charset="0"/>
            </a:endParaRPr>
          </a:p>
        </p:txBody>
      </p:sp>
      <p:sp>
        <p:nvSpPr>
          <p:cNvPr id="19" name="Line 5">
            <a:extLst>
              <a:ext uri="{FF2B5EF4-FFF2-40B4-BE49-F238E27FC236}">
                <a16:creationId xmlns:a16="http://schemas.microsoft.com/office/drawing/2014/main" id="{CC93B95A-21C7-B245-A189-EE3EEF336ABF}"/>
              </a:ext>
            </a:extLst>
          </p:cNvPr>
          <p:cNvSpPr>
            <a:spLocks noChangeShapeType="1"/>
          </p:cNvSpPr>
          <p:nvPr userDrawn="1"/>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20" name="图片 5">
            <a:extLst>
              <a:ext uri="{FF2B5EF4-FFF2-40B4-BE49-F238E27FC236}">
                <a16:creationId xmlns:a16="http://schemas.microsoft.com/office/drawing/2014/main" id="{182D5E37-14E2-9C4B-8A94-E313B9FBCB8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pic>
        <p:nvPicPr>
          <p:cNvPr id="3" name="Picture 2" descr="A person looking at his phone&#10;&#10;AI-generated content may be incorrect.">
            <a:extLst>
              <a:ext uri="{FF2B5EF4-FFF2-40B4-BE49-F238E27FC236}">
                <a16:creationId xmlns:a16="http://schemas.microsoft.com/office/drawing/2014/main" id="{DB7B6E48-2D91-B1BE-1DBA-DAB133B96774}"/>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980731"/>
            <a:ext cx="3648798" cy="5877269"/>
          </a:xfrm>
          <a:prstGeom prst="rect">
            <a:avLst/>
          </a:prstGeom>
        </p:spPr>
      </p:pic>
    </p:spTree>
    <p:extLst>
      <p:ext uri="{BB962C8B-B14F-4D97-AF65-F5344CB8AC3E}">
        <p14:creationId xmlns:p14="http://schemas.microsoft.com/office/powerpoint/2010/main" val="18419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节标题幻灯片">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6" name="Title 5"/>
          <p:cNvSpPr>
            <a:spLocks noGrp="1"/>
          </p:cNvSpPr>
          <p:nvPr>
            <p:ph type="title"/>
          </p:nvPr>
        </p:nvSpPr>
        <p:spPr>
          <a:xfrm>
            <a:off x="719403" y="4581128"/>
            <a:ext cx="10668000" cy="819944"/>
          </a:xfrm>
          <a:prstGeom prst="rect">
            <a:avLst/>
          </a:prstGeom>
        </p:spPr>
        <p:txBody>
          <a:bodyPr/>
          <a:lstStyle>
            <a:lvl1pPr>
              <a:defRPr sz="2400" b="1" baseline="0">
                <a:latin typeface="Arial" pitchFamily="34" charset="0"/>
                <a:ea typeface="黑体" pitchFamily="2" charset="-122"/>
              </a:defRPr>
            </a:lvl1pPr>
          </a:lstStyle>
          <a:p>
            <a:r>
              <a:rPr lang="en-US" altLang="zh-CN"/>
              <a:t>Click to edit Master title style</a:t>
            </a:r>
            <a:endParaRPr 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10" name="Line 5"/>
          <p:cNvSpPr>
            <a:spLocks noChangeShapeType="1"/>
          </p:cNvSpPr>
          <p:nvPr/>
        </p:nvSpPr>
        <p:spPr bwMode="auto">
          <a:xfrm flipV="1">
            <a:off x="812800" y="6324600"/>
            <a:ext cx="10566400" cy="0"/>
          </a:xfrm>
          <a:prstGeom prst="line">
            <a:avLst/>
          </a:prstGeom>
          <a:noFill/>
          <a:ln w="3175">
            <a:solidFill>
              <a:srgbClr val="743481"/>
            </a:solidFill>
            <a:round/>
            <a:headEnd/>
            <a:tailEnd/>
          </a:ln>
          <a:effectLst/>
        </p:spPr>
        <p:txBody>
          <a:bodyPr/>
          <a:lstStyle/>
          <a:p>
            <a:pPr>
              <a:defRPr/>
            </a:pPr>
            <a:endParaRPr lang="zh-CN" altLang="en-US" sz="1800">
              <a:ea typeface="黑体" pitchFamily="49" charset="-122"/>
            </a:endParaRPr>
          </a:p>
        </p:txBody>
      </p:sp>
      <p:pic>
        <p:nvPicPr>
          <p:cNvPr id="12"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2826135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1.内容幻灯片_标题和文字">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82094F4-B685-2440-831C-A3F2433A0AC3}"/>
              </a:ext>
            </a:extLst>
          </p:cNvPr>
          <p:cNvSpPr>
            <a:spLocks noGrp="1"/>
          </p:cNvSpPr>
          <p:nvPr>
            <p:ph idx="13" hasCustomPrompt="1"/>
          </p:nvPr>
        </p:nvSpPr>
        <p:spPr>
          <a:xfrm>
            <a:off x="754163" y="1142999"/>
            <a:ext cx="10566399" cy="5104800"/>
          </a:xfrm>
          <a:prstGeom prst="rect">
            <a:avLst/>
          </a:prstGeom>
        </p:spPr>
        <p:txBody>
          <a:bodyPr/>
          <a:lstStyle>
            <a:lvl1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1pPr>
            <a:lvl2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2pPr>
            <a:lvl3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4" name="Line 5"/>
          <p:cNvSpPr>
            <a:spLocks noChangeShapeType="1"/>
          </p:cNvSpPr>
          <p:nvPr/>
        </p:nvSpPr>
        <p:spPr bwMode="auto">
          <a:xfrm flipV="1">
            <a:off x="812800" y="6324600"/>
            <a:ext cx="105664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 name="Title 1"/>
          <p:cNvSpPr>
            <a:spLocks noGrp="1"/>
          </p:cNvSpPr>
          <p:nvPr>
            <p:ph type="title"/>
          </p:nvPr>
        </p:nvSpPr>
        <p:spPr>
          <a:xfrm>
            <a:off x="766233" y="533399"/>
            <a:ext cx="10668000" cy="447330"/>
          </a:xfrm>
          <a:prstGeom prst="rect">
            <a:avLst/>
          </a:prstGeom>
        </p:spPr>
        <p:txBody>
          <a:bodyPr/>
          <a:lstStyle>
            <a:lvl1pPr>
              <a:defRPr lang="zh-CN" altLang="en-US" sz="2400" b="1" kern="0" dirty="0">
                <a:solidFill>
                  <a:srgbClr val="743481"/>
                </a:solidFill>
                <a:latin typeface="Arial" panose="020B0604020202020204" pitchFamily="34" charset="0"/>
                <a:ea typeface="SimHei" panose="02010609060101010101" pitchFamily="49" charset="-122"/>
                <a:cs typeface="Arial" panose="020B0604020202020204" pitchFamily="34" charset="0"/>
              </a:defRPr>
            </a:lvl1pPr>
          </a:lstStyle>
          <a:p>
            <a:pPr lvl="0" algn="l" rtl="0" eaLnBrk="1" fontAlgn="base" hangingPunct="1">
              <a:spcBef>
                <a:spcPct val="0"/>
              </a:spcBef>
              <a:spcAft>
                <a:spcPct val="0"/>
              </a:spcAft>
            </a:pPr>
            <a:r>
              <a:rPr lang="en-US" altLang="zh-CN"/>
              <a:t>Click to edit Master title style</a:t>
            </a:r>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13" name="Line 5"/>
          <p:cNvSpPr>
            <a:spLocks noChangeShapeType="1"/>
          </p:cNvSpPr>
          <p:nvPr/>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5" name="Content Placeholder 2"/>
          <p:cNvSpPr>
            <a:spLocks noGrp="1"/>
          </p:cNvSpPr>
          <p:nvPr>
            <p:ph idx="12" hasCustomPrompt="1"/>
          </p:nvPr>
        </p:nvSpPr>
        <p:spPr>
          <a:xfrm>
            <a:off x="812802"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a:t>Source:</a:t>
            </a:r>
            <a:endParaRPr lang="en-US" altLang="zh-CN"/>
          </a:p>
        </p:txBody>
      </p:sp>
      <p:pic>
        <p:nvPicPr>
          <p:cNvPr id="11"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1299374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 name="Title 1"/>
          <p:cNvSpPr>
            <a:spLocks noGrp="1"/>
          </p:cNvSpPr>
          <p:nvPr>
            <p:ph type="title"/>
          </p:nvPr>
        </p:nvSpPr>
        <p:spPr>
          <a:xfrm>
            <a:off x="766233" y="533399"/>
            <a:ext cx="10668000" cy="447330"/>
          </a:xfrm>
          <a:prstGeom prst="rect">
            <a:avLst/>
          </a:prstGeom>
        </p:spPr>
        <p:txBody>
          <a:bodyPr/>
          <a:lstStyle>
            <a:lvl1pPr>
              <a:defRPr b="1">
                <a:latin typeface="+mj-lt"/>
              </a:defRPr>
            </a:lvl1pPr>
          </a:lstStyle>
          <a:p>
            <a:r>
              <a:rPr lang="en-US" altLang="zh-CN"/>
              <a:t>Click to edit Master title style</a:t>
            </a:r>
            <a:endParaRPr lang="zh-CN" altLang="en-US"/>
          </a:p>
        </p:txBody>
      </p:sp>
      <p:sp>
        <p:nvSpPr>
          <p:cNvPr id="3" name="Content Placeholder 2"/>
          <p:cNvSpPr>
            <a:spLocks noGrp="1"/>
          </p:cNvSpPr>
          <p:nvPr>
            <p:ph idx="1" hasCustomPrompt="1"/>
          </p:nvPr>
        </p:nvSpPr>
        <p:spPr>
          <a:xfrm>
            <a:off x="6242304" y="1142999"/>
            <a:ext cx="51816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9" name="Content Placeholder 2"/>
          <p:cNvSpPr>
            <a:spLocks noGrp="1"/>
          </p:cNvSpPr>
          <p:nvPr>
            <p:ph idx="12" hasCustomPrompt="1"/>
          </p:nvPr>
        </p:nvSpPr>
        <p:spPr>
          <a:xfrm>
            <a:off x="754161" y="1142999"/>
            <a:ext cx="5181600" cy="5104800"/>
          </a:xfrm>
          <a:prstGeom prst="rect">
            <a:avLst/>
          </a:prstGeom>
        </p:spPr>
        <p:txBody>
          <a:bodyPr/>
          <a:lstStyle>
            <a:lvl1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1pPr>
            <a:lvl2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2pPr>
            <a:lvl3pPr algn="l" rtl="0" eaLnBrk="1" fontAlgn="base" hangingPunct="1">
              <a:spcBef>
                <a:spcPct val="20000"/>
              </a:spcBef>
              <a:spcAft>
                <a:spcPct val="0"/>
              </a:spcAft>
              <a:buClr>
                <a:srgbClr val="743481"/>
              </a:buClr>
              <a:tabLst/>
              <a:defRPr lang="en-US" altLang="zh-CN" sz="1800" baseline="0" dirty="0">
                <a:solidFill>
                  <a:schemeClr val="tx1"/>
                </a:solidFill>
                <a:latin typeface="Arial" pitchFamily="34" charset="0"/>
                <a:ea typeface="黑体" pitchFamily="2" charset="-122"/>
                <a:cs typeface="+mn-cs"/>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4" name="Content Placeholder 2"/>
          <p:cNvSpPr>
            <a:spLocks noGrp="1"/>
          </p:cNvSpPr>
          <p:nvPr>
            <p:ph idx="13" hasCustomPrompt="1"/>
          </p:nvPr>
        </p:nvSpPr>
        <p:spPr>
          <a:xfrm>
            <a:off x="812802"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a:t>Source:</a:t>
            </a:r>
            <a:endParaRPr lang="en-US" altLang="zh-CN"/>
          </a:p>
        </p:txBody>
      </p:sp>
      <p:pic>
        <p:nvPicPr>
          <p:cNvPr id="12"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3938790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 name="Title 1"/>
          <p:cNvSpPr>
            <a:spLocks noGrp="1"/>
          </p:cNvSpPr>
          <p:nvPr>
            <p:ph type="title"/>
          </p:nvPr>
        </p:nvSpPr>
        <p:spPr>
          <a:xfrm>
            <a:off x="766233" y="533399"/>
            <a:ext cx="10668000" cy="447330"/>
          </a:xfrm>
          <a:prstGeom prst="rect">
            <a:avLst/>
          </a:prstGeom>
        </p:spPr>
        <p:txBody>
          <a:bodyPr/>
          <a:lstStyle>
            <a:lvl1pPr>
              <a:defRPr b="1">
                <a:latin typeface="+mj-lt"/>
              </a:defRPr>
            </a:lvl1pPr>
          </a:lstStyle>
          <a:p>
            <a:r>
              <a:rPr lang="en-US" altLang="zh-CN"/>
              <a:t>Click to edit Master title style</a:t>
            </a:r>
            <a:endParaRPr lang="zh-CN" altLang="en-US"/>
          </a:p>
        </p:txBody>
      </p:sp>
      <p:sp>
        <p:nvSpPr>
          <p:cNvPr id="3" name="Content Placeholder 2"/>
          <p:cNvSpPr>
            <a:spLocks noGrp="1"/>
          </p:cNvSpPr>
          <p:nvPr>
            <p:ph idx="1" hasCustomPrompt="1"/>
          </p:nvPr>
        </p:nvSpPr>
        <p:spPr>
          <a:xfrm>
            <a:off x="4514400" y="1142999"/>
            <a:ext cx="6908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9" name="Content Placeholder 2"/>
          <p:cNvSpPr>
            <a:spLocks noGrp="1"/>
          </p:cNvSpPr>
          <p:nvPr>
            <p:ph idx="12" hasCustomPrompt="1"/>
          </p:nvPr>
        </p:nvSpPr>
        <p:spPr>
          <a:xfrm>
            <a:off x="754161" y="1142999"/>
            <a:ext cx="3452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4" name="Content Placeholder 2"/>
          <p:cNvSpPr>
            <a:spLocks noGrp="1"/>
          </p:cNvSpPr>
          <p:nvPr>
            <p:ph idx="13" hasCustomPrompt="1"/>
          </p:nvPr>
        </p:nvSpPr>
        <p:spPr>
          <a:xfrm>
            <a:off x="812802"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a:t>Source:</a:t>
            </a:r>
            <a:endParaRPr lang="en-US" altLang="zh-CN"/>
          </a:p>
        </p:txBody>
      </p:sp>
      <p:pic>
        <p:nvPicPr>
          <p:cNvPr id="12"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3201981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2" name="Title 1"/>
          <p:cNvSpPr>
            <a:spLocks noGrp="1"/>
          </p:cNvSpPr>
          <p:nvPr>
            <p:ph type="title"/>
          </p:nvPr>
        </p:nvSpPr>
        <p:spPr>
          <a:xfrm>
            <a:off x="766233" y="533403"/>
            <a:ext cx="10668000" cy="447329"/>
          </a:xfrm>
          <a:prstGeom prst="rect">
            <a:avLst/>
          </a:prstGeom>
        </p:spPr>
        <p:txBody>
          <a:bodyPr/>
          <a:lstStyle>
            <a:lvl1pPr>
              <a:defRPr b="1">
                <a:solidFill>
                  <a:srgbClr val="810085"/>
                </a:solidFill>
                <a:latin typeface="+mj-lt"/>
              </a:defRPr>
            </a:lvl1pPr>
          </a:lstStyle>
          <a:p>
            <a:r>
              <a:rPr lang="en-US" altLang="zh-CN"/>
              <a:t>Click to edit Master title style</a:t>
            </a:r>
            <a:endParaRPr lang="zh-CN" altLang="en-US"/>
          </a:p>
        </p:txBody>
      </p:sp>
      <p:sp>
        <p:nvSpPr>
          <p:cNvPr id="3" name="Content Placeholder 2"/>
          <p:cNvSpPr>
            <a:spLocks noGrp="1"/>
          </p:cNvSpPr>
          <p:nvPr>
            <p:ph idx="1" hasCustomPrompt="1"/>
          </p:nvPr>
        </p:nvSpPr>
        <p:spPr>
          <a:xfrm>
            <a:off x="7970400" y="1142999"/>
            <a:ext cx="3452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9" name="Content Placeholder 2"/>
          <p:cNvSpPr>
            <a:spLocks noGrp="1"/>
          </p:cNvSpPr>
          <p:nvPr>
            <p:ph idx="12" hasCustomPrompt="1"/>
          </p:nvPr>
        </p:nvSpPr>
        <p:spPr>
          <a:xfrm>
            <a:off x="754161" y="1142999"/>
            <a:ext cx="6908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5" name="Content Placeholder 2"/>
          <p:cNvSpPr>
            <a:spLocks noGrp="1"/>
          </p:cNvSpPr>
          <p:nvPr>
            <p:ph idx="13" hasCustomPrompt="1"/>
          </p:nvPr>
        </p:nvSpPr>
        <p:spPr>
          <a:xfrm>
            <a:off x="812802"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a:t>Source:</a:t>
            </a:r>
            <a:endParaRPr lang="en-US" altLang="zh-CN"/>
          </a:p>
        </p:txBody>
      </p:sp>
      <p:pic>
        <p:nvPicPr>
          <p:cNvPr id="12"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2904009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2.内容幻灯片_仅标题">
    <p:spTree>
      <p:nvGrpSpPr>
        <p:cNvPr id="1" name=""/>
        <p:cNvGrpSpPr/>
        <p:nvPr/>
      </p:nvGrpSpPr>
      <p:grpSpPr>
        <a:xfrm>
          <a:off x="0" y="0"/>
          <a:ext cx="0" cy="0"/>
          <a:chOff x="0" y="0"/>
          <a:chExt cx="0" cy="0"/>
        </a:xfrm>
      </p:grpSpPr>
      <p:sp>
        <p:nvSpPr>
          <p:cNvPr id="3" name="Line 5"/>
          <p:cNvSpPr>
            <a:spLocks noChangeShapeType="1"/>
          </p:cNvSpPr>
          <p:nvPr/>
        </p:nvSpPr>
        <p:spPr bwMode="auto">
          <a:xfrm flipV="1">
            <a:off x="812800" y="6324600"/>
            <a:ext cx="10566400" cy="0"/>
          </a:xfrm>
          <a:prstGeom prst="line">
            <a:avLst/>
          </a:prstGeom>
          <a:noFill/>
          <a:ln w="3175">
            <a:solidFill>
              <a:srgbClr val="810085"/>
            </a:solidFill>
            <a:round/>
            <a:headEnd/>
            <a:tailEnd/>
          </a:ln>
          <a:extLst>
            <a:ext uri="{909E8E84-426E-40DD-AFC4-6F175D3DCCD1}">
              <a14:hiddenFill xmlns:a14="http://schemas.microsoft.com/office/drawing/2010/main">
                <a:noFill/>
              </a14:hiddenFill>
            </a:ext>
          </a:extLst>
        </p:spPr>
        <p:txBody>
          <a:bodyPr/>
          <a:lstStyle/>
          <a:p>
            <a:endParaRPr lang="zh-CN" altLang="en-US" sz="1200"/>
          </a:p>
        </p:txBody>
      </p:sp>
      <p:sp>
        <p:nvSpPr>
          <p:cNvPr id="2" name="Title 1"/>
          <p:cNvSpPr>
            <a:spLocks noGrp="1"/>
          </p:cNvSpPr>
          <p:nvPr>
            <p:ph type="title"/>
          </p:nvPr>
        </p:nvSpPr>
        <p:spPr>
          <a:xfrm>
            <a:off x="766233" y="533399"/>
            <a:ext cx="10668000" cy="447330"/>
          </a:xfrm>
          <a:prstGeom prst="rect">
            <a:avLst/>
          </a:prstGeom>
        </p:spPr>
        <p:txBody>
          <a:bodyPr/>
          <a:lstStyle>
            <a:lvl1pPr>
              <a:defRPr b="1">
                <a:latin typeface="+mj-lt"/>
              </a:defRPr>
            </a:lvl1pPr>
          </a:lstStyle>
          <a:p>
            <a:r>
              <a:rPr lang="en-US" altLang="zh-CN"/>
              <a:t>Click to edit Master title style</a:t>
            </a:r>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2DA035EE-A575-442D-B43B-59075C422C34}" type="slidenum">
              <a:rPr lang="zh-CN" altLang="en-US" smtClean="0"/>
              <a:t>‹N°›</a:t>
            </a:fld>
            <a:endParaRPr lang="zh-CN" altLang="en-US"/>
          </a:p>
        </p:txBody>
      </p:sp>
      <p:sp>
        <p:nvSpPr>
          <p:cNvPr id="10" name="Line 5"/>
          <p:cNvSpPr>
            <a:spLocks noChangeShapeType="1"/>
          </p:cNvSpPr>
          <p:nvPr/>
        </p:nvSpPr>
        <p:spPr bwMode="auto">
          <a:xfrm flipV="1">
            <a:off x="719400" y="982800"/>
            <a:ext cx="10177200" cy="0"/>
          </a:xfrm>
          <a:prstGeom prst="line">
            <a:avLst/>
          </a:prstGeom>
          <a:noFill/>
          <a:ln w="3175">
            <a:solidFill>
              <a:srgbClr val="74348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
        <p:nvSpPr>
          <p:cNvPr id="14" name="Content Placeholder 2"/>
          <p:cNvSpPr>
            <a:spLocks noGrp="1"/>
          </p:cNvSpPr>
          <p:nvPr>
            <p:ph idx="12" hasCustomPrompt="1"/>
          </p:nvPr>
        </p:nvSpPr>
        <p:spPr>
          <a:xfrm>
            <a:off x="812802"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a:t>Source:</a:t>
            </a:r>
            <a:endParaRPr lang="en-US" altLang="zh-CN"/>
          </a:p>
        </p:txBody>
      </p:sp>
      <p:pic>
        <p:nvPicPr>
          <p:cNvPr id="12" name="图片 5">
            <a:extLst>
              <a:ext uri="{FF2B5EF4-FFF2-40B4-BE49-F238E27FC236}">
                <a16:creationId xmlns:a16="http://schemas.microsoft.com/office/drawing/2014/main" id="{F8A2675D-1251-4610-8C15-35D57824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7201" y="260350"/>
            <a:ext cx="981507" cy="868940"/>
          </a:xfrm>
          <a:prstGeom prst="rect">
            <a:avLst/>
          </a:prstGeom>
        </p:spPr>
      </p:pic>
    </p:spTree>
    <p:extLst>
      <p:ext uri="{BB962C8B-B14F-4D97-AF65-F5344CB8AC3E}">
        <p14:creationId xmlns:p14="http://schemas.microsoft.com/office/powerpoint/2010/main" val="2792771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92D5-616A-E5A3-2ABF-A4E338081AD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71547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755651" y="1524000"/>
            <a:ext cx="10668000" cy="449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Tree>
    <p:extLst>
      <p:ext uri="{BB962C8B-B14F-4D97-AF65-F5344CB8AC3E}">
        <p14:creationId xmlns:p14="http://schemas.microsoft.com/office/powerpoint/2010/main" val="680338761"/>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62" r:id="rId3"/>
    <p:sldLayoutId id="2147483663" r:id="rId4"/>
    <p:sldLayoutId id="2147483664" r:id="rId5"/>
    <p:sldLayoutId id="2147483665" r:id="rId6"/>
    <p:sldLayoutId id="2147483666" r:id="rId7"/>
    <p:sldLayoutId id="2147483667" r:id="rId8"/>
    <p:sldLayoutId id="2147483669" r:id="rId9"/>
  </p:sldLayoutIdLst>
  <p:hf hdr="0" dt="0"/>
  <p:txStyles>
    <p:titleStyle>
      <a:lvl1pPr algn="l" rtl="0" eaLnBrk="1" fontAlgn="base" hangingPunct="1">
        <a:spcBef>
          <a:spcPct val="0"/>
        </a:spcBef>
        <a:spcAft>
          <a:spcPct val="0"/>
        </a:spcAft>
        <a:defRPr lang="zh-CN" altLang="en-US" sz="2400" b="1" kern="0" dirty="0">
          <a:solidFill>
            <a:srgbClr val="743481"/>
          </a:solidFill>
          <a:latin typeface="SimHei" panose="02010609060101010101" pitchFamily="49" charset="-122"/>
          <a:ea typeface="SimHei" panose="02010609060101010101" pitchFamily="49" charset="-122"/>
          <a:cs typeface="+mn-cs"/>
        </a:defRPr>
      </a:lvl1pPr>
      <a:lvl2pPr algn="l" rtl="0" eaLnBrk="1" fontAlgn="base" hangingPunct="1">
        <a:spcBef>
          <a:spcPct val="0"/>
        </a:spcBef>
        <a:spcAft>
          <a:spcPct val="0"/>
        </a:spcAft>
        <a:defRPr sz="3200">
          <a:solidFill>
            <a:schemeClr val="tx2"/>
          </a:solidFill>
          <a:latin typeface="Arial" charset="0"/>
          <a:ea typeface="黑体" pitchFamily="49" charset="-122"/>
        </a:defRPr>
      </a:lvl2pPr>
      <a:lvl3pPr algn="l" rtl="0" eaLnBrk="1" fontAlgn="base" hangingPunct="1">
        <a:spcBef>
          <a:spcPct val="0"/>
        </a:spcBef>
        <a:spcAft>
          <a:spcPct val="0"/>
        </a:spcAft>
        <a:defRPr sz="3200">
          <a:solidFill>
            <a:schemeClr val="tx2"/>
          </a:solidFill>
          <a:latin typeface="Arial" charset="0"/>
          <a:ea typeface="黑体" pitchFamily="49" charset="-122"/>
        </a:defRPr>
      </a:lvl3pPr>
      <a:lvl4pPr algn="l" rtl="0" eaLnBrk="1" fontAlgn="base" hangingPunct="1">
        <a:spcBef>
          <a:spcPct val="0"/>
        </a:spcBef>
        <a:spcAft>
          <a:spcPct val="0"/>
        </a:spcAft>
        <a:defRPr sz="3200">
          <a:solidFill>
            <a:schemeClr val="tx2"/>
          </a:solidFill>
          <a:latin typeface="Arial" charset="0"/>
          <a:ea typeface="黑体" pitchFamily="49" charset="-122"/>
        </a:defRPr>
      </a:lvl4pPr>
      <a:lvl5pPr algn="l" rtl="0" eaLnBrk="1" fontAlgn="base" hangingPunct="1">
        <a:spcBef>
          <a:spcPct val="0"/>
        </a:spcBef>
        <a:spcAft>
          <a:spcPct val="0"/>
        </a:spcAft>
        <a:defRPr sz="3200">
          <a:solidFill>
            <a:schemeClr val="tx2"/>
          </a:solidFill>
          <a:latin typeface="Arial" charset="0"/>
          <a:ea typeface="黑体" pitchFamily="49" charset="-122"/>
        </a:defRPr>
      </a:lvl5pPr>
      <a:lvl6pPr marL="457189" algn="l" rtl="0" eaLnBrk="1" fontAlgn="base" hangingPunct="1">
        <a:spcBef>
          <a:spcPct val="0"/>
        </a:spcBef>
        <a:spcAft>
          <a:spcPct val="0"/>
        </a:spcAft>
        <a:defRPr sz="3800">
          <a:solidFill>
            <a:schemeClr val="tx2"/>
          </a:solidFill>
          <a:latin typeface="Arial" charset="0"/>
          <a:ea typeface="宋体" pitchFamily="2" charset="-122"/>
        </a:defRPr>
      </a:lvl6pPr>
      <a:lvl7pPr marL="914377" algn="l" rtl="0" eaLnBrk="1" fontAlgn="base" hangingPunct="1">
        <a:spcBef>
          <a:spcPct val="0"/>
        </a:spcBef>
        <a:spcAft>
          <a:spcPct val="0"/>
        </a:spcAft>
        <a:defRPr sz="3800">
          <a:solidFill>
            <a:schemeClr val="tx2"/>
          </a:solidFill>
          <a:latin typeface="Arial" charset="0"/>
          <a:ea typeface="宋体" pitchFamily="2" charset="-122"/>
        </a:defRPr>
      </a:lvl7pPr>
      <a:lvl8pPr marL="1371566" algn="l" rtl="0" eaLnBrk="1" fontAlgn="base" hangingPunct="1">
        <a:spcBef>
          <a:spcPct val="0"/>
        </a:spcBef>
        <a:spcAft>
          <a:spcPct val="0"/>
        </a:spcAft>
        <a:defRPr sz="3800">
          <a:solidFill>
            <a:schemeClr val="tx2"/>
          </a:solidFill>
          <a:latin typeface="Arial" charset="0"/>
          <a:ea typeface="宋体" pitchFamily="2" charset="-122"/>
        </a:defRPr>
      </a:lvl8pPr>
      <a:lvl9pPr marL="1828754" algn="l" rtl="0" eaLnBrk="1" fontAlgn="base" hangingPunct="1">
        <a:spcBef>
          <a:spcPct val="0"/>
        </a:spcBef>
        <a:spcAft>
          <a:spcPct val="0"/>
        </a:spcAft>
        <a:defRPr sz="3800">
          <a:solidFill>
            <a:schemeClr val="tx2"/>
          </a:solidFill>
          <a:latin typeface="Arial" charset="0"/>
          <a:ea typeface="宋体" pitchFamily="2" charset="-122"/>
        </a:defRPr>
      </a:lvl9pPr>
    </p:titleStyle>
    <p:bodyStyle>
      <a:lvl1pPr marL="228594" indent="-228594" algn="l" rtl="0" eaLnBrk="1" fontAlgn="base" hangingPunct="1">
        <a:spcBef>
          <a:spcPct val="20000"/>
        </a:spcBef>
        <a:spcAft>
          <a:spcPct val="0"/>
        </a:spcAft>
        <a:buClr>
          <a:srgbClr val="743481"/>
        </a:buClr>
        <a:buFont typeface="Wingdings" pitchFamily="2" charset="2"/>
        <a:buChar char="§"/>
        <a:tabLst/>
        <a:defRPr sz="1800">
          <a:solidFill>
            <a:schemeClr val="tx1"/>
          </a:solidFill>
          <a:latin typeface="+mn-lt"/>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sz="1800">
          <a:solidFill>
            <a:schemeClr val="tx1"/>
          </a:solidFill>
          <a:latin typeface="+mn-lt"/>
          <a:ea typeface="黑体" pitchFamily="2" charset="-122"/>
        </a:defRPr>
      </a:lvl2pPr>
      <a:lvl3pPr marL="809605" indent="-230182" algn="l" rtl="0" eaLnBrk="1" fontAlgn="base" hangingPunct="1">
        <a:spcBef>
          <a:spcPct val="20000"/>
        </a:spcBef>
        <a:spcAft>
          <a:spcPct val="0"/>
        </a:spcAft>
        <a:buClr>
          <a:srgbClr val="743481"/>
        </a:buClr>
        <a:buFont typeface="Wingdings" pitchFamily="2" charset="2"/>
        <a:buChar char="§"/>
        <a:tabLst/>
        <a:defRPr sz="1800">
          <a:solidFill>
            <a:schemeClr val="tx1"/>
          </a:solidFill>
          <a:latin typeface="+mn-lt"/>
          <a:ea typeface="黑体" pitchFamily="2" charset="-122"/>
        </a:defRPr>
      </a:lvl3pPr>
      <a:lvl4pPr marL="1693820" indent="-387341" algn="l" rtl="0" eaLnBrk="1" fontAlgn="base" hangingPunct="1">
        <a:spcBef>
          <a:spcPct val="20000"/>
        </a:spcBef>
        <a:spcAft>
          <a:spcPct val="0"/>
        </a:spcAft>
        <a:buClr>
          <a:srgbClr val="7030A0"/>
        </a:buClr>
        <a:buFont typeface="Wingdings" pitchFamily="2" charset="2"/>
        <a:buChar char="n"/>
        <a:defRPr>
          <a:solidFill>
            <a:schemeClr val="tx1"/>
          </a:solidFill>
          <a:latin typeface="+mn-lt"/>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a:solidFill>
            <a:schemeClr val="tx1"/>
          </a:solidFill>
          <a:latin typeface="+mn-lt"/>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microsoft.com/office/2018/10/relationships/comments" Target="../comments/modernComment_132_6CF178EB.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26_64180AC6.xm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2A_A32C1DE8.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hyperlink" Target="https://climateknowledgeportal.worldbank.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8_7D9DDBF5.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0E_1118DBC8.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0F_B216BE10.xml"/><Relationship Id="rId2" Type="http://schemas.openxmlformats.org/officeDocument/2006/relationships/slideLayout" Target="../slideLayouts/slideLayout6.xml"/><Relationship Id="rId1" Type="http://schemas.openxmlformats.org/officeDocument/2006/relationships/tags" Target="../tags/tag7.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microsoft.com/office/2018/10/relationships/comments" Target="../comments/modernComment_13A_7524A5B8.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buNone/>
            </a:pPr>
            <a:r>
              <a:rPr lang="en-GB"/>
              <a:t>Students’ Social Media Addiction</a:t>
            </a:r>
          </a:p>
        </p:txBody>
      </p:sp>
      <p:sp>
        <p:nvSpPr>
          <p:cNvPr id="5" name="Content Placeholder 4"/>
          <p:cNvSpPr>
            <a:spLocks noGrp="1"/>
          </p:cNvSpPr>
          <p:nvPr>
            <p:ph sz="quarter" idx="10"/>
          </p:nvPr>
        </p:nvSpPr>
        <p:spPr/>
        <p:txBody>
          <a:bodyPr/>
          <a:lstStyle/>
          <a:p>
            <a:r>
              <a:rPr lang="en-US" altLang="zh-CN" dirty="0">
                <a:ea typeface="黑体"/>
              </a:rPr>
              <a:t>Group 7 Team Members:</a:t>
            </a:r>
            <a:endParaRPr lang="en-US" altLang="zh-CN" dirty="0">
              <a:ea typeface="黑体"/>
              <a:cs typeface="Arial"/>
            </a:endParaRPr>
          </a:p>
          <a:p>
            <a:r>
              <a:rPr lang="en-US" altLang="zh-CN" dirty="0">
                <a:ea typeface="黑体"/>
                <a:cs typeface="Arial"/>
              </a:rPr>
              <a:t>Theo </a:t>
            </a:r>
            <a:r>
              <a:rPr lang="en-US" altLang="zh-CN" dirty="0" err="1">
                <a:ea typeface="黑体"/>
                <a:cs typeface="Arial"/>
              </a:rPr>
              <a:t>lin</a:t>
            </a:r>
            <a:r>
              <a:rPr lang="en-US" altLang="zh-CN" dirty="0">
                <a:ea typeface="黑体"/>
                <a:cs typeface="Arial"/>
              </a:rPr>
              <a:t> 2025280425</a:t>
            </a:r>
          </a:p>
          <a:p>
            <a:r>
              <a:rPr lang="zh-CN" altLang="pl-PL" dirty="0">
                <a:ea typeface="黑体"/>
                <a:cs typeface="Arial"/>
              </a:rPr>
              <a:t>迭戈 </a:t>
            </a:r>
            <a:r>
              <a:rPr lang="pl-PL" altLang="zh-CN" dirty="0">
                <a:ea typeface="黑体"/>
                <a:cs typeface="Arial"/>
              </a:rPr>
              <a:t>- Diego Matali Goya 2025280414</a:t>
            </a:r>
            <a:endParaRPr lang="pl-PL" altLang="zh-CN" dirty="0">
              <a:cs typeface="Arial"/>
            </a:endParaRPr>
          </a:p>
          <a:p>
            <a:r>
              <a:rPr lang="pl-PL" altLang="zh-CN" dirty="0">
                <a:ea typeface="黑体"/>
                <a:cs typeface="Arial"/>
              </a:rPr>
              <a:t>郑则 - Alexandre Justo 2025400412</a:t>
            </a:r>
          </a:p>
          <a:p>
            <a:r>
              <a:rPr lang="pl-PL" altLang="zh-CN" dirty="0">
                <a:ea typeface="黑体"/>
                <a:cs typeface="Arial"/>
              </a:rPr>
              <a:t>Henrik Wild 2025280171</a:t>
            </a:r>
            <a:endParaRPr lang="pl-PL" altLang="zh-CN" dirty="0">
              <a:cs typeface="Arial"/>
            </a:endParaRPr>
          </a:p>
        </p:txBody>
      </p:sp>
    </p:spTree>
    <p:extLst>
      <p:ext uri="{BB962C8B-B14F-4D97-AF65-F5344CB8AC3E}">
        <p14:creationId xmlns:p14="http://schemas.microsoft.com/office/powerpoint/2010/main" val="221053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2887B1-2685-563D-65F7-D4A7B5F4C2FF}"/>
              </a:ext>
            </a:extLst>
          </p:cNvPr>
          <p:cNvSpPr/>
          <p:nvPr/>
        </p:nvSpPr>
        <p:spPr>
          <a:xfrm>
            <a:off x="4544965" y="1671484"/>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3332BAAC-DA06-95CB-EE64-4C1FADC96622}"/>
              </a:ext>
            </a:extLst>
          </p:cNvPr>
          <p:cNvSpPr/>
          <p:nvPr/>
        </p:nvSpPr>
        <p:spPr>
          <a:xfrm>
            <a:off x="4544965" y="1671484"/>
            <a:ext cx="4392558"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96633DE-19FC-2444-8363-AA0C2AAA5493}"/>
              </a:ext>
            </a:extLst>
          </p:cNvPr>
          <p:cNvSpPr txBox="1"/>
          <p:nvPr/>
        </p:nvSpPr>
        <p:spPr>
          <a:xfrm>
            <a:off x="4544965" y="1486801"/>
            <a:ext cx="5660920" cy="3330399"/>
          </a:xfrm>
          <a:prstGeom prst="rect">
            <a:avLst/>
          </a:prstGeom>
          <a:noFill/>
          <a:ln>
            <a:solidFill>
              <a:schemeClr val="bg1"/>
            </a:solidFill>
          </a:ln>
        </p:spPr>
        <p:txBody>
          <a:bodyPr wrap="square" lIns="91440" tIns="45720" rIns="91440" bIns="45720" rtlCol="0" anchor="t">
            <a:spAutoFit/>
          </a:bodyPr>
          <a:lstStyle/>
          <a:p>
            <a:pPr marL="342900" indent="-342900">
              <a:lnSpc>
                <a:spcPct val="200000"/>
              </a:lnSpc>
              <a:buFont typeface="+mj-lt"/>
              <a:buAutoNum type="arabicPeriod"/>
            </a:pPr>
            <a:r>
              <a:rPr lang="en-US" dirty="0">
                <a:solidFill>
                  <a:schemeClr val="bg1"/>
                </a:solidFill>
                <a:ea typeface="SimHei" panose="02010609060101010101" pitchFamily="49" charset="-122"/>
              </a:rPr>
              <a:t>Introduction</a:t>
            </a:r>
          </a:p>
          <a:p>
            <a:pPr marL="342900" indent="-342900">
              <a:lnSpc>
                <a:spcPct val="200000"/>
              </a:lnSpc>
              <a:buFont typeface="+mj-lt"/>
              <a:buAutoNum type="arabicPeriod"/>
            </a:pPr>
            <a:r>
              <a:rPr lang="en-US" dirty="0">
                <a:ea typeface="SimHei"/>
              </a:rPr>
              <a:t>Correlation analysis </a:t>
            </a:r>
            <a:endParaRPr lang="en-US" dirty="0">
              <a:ea typeface="SimHei"/>
              <a:cs typeface="Arial"/>
            </a:endParaRPr>
          </a:p>
          <a:p>
            <a:pPr marL="342900" indent="-342900">
              <a:lnSpc>
                <a:spcPct val="200000"/>
              </a:lnSpc>
              <a:buFont typeface="+mj-lt"/>
              <a:buAutoNum type="arabicPeriod"/>
            </a:pPr>
            <a:r>
              <a:rPr lang="en-GB" altLang="en-US" dirty="0"/>
              <a:t>Sunshine's Impact on Addiction</a:t>
            </a:r>
          </a:p>
          <a:p>
            <a:pPr marL="342900" indent="-342900">
              <a:lnSpc>
                <a:spcPct val="200000"/>
              </a:lnSpc>
              <a:buFont typeface="+mj-lt"/>
              <a:buAutoNum type="arabicPeriod"/>
            </a:pPr>
            <a:r>
              <a:rPr lang="en-GB" dirty="0">
                <a:ea typeface="SimHei" panose="02010609060101010101" pitchFamily="49" charset="-122"/>
              </a:rPr>
              <a:t>Social Media Platform Comparison</a:t>
            </a:r>
            <a:endParaRPr lang="en-US" dirty="0">
              <a:ea typeface="SimHei" panose="02010609060101010101" pitchFamily="49" charset="-122"/>
            </a:endParaRPr>
          </a:p>
          <a:p>
            <a:pPr marL="342900" indent="-342900">
              <a:lnSpc>
                <a:spcPct val="200000"/>
              </a:lnSpc>
              <a:buFont typeface="+mj-lt"/>
              <a:buAutoNum type="arabicPeriod"/>
            </a:pPr>
            <a:r>
              <a:rPr lang="en-US" altLang="zh-CN" dirty="0"/>
              <a:t>Academic Performance</a:t>
            </a:r>
          </a:p>
          <a:p>
            <a:pPr marL="342900" indent="-342900">
              <a:lnSpc>
                <a:spcPct val="200000"/>
              </a:lnSpc>
              <a:buFont typeface="+mj-lt"/>
              <a:buAutoNum type="arabicPeriod"/>
            </a:pPr>
            <a:r>
              <a:rPr lang="en-US" altLang="zh-CN" dirty="0"/>
              <a:t>Conclusion</a:t>
            </a:r>
          </a:p>
        </p:txBody>
      </p:sp>
    </p:spTree>
    <p:extLst>
      <p:ext uri="{BB962C8B-B14F-4D97-AF65-F5344CB8AC3E}">
        <p14:creationId xmlns:p14="http://schemas.microsoft.com/office/powerpoint/2010/main" val="23182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51C25-74FB-3C5A-2551-C3F29F1DB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C5047-563A-8756-1472-CA2EB0A3A5C9}"/>
              </a:ext>
            </a:extLst>
          </p:cNvPr>
          <p:cNvSpPr>
            <a:spLocks noGrp="1"/>
          </p:cNvSpPr>
          <p:nvPr>
            <p:ph type="title"/>
          </p:nvPr>
        </p:nvSpPr>
        <p:spPr>
          <a:xfrm>
            <a:off x="766233" y="533399"/>
            <a:ext cx="10668000" cy="447330"/>
          </a:xfrm>
        </p:spPr>
        <p:txBody>
          <a:bodyPr wrap="square" anchor="ctr">
            <a:normAutofit/>
          </a:bodyPr>
          <a:lstStyle/>
          <a:p>
            <a:pPr>
              <a:lnSpc>
                <a:spcPct val="90000"/>
              </a:lnSpc>
            </a:pPr>
            <a:r>
              <a:rPr lang="es-MX" err="1"/>
              <a:t>Overview</a:t>
            </a:r>
            <a:endParaRPr lang="en-CN" kern="1200"/>
          </a:p>
        </p:txBody>
      </p:sp>
      <p:sp>
        <p:nvSpPr>
          <p:cNvPr id="11" name="Slide Number Placeholder 3">
            <a:extLst>
              <a:ext uri="{FF2B5EF4-FFF2-40B4-BE49-F238E27FC236}">
                <a16:creationId xmlns:a16="http://schemas.microsoft.com/office/drawing/2014/main" id="{0BFA1244-B7E0-DC41-318F-9534E0DB2BE0}"/>
              </a:ext>
            </a:extLst>
          </p:cNvPr>
          <p:cNvSpPr>
            <a:spLocks noGrp="1"/>
          </p:cNvSpPr>
          <p:nvPr>
            <p:ph type="sldNum" sz="quarter" idx="11"/>
          </p:nvPr>
        </p:nvSpPr>
        <p:spPr>
          <a:xfrm>
            <a:off x="8737600" y="6400800"/>
            <a:ext cx="2641600" cy="268288"/>
          </a:xfrm>
        </p:spPr>
        <p:txBody>
          <a:bodyPr/>
          <a:lstStyle/>
          <a:p>
            <a:pPr>
              <a:spcAft>
                <a:spcPts val="600"/>
              </a:spcAft>
            </a:pPr>
            <a:fld id="{2DA035EE-A575-442D-B43B-59075C422C34}" type="slidenum">
              <a:rPr lang="zh-CN" altLang="en-US" smtClean="0"/>
              <a:pPr>
                <a:spcAft>
                  <a:spcPts val="600"/>
                </a:spcAft>
              </a:pPr>
              <a:t>3</a:t>
            </a:fld>
            <a:endParaRPr lang="zh-CN" altLang="en-US"/>
          </a:p>
        </p:txBody>
      </p:sp>
      <p:sp>
        <p:nvSpPr>
          <p:cNvPr id="9" name="Content Placeholder 8">
            <a:extLst>
              <a:ext uri="{FF2B5EF4-FFF2-40B4-BE49-F238E27FC236}">
                <a16:creationId xmlns:a16="http://schemas.microsoft.com/office/drawing/2014/main" id="{12BD9300-3338-73E8-6C5F-47280CA2AFBD}"/>
              </a:ext>
            </a:extLst>
          </p:cNvPr>
          <p:cNvSpPr>
            <a:spLocks noGrp="1"/>
          </p:cNvSpPr>
          <p:nvPr>
            <p:ph idx="1"/>
          </p:nvPr>
        </p:nvSpPr>
        <p:spPr>
          <a:xfrm>
            <a:off x="5604386" y="1513357"/>
            <a:ext cx="5818413" cy="3251655"/>
          </a:xfrm>
        </p:spPr>
        <p:txBody>
          <a:bodyPr/>
          <a:lstStyle/>
          <a:p>
            <a:pPr marL="0" indent="0" fontAlgn="ctr">
              <a:buNone/>
            </a:pPr>
            <a:r>
              <a:rPr lang="en-GB" b="1" dirty="0">
                <a:latin typeface="Arial"/>
                <a:ea typeface="黑体"/>
                <a:cs typeface="Arial"/>
              </a:rPr>
              <a:t>Key </a:t>
            </a:r>
            <a:r>
              <a:rPr lang="en-GB" b="1">
                <a:latin typeface="Arial"/>
                <a:ea typeface="黑体"/>
                <a:cs typeface="Arial"/>
              </a:rPr>
              <a:t>behavioural</a:t>
            </a:r>
            <a:r>
              <a:rPr lang="en-GB" b="1" dirty="0">
                <a:latin typeface="Arial"/>
                <a:ea typeface="黑体"/>
                <a:cs typeface="Arial"/>
              </a:rPr>
              <a:t> variables</a:t>
            </a:r>
            <a:endParaRPr lang="en-GB">
              <a:cs typeface="Arial" pitchFamily="34" charset="0"/>
            </a:endParaRPr>
          </a:p>
          <a:p>
            <a:pPr marL="227965" indent="-227965" fontAlgn="ctr"/>
            <a:r>
              <a:rPr lang="en-GB" dirty="0">
                <a:latin typeface="Arial"/>
                <a:ea typeface="黑体"/>
                <a:cs typeface="Arial"/>
              </a:rPr>
              <a:t>Average daily social media usage, most-used platform</a:t>
            </a:r>
          </a:p>
          <a:p>
            <a:pPr marL="0" indent="0" fontAlgn="ctr">
              <a:buNone/>
            </a:pPr>
            <a:r>
              <a:rPr lang="en-GB" b="1" dirty="0">
                <a:latin typeface="Arial"/>
                <a:ea typeface="黑体"/>
                <a:cs typeface="Arial"/>
              </a:rPr>
              <a:t>Key outcome variables</a:t>
            </a:r>
            <a:endParaRPr lang="en-GB">
              <a:cs typeface="Arial" pitchFamily="34" charset="0"/>
            </a:endParaRPr>
          </a:p>
          <a:p>
            <a:pPr marL="227965" indent="-227965" fontAlgn="ctr"/>
            <a:r>
              <a:rPr lang="en-GB" dirty="0">
                <a:latin typeface="Arial"/>
                <a:ea typeface="黑体"/>
                <a:cs typeface="Arial"/>
              </a:rPr>
              <a:t>Addiction score (1–10)</a:t>
            </a:r>
          </a:p>
          <a:p>
            <a:pPr marL="227965" indent="-227965" fontAlgn="ctr"/>
            <a:r>
              <a:rPr lang="en-GB" dirty="0">
                <a:latin typeface="Arial"/>
                <a:ea typeface="黑体"/>
                <a:cs typeface="Arial"/>
              </a:rPr>
              <a:t>Mental health score (1–10) </a:t>
            </a:r>
          </a:p>
          <a:p>
            <a:pPr marL="227965" indent="-227965" fontAlgn="ctr"/>
            <a:r>
              <a:rPr lang="en-GB" dirty="0">
                <a:latin typeface="Arial"/>
                <a:ea typeface="黑体"/>
                <a:cs typeface="Arial"/>
              </a:rPr>
              <a:t>Sleep hours</a:t>
            </a:r>
          </a:p>
          <a:p>
            <a:pPr marL="0" indent="0" fontAlgn="ctr">
              <a:buNone/>
            </a:pPr>
            <a:r>
              <a:rPr lang="en-GB" b="1" dirty="0">
                <a:latin typeface="Arial"/>
                <a:ea typeface="黑体"/>
                <a:cs typeface="Arial"/>
              </a:rPr>
              <a:t>Social impact variables</a:t>
            </a:r>
            <a:endParaRPr lang="en-GB">
              <a:cs typeface="Arial" pitchFamily="34" charset="0"/>
            </a:endParaRPr>
          </a:p>
          <a:p>
            <a:pPr marL="227965" indent="-227965" fontAlgn="ctr"/>
            <a:r>
              <a:rPr lang="en-GB" dirty="0">
                <a:latin typeface="Arial"/>
                <a:ea typeface="黑体"/>
                <a:cs typeface="Arial"/>
              </a:rPr>
              <a:t>Relationship conflicts due to social media, academic impact</a:t>
            </a:r>
          </a:p>
          <a:p>
            <a:pPr marL="227965" indent="-227965"/>
            <a:endParaRPr lang="en-GB">
              <a:cs typeface="Arial" pitchFamily="34" charset="0"/>
            </a:endParaRPr>
          </a:p>
        </p:txBody>
      </p:sp>
      <p:sp>
        <p:nvSpPr>
          <p:cNvPr id="5" name="Content Placeholder 4">
            <a:extLst>
              <a:ext uri="{FF2B5EF4-FFF2-40B4-BE49-F238E27FC236}">
                <a16:creationId xmlns:a16="http://schemas.microsoft.com/office/drawing/2014/main" id="{ED9316DD-7210-964E-DA79-4805EA7BCCBC}"/>
              </a:ext>
            </a:extLst>
          </p:cNvPr>
          <p:cNvSpPr>
            <a:spLocks noGrp="1"/>
          </p:cNvSpPr>
          <p:nvPr>
            <p:ph idx="12"/>
          </p:nvPr>
        </p:nvSpPr>
        <p:spPr>
          <a:xfrm>
            <a:off x="1482394" y="1513357"/>
            <a:ext cx="3452400" cy="3831286"/>
          </a:xfrm>
        </p:spPr>
        <p:txBody>
          <a:bodyPr/>
          <a:lstStyle/>
          <a:p>
            <a:pPr marL="0" indent="0">
              <a:buNone/>
            </a:pPr>
            <a:r>
              <a:rPr lang="en-GB" b="1" dirty="0">
                <a:latin typeface="Arial"/>
                <a:ea typeface="黑体"/>
                <a:cs typeface="Arial"/>
              </a:rPr>
              <a:t>Demographics</a:t>
            </a:r>
            <a:r>
              <a:rPr lang="en-GB" dirty="0">
                <a:latin typeface="Arial"/>
                <a:ea typeface="黑体"/>
                <a:cs typeface="Arial"/>
              </a:rPr>
              <a:t>. </a:t>
            </a:r>
          </a:p>
          <a:p>
            <a:pPr marL="227965" indent="-227965"/>
            <a:r>
              <a:rPr lang="en-GB" dirty="0">
                <a:latin typeface="Arial"/>
                <a:ea typeface="黑体"/>
                <a:cs typeface="Arial"/>
              </a:rPr>
              <a:t>Population: Students aged 16-25</a:t>
            </a:r>
          </a:p>
          <a:p>
            <a:pPr marL="227965" indent="-227965"/>
            <a:r>
              <a:rPr lang="en-GB" dirty="0">
                <a:latin typeface="Arial"/>
                <a:ea typeface="黑体"/>
                <a:cs typeface="Arial"/>
              </a:rPr>
              <a:t>High School, Undergraduate, </a:t>
            </a:r>
            <a:r>
              <a:rPr lang="en-GB">
                <a:latin typeface="Arial"/>
                <a:ea typeface="黑体"/>
                <a:cs typeface="Arial"/>
              </a:rPr>
              <a:t>Graduate</a:t>
            </a:r>
            <a:endParaRPr lang="en-GB">
              <a:cs typeface="Arial"/>
            </a:endParaRPr>
          </a:p>
          <a:p>
            <a:pPr marL="227965" indent="-227965"/>
            <a:r>
              <a:rPr lang="en-GB" dirty="0">
                <a:latin typeface="Arial"/>
                <a:ea typeface="黑体"/>
                <a:cs typeface="Arial"/>
              </a:rPr>
              <a:t>Global</a:t>
            </a:r>
          </a:p>
          <a:p>
            <a:pPr marL="0" indent="0">
              <a:buNone/>
            </a:pPr>
            <a:r>
              <a:rPr lang="en-GB" b="1" dirty="0">
                <a:latin typeface="Arial"/>
                <a:ea typeface="黑体"/>
                <a:cs typeface="Arial"/>
              </a:rPr>
              <a:t>Timeline:</a:t>
            </a:r>
          </a:p>
          <a:p>
            <a:pPr marL="227965" indent="-227965"/>
            <a:r>
              <a:rPr lang="en-GB" dirty="0">
                <a:latin typeface="Arial"/>
                <a:ea typeface="黑体"/>
                <a:cs typeface="Arial"/>
              </a:rPr>
              <a:t>One-time online study (Q1 2025)</a:t>
            </a:r>
          </a:p>
          <a:p>
            <a:pPr marL="0" indent="0">
              <a:buNone/>
            </a:pPr>
            <a:r>
              <a:rPr lang="en-GB" b="1" dirty="0">
                <a:latin typeface="Arial"/>
                <a:ea typeface="黑体"/>
                <a:cs typeface="Arial"/>
              </a:rPr>
              <a:t>Dataset: </a:t>
            </a:r>
          </a:p>
          <a:p>
            <a:pPr marL="227965" indent="-227965"/>
            <a:r>
              <a:rPr lang="en-GB" dirty="0">
                <a:latin typeface="Arial"/>
                <a:ea typeface="黑体"/>
                <a:cs typeface="Arial"/>
              </a:rPr>
              <a:t>Student´s Social Media Addiction</a:t>
            </a:r>
          </a:p>
        </p:txBody>
      </p:sp>
      <p:pic>
        <p:nvPicPr>
          <p:cNvPr id="14" name="Picture 13" descr="A black background with a black square&#10;&#10;AI-generated content may be incorrect.">
            <a:extLst>
              <a:ext uri="{FF2B5EF4-FFF2-40B4-BE49-F238E27FC236}">
                <a16:creationId xmlns:a16="http://schemas.microsoft.com/office/drawing/2014/main" id="{443E88AF-12AA-9A47-4236-FADB2F449D42}"/>
              </a:ext>
            </a:extLst>
          </p:cNvPr>
          <p:cNvPicPr>
            <a:picLocks noChangeAspect="1"/>
          </p:cNvPicPr>
          <p:nvPr/>
        </p:nvPicPr>
        <p:blipFill>
          <a:blip r:embed="rId3">
            <a:duotone>
              <a:schemeClr val="accent1">
                <a:shade val="45000"/>
                <a:satMod val="135000"/>
              </a:schemeClr>
              <a:prstClr val="white"/>
            </a:duotone>
          </a:blip>
          <a:stretch>
            <a:fillRect/>
          </a:stretch>
        </p:blipFill>
        <p:spPr>
          <a:xfrm>
            <a:off x="1057272" y="1477524"/>
            <a:ext cx="425122" cy="425122"/>
          </a:xfrm>
          <a:prstGeom prst="rect">
            <a:avLst/>
          </a:prstGeom>
        </p:spPr>
      </p:pic>
      <p:pic>
        <p:nvPicPr>
          <p:cNvPr id="21" name="Picture 20" descr="A black background with a black square&#10;&#10;AI-generated content may be incorrect.">
            <a:extLst>
              <a:ext uri="{FF2B5EF4-FFF2-40B4-BE49-F238E27FC236}">
                <a16:creationId xmlns:a16="http://schemas.microsoft.com/office/drawing/2014/main" id="{EEAD6C3D-8C35-7787-9CE3-9A57B55138A9}"/>
              </a:ext>
            </a:extLst>
          </p:cNvPr>
          <p:cNvPicPr>
            <a:picLocks noChangeAspect="1"/>
          </p:cNvPicPr>
          <p:nvPr/>
        </p:nvPicPr>
        <p:blipFill>
          <a:blip r:embed="rId4">
            <a:duotone>
              <a:schemeClr val="accent1">
                <a:shade val="45000"/>
                <a:satMod val="135000"/>
              </a:schemeClr>
              <a:prstClr val="white"/>
            </a:duotone>
          </a:blip>
          <a:stretch>
            <a:fillRect/>
          </a:stretch>
        </p:blipFill>
        <p:spPr>
          <a:xfrm>
            <a:off x="1057272" y="3351415"/>
            <a:ext cx="425122" cy="425122"/>
          </a:xfrm>
          <a:prstGeom prst="rect">
            <a:avLst/>
          </a:prstGeom>
        </p:spPr>
      </p:pic>
      <p:pic>
        <p:nvPicPr>
          <p:cNvPr id="22" name="Picture 21" descr="A black background with a black square&#10;&#10;AI-generated content may be incorrect.">
            <a:extLst>
              <a:ext uri="{FF2B5EF4-FFF2-40B4-BE49-F238E27FC236}">
                <a16:creationId xmlns:a16="http://schemas.microsoft.com/office/drawing/2014/main" id="{41EED55C-32F4-F6FB-2171-75D84E57796B}"/>
              </a:ext>
            </a:extLst>
          </p:cNvPr>
          <p:cNvPicPr>
            <a:picLocks noChangeAspect="1"/>
          </p:cNvPicPr>
          <p:nvPr/>
        </p:nvPicPr>
        <p:blipFill>
          <a:blip r:embed="rId5">
            <a:duotone>
              <a:schemeClr val="accent1">
                <a:shade val="45000"/>
                <a:satMod val="135000"/>
              </a:schemeClr>
              <a:prstClr val="white"/>
            </a:duotone>
          </a:blip>
          <a:stretch>
            <a:fillRect/>
          </a:stretch>
        </p:blipFill>
        <p:spPr>
          <a:xfrm>
            <a:off x="1077039" y="4180108"/>
            <a:ext cx="425122" cy="42512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41ED251D-E94D-DF76-1955-126D0126E4BE}"/>
              </a:ext>
            </a:extLst>
          </p:cNvPr>
          <p:cNvPicPr>
            <a:picLocks noChangeAspect="1"/>
          </p:cNvPicPr>
          <p:nvPr/>
        </p:nvPicPr>
        <p:blipFill>
          <a:blip r:embed="rId6">
            <a:duotone>
              <a:schemeClr val="accent1">
                <a:shade val="45000"/>
                <a:satMod val="135000"/>
              </a:schemeClr>
              <a:prstClr val="white"/>
            </a:duotone>
          </a:blip>
          <a:stretch>
            <a:fillRect/>
          </a:stretch>
        </p:blipFill>
        <p:spPr>
          <a:xfrm>
            <a:off x="5147355" y="1513357"/>
            <a:ext cx="425122" cy="425122"/>
          </a:xfrm>
          <a:prstGeom prst="rect">
            <a:avLst/>
          </a:prstGeom>
        </p:spPr>
      </p:pic>
      <p:pic>
        <p:nvPicPr>
          <p:cNvPr id="18" name="Picture 17" descr="A black background with a black square&#10;&#10;AI-generated content may be incorrect.">
            <a:extLst>
              <a:ext uri="{FF2B5EF4-FFF2-40B4-BE49-F238E27FC236}">
                <a16:creationId xmlns:a16="http://schemas.microsoft.com/office/drawing/2014/main" id="{C3FBE09B-3D70-D282-B279-AA01864CEF31}"/>
              </a:ext>
            </a:extLst>
          </p:cNvPr>
          <p:cNvPicPr>
            <a:picLocks noChangeAspect="1"/>
          </p:cNvPicPr>
          <p:nvPr/>
        </p:nvPicPr>
        <p:blipFill>
          <a:blip r:embed="rId7">
            <a:duotone>
              <a:schemeClr val="accent1">
                <a:shade val="45000"/>
                <a:satMod val="135000"/>
              </a:schemeClr>
              <a:prstClr val="white"/>
            </a:duotone>
          </a:blip>
          <a:stretch>
            <a:fillRect/>
          </a:stretch>
        </p:blipFill>
        <p:spPr>
          <a:xfrm>
            <a:off x="5147355" y="2456822"/>
            <a:ext cx="425122" cy="425122"/>
          </a:xfrm>
          <a:prstGeom prst="rect">
            <a:avLst/>
          </a:prstGeom>
        </p:spPr>
      </p:pic>
      <p:pic>
        <p:nvPicPr>
          <p:cNvPr id="19" name="Picture 18" descr="A paper with a red mark and x marks&#10;&#10;AI-generated content may be incorrect.">
            <a:extLst>
              <a:ext uri="{FF2B5EF4-FFF2-40B4-BE49-F238E27FC236}">
                <a16:creationId xmlns:a16="http://schemas.microsoft.com/office/drawing/2014/main" id="{FF1E7657-DE98-287E-4305-FD5B183E743A}"/>
              </a:ext>
            </a:extLst>
          </p:cNvPr>
          <p:cNvPicPr>
            <a:picLocks noChangeAspect="1"/>
          </p:cNvPicPr>
          <p:nvPr/>
        </p:nvPicPr>
        <p:blipFill>
          <a:blip r:embed="rId8">
            <a:duotone>
              <a:schemeClr val="accent1">
                <a:shade val="45000"/>
                <a:satMod val="135000"/>
              </a:schemeClr>
              <a:prstClr val="white"/>
            </a:duotone>
          </a:blip>
          <a:stretch>
            <a:fillRect/>
          </a:stretch>
        </p:blipFill>
        <p:spPr>
          <a:xfrm>
            <a:off x="5147355" y="3797073"/>
            <a:ext cx="425122" cy="425122"/>
          </a:xfrm>
          <a:prstGeom prst="rect">
            <a:avLst/>
          </a:prstGeom>
        </p:spPr>
      </p:pic>
    </p:spTree>
    <p:extLst>
      <p:ext uri="{BB962C8B-B14F-4D97-AF65-F5344CB8AC3E}">
        <p14:creationId xmlns:p14="http://schemas.microsoft.com/office/powerpoint/2010/main" val="182776445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2D3F-47C6-D9C8-0473-F63CFA039D9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8F23239-14A3-CA03-FF63-747987A1C3B5}"/>
              </a:ext>
            </a:extLst>
          </p:cNvPr>
          <p:cNvSpPr/>
          <p:nvPr/>
        </p:nvSpPr>
        <p:spPr>
          <a:xfrm>
            <a:off x="4485971" y="2192062"/>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26D624C-7478-FA91-EF24-F66A3F2CD784}"/>
              </a:ext>
            </a:extLst>
          </p:cNvPr>
          <p:cNvSpPr/>
          <p:nvPr/>
        </p:nvSpPr>
        <p:spPr>
          <a:xfrm>
            <a:off x="4485971" y="2192062"/>
            <a:ext cx="4392558"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5170704-4335-F373-F8BF-BC987B7E0CBD}"/>
              </a:ext>
            </a:extLst>
          </p:cNvPr>
          <p:cNvSpPr txBox="1"/>
          <p:nvPr/>
        </p:nvSpPr>
        <p:spPr>
          <a:xfrm>
            <a:off x="4486350" y="1486801"/>
            <a:ext cx="5660920" cy="3330399"/>
          </a:xfrm>
          <a:prstGeom prst="rect">
            <a:avLst/>
          </a:prstGeom>
          <a:noFill/>
          <a:ln>
            <a:solidFill>
              <a:schemeClr val="bg1"/>
            </a:solidFill>
          </a:ln>
        </p:spPr>
        <p:txBody>
          <a:bodyPr wrap="square" lIns="91440" tIns="45720" rIns="91440" bIns="45720" rtlCol="0" anchor="t">
            <a:spAutoFit/>
          </a:bodyPr>
          <a:lstStyle/>
          <a:p>
            <a:pPr marL="342900" indent="-342900">
              <a:lnSpc>
                <a:spcPct val="200000"/>
              </a:lnSpc>
              <a:buFont typeface="+mj-lt"/>
              <a:buAutoNum type="arabicPeriod"/>
            </a:pPr>
            <a:r>
              <a:rPr lang="en-US" dirty="0">
                <a:ea typeface="SimHei" panose="02010609060101010101" pitchFamily="49" charset="-122"/>
              </a:rPr>
              <a:t>Introduction</a:t>
            </a:r>
          </a:p>
          <a:p>
            <a:pPr marL="342900" indent="-342900">
              <a:lnSpc>
                <a:spcPct val="200000"/>
              </a:lnSpc>
              <a:buFont typeface="+mj-lt"/>
              <a:buAutoNum type="arabicPeriod"/>
            </a:pPr>
            <a:r>
              <a:rPr lang="en-US" dirty="0">
                <a:solidFill>
                  <a:schemeClr val="bg1"/>
                </a:solidFill>
                <a:ea typeface="SimHei" panose="02010609060101010101" pitchFamily="49" charset="-122"/>
              </a:rPr>
              <a:t>Correlation Analysis</a:t>
            </a:r>
            <a:endParaRPr lang="en-US" dirty="0">
              <a:ea typeface="SimHei" panose="02010609060101010101" pitchFamily="49" charset="-122"/>
            </a:endParaRPr>
          </a:p>
          <a:p>
            <a:pPr marL="342900" indent="-342900">
              <a:lnSpc>
                <a:spcPct val="200000"/>
              </a:lnSpc>
              <a:buFont typeface="+mj-lt"/>
              <a:buAutoNum type="arabicPeriod"/>
            </a:pPr>
            <a:r>
              <a:rPr lang="en-GB" altLang="en-US" dirty="0"/>
              <a:t>Sunshine's Impact on Addiction</a:t>
            </a:r>
          </a:p>
          <a:p>
            <a:pPr marL="342900" indent="-342900">
              <a:lnSpc>
                <a:spcPct val="200000"/>
              </a:lnSpc>
              <a:buFont typeface="+mj-lt"/>
              <a:buAutoNum type="arabicPeriod"/>
            </a:pPr>
            <a:r>
              <a:rPr lang="en-GB" dirty="0">
                <a:ea typeface="SimHei" panose="02010609060101010101" pitchFamily="49" charset="-122"/>
              </a:rPr>
              <a:t>Social Media Platform Comparison</a:t>
            </a:r>
            <a:endParaRPr lang="en-US" dirty="0">
              <a:ea typeface="SimHei" panose="02010609060101010101" pitchFamily="49" charset="-122"/>
            </a:endParaRPr>
          </a:p>
          <a:p>
            <a:pPr marL="342900" indent="-342900">
              <a:lnSpc>
                <a:spcPct val="200000"/>
              </a:lnSpc>
              <a:buFont typeface="+mj-lt"/>
              <a:buAutoNum type="arabicPeriod"/>
            </a:pPr>
            <a:r>
              <a:rPr lang="en-US" altLang="zh-CN" dirty="0"/>
              <a:t>Academic Performance</a:t>
            </a:r>
          </a:p>
          <a:p>
            <a:pPr marL="342900" indent="-342900">
              <a:lnSpc>
                <a:spcPct val="200000"/>
              </a:lnSpc>
              <a:buFont typeface="+mj-lt"/>
              <a:buAutoNum type="arabicPeriod"/>
            </a:pPr>
            <a:r>
              <a:rPr lang="en-US" altLang="zh-CN" dirty="0"/>
              <a:t>Conclusion</a:t>
            </a:r>
          </a:p>
        </p:txBody>
      </p:sp>
    </p:spTree>
    <p:extLst>
      <p:ext uri="{BB962C8B-B14F-4D97-AF65-F5344CB8AC3E}">
        <p14:creationId xmlns:p14="http://schemas.microsoft.com/office/powerpoint/2010/main" val="900167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5F75E-8588-059B-3F66-47C1558E7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9B3D0-D3FE-A9F0-D2C4-08CC512862FD}"/>
              </a:ext>
            </a:extLst>
          </p:cNvPr>
          <p:cNvSpPr>
            <a:spLocks noGrp="1"/>
          </p:cNvSpPr>
          <p:nvPr>
            <p:ph type="title"/>
          </p:nvPr>
        </p:nvSpPr>
        <p:spPr>
          <a:xfrm>
            <a:off x="766233" y="533399"/>
            <a:ext cx="10668000" cy="447330"/>
          </a:xfrm>
        </p:spPr>
        <p:txBody>
          <a:bodyPr wrap="square" anchor="ctr">
            <a:normAutofit/>
          </a:bodyPr>
          <a:lstStyle/>
          <a:p>
            <a:pPr>
              <a:lnSpc>
                <a:spcPct val="90000"/>
              </a:lnSpc>
            </a:pPr>
            <a:r>
              <a:rPr lang="es-MX" err="1"/>
              <a:t>Correlation</a:t>
            </a:r>
            <a:r>
              <a:rPr lang="es-MX"/>
              <a:t> </a:t>
            </a:r>
            <a:r>
              <a:rPr lang="es-MX" err="1"/>
              <a:t>Analysis</a:t>
            </a:r>
            <a:endParaRPr lang="en-CN" kern="1200"/>
          </a:p>
        </p:txBody>
      </p:sp>
      <p:sp>
        <p:nvSpPr>
          <p:cNvPr id="11" name="Slide Number Placeholder 3">
            <a:extLst>
              <a:ext uri="{FF2B5EF4-FFF2-40B4-BE49-F238E27FC236}">
                <a16:creationId xmlns:a16="http://schemas.microsoft.com/office/drawing/2014/main" id="{76A86881-67F8-029A-6158-5EEBFB7334A0}"/>
              </a:ext>
            </a:extLst>
          </p:cNvPr>
          <p:cNvSpPr>
            <a:spLocks noGrp="1"/>
          </p:cNvSpPr>
          <p:nvPr>
            <p:ph type="sldNum" sz="quarter" idx="11"/>
          </p:nvPr>
        </p:nvSpPr>
        <p:spPr>
          <a:xfrm>
            <a:off x="8737600" y="6400800"/>
            <a:ext cx="2641600" cy="268288"/>
          </a:xfrm>
        </p:spPr>
        <p:txBody>
          <a:bodyPr/>
          <a:lstStyle/>
          <a:p>
            <a:pPr>
              <a:spcAft>
                <a:spcPts val="600"/>
              </a:spcAft>
            </a:pPr>
            <a:fld id="{2DA035EE-A575-442D-B43B-59075C422C34}" type="slidenum">
              <a:rPr lang="zh-CN" altLang="en-US" smtClean="0"/>
              <a:pPr>
                <a:spcAft>
                  <a:spcPts val="600"/>
                </a:spcAft>
              </a:pPr>
              <a:t>5</a:t>
            </a:fld>
            <a:endParaRPr lang="zh-CN" altLang="en-US"/>
          </a:p>
        </p:txBody>
      </p:sp>
      <p:pic>
        <p:nvPicPr>
          <p:cNvPr id="7" name="Content Placeholder 6">
            <a:extLst>
              <a:ext uri="{FF2B5EF4-FFF2-40B4-BE49-F238E27FC236}">
                <a16:creationId xmlns:a16="http://schemas.microsoft.com/office/drawing/2014/main" id="{1FDDA3DC-8EF8-BDA6-5A9D-E5BAD1B2CD30}"/>
              </a:ext>
            </a:extLst>
          </p:cNvPr>
          <p:cNvPicPr>
            <a:picLocks noGrp="1" noChangeAspect="1"/>
          </p:cNvPicPr>
          <p:nvPr>
            <p:ph idx="13"/>
          </p:nvPr>
        </p:nvPicPr>
        <p:blipFill rotWithShape="1">
          <a:blip r:embed="rId4"/>
          <a:srcRect l="7267"/>
          <a:stretch>
            <a:fillRect/>
          </a:stretch>
        </p:blipFill>
        <p:spPr bwMode="auto">
          <a:xfrm>
            <a:off x="766233" y="1210790"/>
            <a:ext cx="5887141" cy="491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C0893768-0C85-138A-AF88-826F300942B9}"/>
              </a:ext>
            </a:extLst>
          </p:cNvPr>
          <p:cNvSpPr txBox="1"/>
          <p:nvPr/>
        </p:nvSpPr>
        <p:spPr>
          <a:xfrm>
            <a:off x="6653374" y="1782395"/>
            <a:ext cx="5037180" cy="3370666"/>
          </a:xfrm>
          <a:prstGeom prst="rect">
            <a:avLst/>
          </a:prstGeom>
          <a:noFill/>
        </p:spPr>
        <p:txBody>
          <a:bodyPr wrap="square" rtlCol="0">
            <a:spAutoFit/>
          </a:bodyPr>
          <a:lstStyle/>
          <a:p>
            <a:pPr>
              <a:lnSpc>
                <a:spcPct val="150000"/>
              </a:lnSpc>
            </a:pPr>
            <a:r>
              <a:rPr lang="en-GB" sz="1600" dirty="0"/>
              <a:t>Social media usage is strongly linked to negative outcomes</a:t>
            </a:r>
            <a:br>
              <a:rPr lang="en-GB" sz="1600" dirty="0"/>
            </a:br>
            <a:r>
              <a:rPr lang="en-GB" sz="1600" dirty="0"/>
              <a:t>Higher daily social media use is </a:t>
            </a:r>
            <a:r>
              <a:rPr lang="en-GB" sz="1600" b="1" dirty="0"/>
              <a:t>strongly correlated</a:t>
            </a:r>
            <a:r>
              <a:rPr lang="en-GB" sz="1600" dirty="0"/>
              <a:t> with:</a:t>
            </a:r>
          </a:p>
          <a:p>
            <a:pPr marL="342900" indent="-342900">
              <a:lnSpc>
                <a:spcPct val="150000"/>
              </a:lnSpc>
              <a:buFont typeface="+mj-lt"/>
              <a:buAutoNum type="arabicPeriod"/>
            </a:pPr>
            <a:r>
              <a:rPr lang="en-GB" sz="1600" b="1" dirty="0"/>
              <a:t>Less sleep</a:t>
            </a:r>
            <a:r>
              <a:rPr lang="en-GB" sz="1600" dirty="0"/>
              <a:t> (r ≈ −0.79)</a:t>
            </a:r>
          </a:p>
          <a:p>
            <a:pPr marL="342900" indent="-342900">
              <a:lnSpc>
                <a:spcPct val="150000"/>
              </a:lnSpc>
              <a:buFont typeface="+mj-lt"/>
              <a:buAutoNum type="arabicPeriod"/>
            </a:pPr>
            <a:r>
              <a:rPr lang="en-GB" sz="1600" b="1" dirty="0"/>
              <a:t>Lower mental health scores</a:t>
            </a:r>
            <a:r>
              <a:rPr lang="en-GB" sz="1600" dirty="0"/>
              <a:t> (r ≈ −0.80)</a:t>
            </a:r>
          </a:p>
          <a:p>
            <a:pPr marL="342900" indent="-342900">
              <a:lnSpc>
                <a:spcPct val="150000"/>
              </a:lnSpc>
              <a:buFont typeface="+mj-lt"/>
              <a:buAutoNum type="arabicPeriod"/>
            </a:pPr>
            <a:r>
              <a:rPr lang="en-GB" sz="1600" b="1" dirty="0"/>
              <a:t>Higher addiction scores</a:t>
            </a:r>
            <a:r>
              <a:rPr lang="en-GB" sz="1600" dirty="0"/>
              <a:t> (r ≈ 0.83)</a:t>
            </a:r>
          </a:p>
          <a:p>
            <a:pPr marL="342900" indent="-342900">
              <a:lnSpc>
                <a:spcPct val="150000"/>
              </a:lnSpc>
              <a:buFont typeface="+mj-lt"/>
              <a:buAutoNum type="arabicPeriod"/>
            </a:pPr>
            <a:r>
              <a:rPr lang="en-GB" sz="1600" b="1" dirty="0"/>
              <a:t>More conflicts related to social media </a:t>
            </a:r>
            <a:r>
              <a:rPr lang="en-GB" sz="1600" dirty="0"/>
              <a:t>(r ≈0.80)</a:t>
            </a:r>
          </a:p>
          <a:p>
            <a:pPr>
              <a:lnSpc>
                <a:spcPct val="150000"/>
              </a:lnSpc>
            </a:pPr>
            <a:endParaRPr lang="en-GB" sz="1600" dirty="0"/>
          </a:p>
        </p:txBody>
      </p:sp>
    </p:spTree>
    <p:extLst>
      <p:ext uri="{BB962C8B-B14F-4D97-AF65-F5344CB8AC3E}">
        <p14:creationId xmlns:p14="http://schemas.microsoft.com/office/powerpoint/2010/main" val="167929722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3F32-9088-AE4A-AFA1-FE72BC370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DC18A-B281-BB53-F7C7-A0C5D85A685B}"/>
              </a:ext>
            </a:extLst>
          </p:cNvPr>
          <p:cNvSpPr>
            <a:spLocks noGrp="1"/>
          </p:cNvSpPr>
          <p:nvPr>
            <p:ph type="title"/>
          </p:nvPr>
        </p:nvSpPr>
        <p:spPr>
          <a:xfrm>
            <a:off x="766233" y="533399"/>
            <a:ext cx="10668000" cy="447330"/>
          </a:xfrm>
        </p:spPr>
        <p:txBody>
          <a:bodyPr wrap="square" anchor="ctr">
            <a:normAutofit/>
          </a:bodyPr>
          <a:lstStyle/>
          <a:p>
            <a:pPr>
              <a:lnSpc>
                <a:spcPct val="90000"/>
              </a:lnSpc>
            </a:pPr>
            <a:r>
              <a:rPr lang="es-MX" kern="1200" dirty="0" err="1"/>
              <a:t>Study</a:t>
            </a:r>
            <a:endParaRPr lang="en-CN" kern="1200" dirty="0"/>
          </a:p>
        </p:txBody>
      </p:sp>
      <p:sp>
        <p:nvSpPr>
          <p:cNvPr id="11" name="Slide Number Placeholder 3">
            <a:extLst>
              <a:ext uri="{FF2B5EF4-FFF2-40B4-BE49-F238E27FC236}">
                <a16:creationId xmlns:a16="http://schemas.microsoft.com/office/drawing/2014/main" id="{E806CD2A-FCF0-9381-9EAA-91DD0191A275}"/>
              </a:ext>
            </a:extLst>
          </p:cNvPr>
          <p:cNvSpPr>
            <a:spLocks noGrp="1"/>
          </p:cNvSpPr>
          <p:nvPr>
            <p:ph type="sldNum" sz="quarter" idx="11"/>
          </p:nvPr>
        </p:nvSpPr>
        <p:spPr>
          <a:xfrm>
            <a:off x="8737600" y="6400800"/>
            <a:ext cx="2641600" cy="268288"/>
          </a:xfrm>
        </p:spPr>
        <p:txBody>
          <a:bodyPr/>
          <a:lstStyle/>
          <a:p>
            <a:pPr>
              <a:spcAft>
                <a:spcPts val="600"/>
              </a:spcAft>
            </a:pPr>
            <a:fld id="{2DA035EE-A575-442D-B43B-59075C422C34}" type="slidenum">
              <a:rPr lang="zh-CN" altLang="en-US" smtClean="0"/>
              <a:pPr>
                <a:spcAft>
                  <a:spcPts val="600"/>
                </a:spcAft>
              </a:pPr>
              <a:t>6</a:t>
            </a:fld>
            <a:endParaRPr lang="zh-CN" altLang="en-US"/>
          </a:p>
        </p:txBody>
      </p:sp>
      <p:sp>
        <p:nvSpPr>
          <p:cNvPr id="3" name="Content Placeholder 2">
            <a:extLst>
              <a:ext uri="{FF2B5EF4-FFF2-40B4-BE49-F238E27FC236}">
                <a16:creationId xmlns:a16="http://schemas.microsoft.com/office/drawing/2014/main" id="{8EFCB28E-9AC1-AC2C-9DB0-B69CD9B70536}"/>
              </a:ext>
            </a:extLst>
          </p:cNvPr>
          <p:cNvSpPr>
            <a:spLocks noGrp="1"/>
          </p:cNvSpPr>
          <p:nvPr>
            <p:ph idx="13"/>
          </p:nvPr>
        </p:nvSpPr>
        <p:spPr/>
        <p:txBody>
          <a:bodyPr/>
          <a:lstStyle/>
          <a:p>
            <a:endParaRPr lang="en-GB"/>
          </a:p>
        </p:txBody>
      </p:sp>
      <p:pic>
        <p:nvPicPr>
          <p:cNvPr id="7" name="Picture 6" descr="A diagram of a diagram&#10;&#10;AI-generated content may be incorrect.">
            <a:extLst>
              <a:ext uri="{FF2B5EF4-FFF2-40B4-BE49-F238E27FC236}">
                <a16:creationId xmlns:a16="http://schemas.microsoft.com/office/drawing/2014/main" id="{88FE3C43-359D-4E2F-0077-CB11FC53D861}"/>
              </a:ext>
            </a:extLst>
          </p:cNvPr>
          <p:cNvPicPr>
            <a:picLocks noChangeAspect="1"/>
          </p:cNvPicPr>
          <p:nvPr/>
        </p:nvPicPr>
        <p:blipFill>
          <a:blip r:embed="rId3"/>
          <a:stretch>
            <a:fillRect/>
          </a:stretch>
        </p:blipFill>
        <p:spPr>
          <a:xfrm>
            <a:off x="1332835" y="2203774"/>
            <a:ext cx="9526329" cy="3543795"/>
          </a:xfrm>
          <a:prstGeom prst="rect">
            <a:avLst/>
          </a:prstGeom>
        </p:spPr>
      </p:pic>
      <p:sp>
        <p:nvSpPr>
          <p:cNvPr id="10" name="TextBox 9">
            <a:extLst>
              <a:ext uri="{FF2B5EF4-FFF2-40B4-BE49-F238E27FC236}">
                <a16:creationId xmlns:a16="http://schemas.microsoft.com/office/drawing/2014/main" id="{673170AE-3D14-B278-1483-1EE620053FBD}"/>
              </a:ext>
            </a:extLst>
          </p:cNvPr>
          <p:cNvSpPr txBox="1"/>
          <p:nvPr/>
        </p:nvSpPr>
        <p:spPr>
          <a:xfrm>
            <a:off x="1332835" y="1057530"/>
            <a:ext cx="9526329" cy="1200329"/>
          </a:xfrm>
          <a:prstGeom prst="rect">
            <a:avLst/>
          </a:prstGeom>
          <a:noFill/>
        </p:spPr>
        <p:txBody>
          <a:bodyPr wrap="square" rtlCol="0">
            <a:spAutoFit/>
          </a:bodyPr>
          <a:lstStyle/>
          <a:p>
            <a:pPr algn="ctr"/>
            <a:r>
              <a:rPr lang="en-GB" b="1" dirty="0"/>
              <a:t>Research Question</a:t>
            </a:r>
          </a:p>
          <a:p>
            <a:pPr algn="ctr"/>
            <a:r>
              <a:rPr lang="en-GB" i="1" dirty="0"/>
              <a:t>What are the key drivers of social media addiction among students, environmental</a:t>
            </a:r>
          </a:p>
          <a:p>
            <a:pPr algn="ctr"/>
            <a:r>
              <a:rPr lang="en-GB" i="1" dirty="0"/>
              <a:t>context or platform choice, and how does this addiction translate into academic impact?</a:t>
            </a:r>
          </a:p>
          <a:p>
            <a:endParaRPr lang="en-GB" dirty="0"/>
          </a:p>
        </p:txBody>
      </p:sp>
    </p:spTree>
    <p:extLst>
      <p:ext uri="{BB962C8B-B14F-4D97-AF65-F5344CB8AC3E}">
        <p14:creationId xmlns:p14="http://schemas.microsoft.com/office/powerpoint/2010/main" val="273757744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571BF-F8CE-C128-3ADF-1C06D4B166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2EC3F4-673D-EF6B-63E3-A079F7662B7E}"/>
              </a:ext>
            </a:extLst>
          </p:cNvPr>
          <p:cNvSpPr/>
          <p:nvPr/>
        </p:nvSpPr>
        <p:spPr>
          <a:xfrm>
            <a:off x="4544964" y="2689884"/>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78E46B0D-F318-BA30-5E12-FCC97D5FFF44}"/>
              </a:ext>
            </a:extLst>
          </p:cNvPr>
          <p:cNvSpPr txBox="1"/>
          <p:nvPr/>
        </p:nvSpPr>
        <p:spPr>
          <a:xfrm>
            <a:off x="4544964" y="1486801"/>
            <a:ext cx="5828067" cy="3330399"/>
          </a:xfrm>
          <a:prstGeom prst="rect">
            <a:avLst/>
          </a:prstGeom>
          <a:noFill/>
          <a:ln>
            <a:solidFill>
              <a:schemeClr val="bg1"/>
            </a:solidFill>
          </a:ln>
        </p:spPr>
        <p:txBody>
          <a:bodyPr wrap="square" rtlCol="0">
            <a:spAutoFit/>
          </a:bodyPr>
          <a:lstStyle/>
          <a:p>
            <a:pPr marL="342900" indent="-342900">
              <a:lnSpc>
                <a:spcPct val="200000"/>
              </a:lnSpc>
              <a:buFont typeface="+mj-lt"/>
              <a:buAutoNum type="arabicPeriod"/>
            </a:pPr>
            <a:r>
              <a:rPr lang="en-US" dirty="0">
                <a:ea typeface="SimHei" panose="02010609060101010101" pitchFamily="49" charset="-122"/>
              </a:rPr>
              <a:t>Introduction</a:t>
            </a:r>
          </a:p>
          <a:p>
            <a:pPr marL="342900" indent="-342900">
              <a:lnSpc>
                <a:spcPct val="200000"/>
              </a:lnSpc>
              <a:buFont typeface="+mj-lt"/>
              <a:buAutoNum type="arabicPeriod"/>
            </a:pPr>
            <a:r>
              <a:rPr lang="en-US" dirty="0">
                <a:ea typeface="SimHei" panose="02010609060101010101" pitchFamily="49" charset="-122"/>
              </a:rPr>
              <a:t>Correlation analysis </a:t>
            </a:r>
          </a:p>
          <a:p>
            <a:pPr marL="342900" indent="-342900">
              <a:lnSpc>
                <a:spcPct val="200000"/>
              </a:lnSpc>
              <a:buFont typeface="+mj-lt"/>
              <a:buAutoNum type="arabicPeriod"/>
            </a:pPr>
            <a:r>
              <a:rPr lang="en-GB" altLang="en-US" dirty="0">
                <a:solidFill>
                  <a:schemeClr val="bg1"/>
                </a:solidFill>
              </a:rPr>
              <a:t>Sunshine's Impact on Addiction</a:t>
            </a:r>
          </a:p>
          <a:p>
            <a:pPr marL="342900" indent="-342900">
              <a:lnSpc>
                <a:spcPct val="200000"/>
              </a:lnSpc>
              <a:buFont typeface="+mj-lt"/>
              <a:buAutoNum type="arabicPeriod"/>
            </a:pPr>
            <a:r>
              <a:rPr lang="en-GB" dirty="0">
                <a:ea typeface="SimHei" panose="02010609060101010101" pitchFamily="49" charset="-122"/>
              </a:rPr>
              <a:t>Social Media Platform Comparison</a:t>
            </a:r>
            <a:endParaRPr lang="en-US" dirty="0">
              <a:ea typeface="SimHei" panose="02010609060101010101" pitchFamily="49" charset="-122"/>
            </a:endParaRPr>
          </a:p>
          <a:p>
            <a:pPr marL="342900" indent="-342900">
              <a:lnSpc>
                <a:spcPct val="200000"/>
              </a:lnSpc>
              <a:buFont typeface="+mj-lt"/>
              <a:buAutoNum type="arabicPeriod"/>
            </a:pPr>
            <a:r>
              <a:rPr lang="en-US" altLang="zh-CN" dirty="0"/>
              <a:t>Academic Performance</a:t>
            </a:r>
          </a:p>
          <a:p>
            <a:pPr marL="342900" indent="-342900">
              <a:lnSpc>
                <a:spcPct val="200000"/>
              </a:lnSpc>
              <a:buFont typeface="+mj-lt"/>
              <a:buAutoNum type="arabicPeriod"/>
            </a:pPr>
            <a:r>
              <a:rPr lang="en-US" altLang="zh-CN" dirty="0"/>
              <a:t>Conclusion</a:t>
            </a:r>
          </a:p>
        </p:txBody>
      </p:sp>
    </p:spTree>
    <p:extLst>
      <p:ext uri="{BB962C8B-B14F-4D97-AF65-F5344CB8AC3E}">
        <p14:creationId xmlns:p14="http://schemas.microsoft.com/office/powerpoint/2010/main" val="170593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7FD3-E453-54EB-B0E2-7FB1A3A2E48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B26DA70-091C-7D90-88F6-1C429E763048}"/>
              </a:ext>
            </a:extLst>
          </p:cNvPr>
          <p:cNvSpPr txBox="1">
            <a:spLocks/>
          </p:cNvSpPr>
          <p:nvPr/>
        </p:nvSpPr>
        <p:spPr bwMode="auto">
          <a:xfrm>
            <a:off x="766233" y="533399"/>
            <a:ext cx="10668000" cy="44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zh-CN" altLang="en-US" sz="2400" b="1" kern="0" dirty="0">
                <a:solidFill>
                  <a:srgbClr val="743481"/>
                </a:solidFill>
                <a:latin typeface="Arial" panose="020B0604020202020204" pitchFamily="34" charset="0"/>
                <a:ea typeface="SimHei" panose="02010609060101010101" pitchFamily="49" charset="-122"/>
                <a:cs typeface="Arial" panose="020B0604020202020204" pitchFamily="34" charset="0"/>
              </a:defRPr>
            </a:lvl1pPr>
            <a:lvl2pPr algn="l" rtl="0" eaLnBrk="1" fontAlgn="base" hangingPunct="1">
              <a:spcBef>
                <a:spcPct val="0"/>
              </a:spcBef>
              <a:spcAft>
                <a:spcPct val="0"/>
              </a:spcAft>
              <a:defRPr sz="3200">
                <a:solidFill>
                  <a:schemeClr val="tx2"/>
                </a:solidFill>
                <a:latin typeface="Arial" charset="0"/>
                <a:ea typeface="黑体" pitchFamily="49" charset="-122"/>
              </a:defRPr>
            </a:lvl2pPr>
            <a:lvl3pPr algn="l" rtl="0" eaLnBrk="1" fontAlgn="base" hangingPunct="1">
              <a:spcBef>
                <a:spcPct val="0"/>
              </a:spcBef>
              <a:spcAft>
                <a:spcPct val="0"/>
              </a:spcAft>
              <a:defRPr sz="3200">
                <a:solidFill>
                  <a:schemeClr val="tx2"/>
                </a:solidFill>
                <a:latin typeface="Arial" charset="0"/>
                <a:ea typeface="黑体" pitchFamily="49" charset="-122"/>
              </a:defRPr>
            </a:lvl3pPr>
            <a:lvl4pPr algn="l" rtl="0" eaLnBrk="1" fontAlgn="base" hangingPunct="1">
              <a:spcBef>
                <a:spcPct val="0"/>
              </a:spcBef>
              <a:spcAft>
                <a:spcPct val="0"/>
              </a:spcAft>
              <a:defRPr sz="3200">
                <a:solidFill>
                  <a:schemeClr val="tx2"/>
                </a:solidFill>
                <a:latin typeface="Arial" charset="0"/>
                <a:ea typeface="黑体" pitchFamily="49" charset="-122"/>
              </a:defRPr>
            </a:lvl4pPr>
            <a:lvl5pPr algn="l" rtl="0" eaLnBrk="1" fontAlgn="base" hangingPunct="1">
              <a:spcBef>
                <a:spcPct val="0"/>
              </a:spcBef>
              <a:spcAft>
                <a:spcPct val="0"/>
              </a:spcAft>
              <a:defRPr sz="3200">
                <a:solidFill>
                  <a:schemeClr val="tx2"/>
                </a:solidFill>
                <a:latin typeface="Arial" charset="0"/>
                <a:ea typeface="黑体" pitchFamily="49" charset="-122"/>
              </a:defRPr>
            </a:lvl5pPr>
            <a:lvl6pPr marL="457189" algn="l" rtl="0" eaLnBrk="1" fontAlgn="base" hangingPunct="1">
              <a:spcBef>
                <a:spcPct val="0"/>
              </a:spcBef>
              <a:spcAft>
                <a:spcPct val="0"/>
              </a:spcAft>
              <a:defRPr sz="3800">
                <a:solidFill>
                  <a:schemeClr val="tx2"/>
                </a:solidFill>
                <a:latin typeface="Arial" charset="0"/>
                <a:ea typeface="宋体" pitchFamily="2" charset="-122"/>
              </a:defRPr>
            </a:lvl6pPr>
            <a:lvl7pPr marL="914377" algn="l" rtl="0" eaLnBrk="1" fontAlgn="base" hangingPunct="1">
              <a:spcBef>
                <a:spcPct val="0"/>
              </a:spcBef>
              <a:spcAft>
                <a:spcPct val="0"/>
              </a:spcAft>
              <a:defRPr sz="3800">
                <a:solidFill>
                  <a:schemeClr val="tx2"/>
                </a:solidFill>
                <a:latin typeface="Arial" charset="0"/>
                <a:ea typeface="宋体" pitchFamily="2" charset="-122"/>
              </a:defRPr>
            </a:lvl7pPr>
            <a:lvl8pPr marL="1371566" algn="l" rtl="0" eaLnBrk="1" fontAlgn="base" hangingPunct="1">
              <a:spcBef>
                <a:spcPct val="0"/>
              </a:spcBef>
              <a:spcAft>
                <a:spcPct val="0"/>
              </a:spcAft>
              <a:defRPr sz="3800">
                <a:solidFill>
                  <a:schemeClr val="tx2"/>
                </a:solidFill>
                <a:latin typeface="Arial" charset="0"/>
                <a:ea typeface="宋体" pitchFamily="2" charset="-122"/>
              </a:defRPr>
            </a:lvl8pPr>
            <a:lvl9pPr marL="1828754" algn="l" rtl="0" eaLnBrk="1" fontAlgn="base" hangingPunct="1">
              <a:spcBef>
                <a:spcPct val="0"/>
              </a:spcBef>
              <a:spcAft>
                <a:spcPct val="0"/>
              </a:spcAft>
              <a:defRPr sz="3800">
                <a:solidFill>
                  <a:schemeClr val="tx2"/>
                </a:solidFill>
                <a:latin typeface="Arial" charset="0"/>
                <a:ea typeface="宋体" pitchFamily="2" charset="-122"/>
              </a:defRPr>
            </a:lvl9pPr>
          </a:lstStyle>
          <a:p>
            <a:pPr>
              <a:lnSpc>
                <a:spcPct val="90000"/>
              </a:lnSpc>
            </a:pPr>
            <a:r>
              <a:rPr lang="en-GB" altLang="en-US" dirty="0"/>
              <a:t>Hypothesis Testing: Investigating Sunshine's Impact on Addiction</a:t>
            </a:r>
            <a:endParaRPr lang="en-CN" kern="1200" dirty="0"/>
          </a:p>
        </p:txBody>
      </p:sp>
      <p:pic>
        <p:nvPicPr>
          <p:cNvPr id="8" name="Content Placeholder 7" descr="A map of the world&#10;&#10;AI-generated content may be incorrect.">
            <a:extLst>
              <a:ext uri="{FF2B5EF4-FFF2-40B4-BE49-F238E27FC236}">
                <a16:creationId xmlns:a16="http://schemas.microsoft.com/office/drawing/2014/main" id="{0A225D28-4C90-1A93-F8A2-201DB2641FC2}"/>
              </a:ext>
            </a:extLst>
          </p:cNvPr>
          <p:cNvPicPr>
            <a:picLocks noGrp="1" noChangeAspect="1"/>
          </p:cNvPicPr>
          <p:nvPr>
            <p:ph idx="12"/>
          </p:nvPr>
        </p:nvPicPr>
        <p:blipFill rotWithShape="1">
          <a:blip r:embed="rId2">
            <a:extLst>
              <a:ext uri="{28A0092B-C50C-407E-A947-70E740481C1C}">
                <a14:useLocalDpi xmlns:a14="http://schemas.microsoft.com/office/drawing/2010/main" val="0"/>
              </a:ext>
            </a:extLst>
          </a:blip>
          <a:srcRect l="22191" t="16620" r="5938" b="16159"/>
          <a:stretch>
            <a:fillRect/>
          </a:stretch>
        </p:blipFill>
        <p:spPr>
          <a:xfrm>
            <a:off x="6292645" y="2503385"/>
            <a:ext cx="5377598" cy="2241000"/>
          </a:xfrm>
        </p:spPr>
      </p:pic>
      <p:pic>
        <p:nvPicPr>
          <p:cNvPr id="6" name="Content Placeholder 5" descr="A map of the world&#10;&#10;AI-generated content may be incorrect.">
            <a:extLst>
              <a:ext uri="{FF2B5EF4-FFF2-40B4-BE49-F238E27FC236}">
                <a16:creationId xmlns:a16="http://schemas.microsoft.com/office/drawing/2014/main" id="{854BD565-0A92-4A79-3405-AA9A8E53FEA6}"/>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766233" y="1747445"/>
            <a:ext cx="5526411" cy="3516807"/>
          </a:xfrm>
        </p:spPr>
      </p:pic>
      <p:sp>
        <p:nvSpPr>
          <p:cNvPr id="9" name="TextBox 8">
            <a:extLst>
              <a:ext uri="{FF2B5EF4-FFF2-40B4-BE49-F238E27FC236}">
                <a16:creationId xmlns:a16="http://schemas.microsoft.com/office/drawing/2014/main" id="{5F52DDF4-B5FF-ABA4-62D1-98B9A5707A06}"/>
              </a:ext>
            </a:extLst>
          </p:cNvPr>
          <p:cNvSpPr txBox="1"/>
          <p:nvPr/>
        </p:nvSpPr>
        <p:spPr>
          <a:xfrm>
            <a:off x="1483199" y="1337187"/>
            <a:ext cx="9225602" cy="646331"/>
          </a:xfrm>
          <a:prstGeom prst="rect">
            <a:avLst/>
          </a:prstGeom>
          <a:noFill/>
        </p:spPr>
        <p:txBody>
          <a:bodyPr wrap="none" rtlCol="0">
            <a:spAutoFit/>
          </a:bodyPr>
          <a:lstStyle/>
          <a:p>
            <a:r>
              <a:rPr lang="en-GB" b="1" i="1" dirty="0"/>
              <a:t>Do students living in countries with higher average sunlight hours show lower</a:t>
            </a:r>
          </a:p>
          <a:p>
            <a:pPr algn="ctr"/>
            <a:r>
              <a:rPr lang="en-GB" b="1" i="1" dirty="0"/>
              <a:t>social media addiction scores than students living in countries with less sunlight?</a:t>
            </a:r>
          </a:p>
        </p:txBody>
      </p:sp>
      <p:sp>
        <p:nvSpPr>
          <p:cNvPr id="10" name="Content Placeholder 3">
            <a:extLst>
              <a:ext uri="{FF2B5EF4-FFF2-40B4-BE49-F238E27FC236}">
                <a16:creationId xmlns:a16="http://schemas.microsoft.com/office/drawing/2014/main" id="{1547D5F8-7B49-05BF-D371-6E9C01F00EA7}"/>
              </a:ext>
            </a:extLst>
          </p:cNvPr>
          <p:cNvSpPr txBox="1">
            <a:spLocks/>
          </p:cNvSpPr>
          <p:nvPr/>
        </p:nvSpPr>
        <p:spPr bwMode="auto">
          <a:xfrm>
            <a:off x="812802" y="6053999"/>
            <a:ext cx="10566401" cy="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r" rtl="0" eaLnBrk="1" fontAlgn="base" hangingPunct="1">
              <a:spcBef>
                <a:spcPct val="20000"/>
              </a:spcBef>
              <a:spcAft>
                <a:spcPct val="0"/>
              </a:spcAft>
              <a:buClr>
                <a:srgbClr val="743481"/>
              </a:buClr>
              <a:buFont typeface="Wingdings" pitchFamily="2" charset="2"/>
              <a:buNone/>
              <a:tabLst/>
              <a:defRPr sz="1200" baseline="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sz="1800" baseline="0">
                <a:solidFill>
                  <a:schemeClr val="tx1"/>
                </a:solidFill>
                <a:latin typeface="Arial" pitchFamily="34" charset="0"/>
                <a:ea typeface="黑体" pitchFamily="2" charset="-122"/>
              </a:defRPr>
            </a:lvl2pPr>
            <a:lvl3pPr marL="809605" indent="-230182" algn="l" rtl="0" eaLnBrk="1" fontAlgn="base" hangingPunct="1">
              <a:spcBef>
                <a:spcPct val="20000"/>
              </a:spcBef>
              <a:spcAft>
                <a:spcPct val="0"/>
              </a:spcAft>
              <a:buClr>
                <a:srgbClr val="743481"/>
              </a:buClr>
              <a:buFont typeface="Wingdings" pitchFamily="2" charset="2"/>
              <a:buChar char="§"/>
              <a:tabLst/>
              <a:defRPr sz="1800" baseline="0">
                <a:solidFill>
                  <a:schemeClr val="tx1"/>
                </a:solidFill>
                <a:latin typeface="Arial" pitchFamily="34" charset="0"/>
                <a:ea typeface="黑体" pitchFamily="2" charset="-122"/>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r>
              <a:rPr lang="es-MX" kern="0" err="1"/>
              <a:t>Sunshine</a:t>
            </a:r>
            <a:r>
              <a:rPr lang="es-MX" kern="0"/>
              <a:t> Data </a:t>
            </a:r>
            <a:r>
              <a:rPr lang="es-MX" kern="0" err="1"/>
              <a:t>Source</a:t>
            </a:r>
            <a:r>
              <a:rPr lang="es-MX" kern="0"/>
              <a:t>: </a:t>
            </a:r>
            <a:r>
              <a:rPr lang="en-GB" kern="0"/>
              <a:t>World Bank Group. </a:t>
            </a:r>
            <a:r>
              <a:rPr lang="en-GB" i="1" kern="0"/>
              <a:t>Climate Change Knowledge Portal. </a:t>
            </a:r>
            <a:r>
              <a:rPr lang="en-GB" kern="0">
                <a:hlinkClick r:id="rId4"/>
              </a:rPr>
              <a:t>https://climateknowledgeportal.worldbank.org</a:t>
            </a:r>
            <a:endParaRPr lang="en-GB" kern="0"/>
          </a:p>
        </p:txBody>
      </p:sp>
    </p:spTree>
    <p:extLst>
      <p:ext uri="{BB962C8B-B14F-4D97-AF65-F5344CB8AC3E}">
        <p14:creationId xmlns:p14="http://schemas.microsoft.com/office/powerpoint/2010/main" val="3294202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50BD-D99B-0C6C-9EC2-7E4765FD26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E8C70A-E519-7399-3607-42CD62F2CAAD}"/>
              </a:ext>
            </a:extLst>
          </p:cNvPr>
          <p:cNvSpPr txBox="1"/>
          <p:nvPr/>
        </p:nvSpPr>
        <p:spPr>
          <a:xfrm>
            <a:off x="6597445" y="5850194"/>
            <a:ext cx="184731" cy="369332"/>
          </a:xfrm>
          <a:prstGeom prst="rect">
            <a:avLst/>
          </a:prstGeom>
          <a:noFill/>
        </p:spPr>
        <p:txBody>
          <a:bodyPr wrap="none" rtlCol="0">
            <a:spAutoFit/>
          </a:bodyPr>
          <a:lstStyle/>
          <a:p>
            <a:endParaRPr lang="en-GB"/>
          </a:p>
        </p:txBody>
      </p:sp>
      <p:sp>
        <p:nvSpPr>
          <p:cNvPr id="3" name="TextBox 2">
            <a:extLst>
              <a:ext uri="{FF2B5EF4-FFF2-40B4-BE49-F238E27FC236}">
                <a16:creationId xmlns:a16="http://schemas.microsoft.com/office/drawing/2014/main" id="{0A641B0C-150A-8C20-F499-5517C2BA277A}"/>
              </a:ext>
            </a:extLst>
          </p:cNvPr>
          <p:cNvSpPr txBox="1"/>
          <p:nvPr/>
        </p:nvSpPr>
        <p:spPr>
          <a:xfrm>
            <a:off x="2027948" y="4915645"/>
            <a:ext cx="8928704" cy="1200329"/>
          </a:xfrm>
          <a:prstGeom prst="rect">
            <a:avLst/>
          </a:prstGeom>
          <a:noFill/>
        </p:spPr>
        <p:txBody>
          <a:bodyPr wrap="square" rtlCol="0">
            <a:spAutoFit/>
          </a:bodyPr>
          <a:lstStyle/>
          <a:p>
            <a:r>
              <a:rPr lang="en-GB" b="1" dirty="0"/>
              <a:t>Conclusion</a:t>
            </a:r>
          </a:p>
          <a:p>
            <a:pPr marL="285750" indent="-285750">
              <a:buFont typeface="Arial" panose="020B0604020202020204" pitchFamily="34" charset="0"/>
              <a:buChar char="•"/>
            </a:pPr>
            <a:r>
              <a:rPr lang="en-GB" dirty="0"/>
              <a:t>At </a:t>
            </a:r>
            <a:r>
              <a:rPr lang="el-GR" b="1" dirty="0"/>
              <a:t>α = 0.05</a:t>
            </a:r>
            <a:r>
              <a:rPr lang="es-MX" b="1" dirty="0"/>
              <a:t> </a:t>
            </a:r>
            <a:r>
              <a:rPr lang="es-MX" dirty="0"/>
              <a:t>t</a:t>
            </a:r>
            <a:r>
              <a:rPr lang="en-GB" dirty="0"/>
              <a:t>he null hypothesis (</a:t>
            </a:r>
            <a:r>
              <a:rPr lang="en-GB" b="1" dirty="0"/>
              <a:t>H₀</a:t>
            </a:r>
            <a:r>
              <a:rPr lang="en-GB" dirty="0"/>
              <a:t>) cannot be rejected ❌</a:t>
            </a:r>
          </a:p>
          <a:p>
            <a:pPr marL="285750" indent="-285750">
              <a:buFont typeface="Arial" panose="020B0604020202020204" pitchFamily="34" charset="0"/>
              <a:buChar char="•"/>
            </a:pPr>
            <a:r>
              <a:rPr lang="en-GB" dirty="0"/>
              <a:t>There is </a:t>
            </a:r>
            <a:r>
              <a:rPr lang="en-GB" b="1" dirty="0"/>
              <a:t>no statistical evidence</a:t>
            </a:r>
            <a:r>
              <a:rPr lang="en-GB" dirty="0"/>
              <a:t> that lower sunshine exposure is associated with higher student social media addiction at the country level</a:t>
            </a:r>
          </a:p>
        </p:txBody>
      </p:sp>
      <p:pic>
        <p:nvPicPr>
          <p:cNvPr id="6" name="Graphic 5" descr="Arrow: Slight curve with solid fill">
            <a:extLst>
              <a:ext uri="{FF2B5EF4-FFF2-40B4-BE49-F238E27FC236}">
                <a16:creationId xmlns:a16="http://schemas.microsoft.com/office/drawing/2014/main" id="{B97919F7-8A24-962F-7775-78CA02506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548" y="4837063"/>
            <a:ext cx="914400" cy="914400"/>
          </a:xfrm>
          <a:prstGeom prst="rect">
            <a:avLst/>
          </a:prstGeom>
        </p:spPr>
      </p:pic>
      <p:sp>
        <p:nvSpPr>
          <p:cNvPr id="8" name="Content Placeholder 7">
            <a:extLst>
              <a:ext uri="{FF2B5EF4-FFF2-40B4-BE49-F238E27FC236}">
                <a16:creationId xmlns:a16="http://schemas.microsoft.com/office/drawing/2014/main" id="{653D647A-753D-2FEC-7305-AFEB79C0D667}"/>
              </a:ext>
            </a:extLst>
          </p:cNvPr>
          <p:cNvSpPr>
            <a:spLocks noGrp="1"/>
          </p:cNvSpPr>
          <p:nvPr>
            <p:ph idx="12"/>
          </p:nvPr>
        </p:nvSpPr>
        <p:spPr>
          <a:xfrm>
            <a:off x="812799" y="6681191"/>
            <a:ext cx="10566401" cy="270000"/>
          </a:xfrm>
        </p:spPr>
        <p:txBody>
          <a:bodyPr/>
          <a:lstStyle/>
          <a:p>
            <a:endParaRPr lang="en-GB" dirty="0"/>
          </a:p>
        </p:txBody>
      </p:sp>
      <p:graphicFrame>
        <p:nvGraphicFramePr>
          <p:cNvPr id="9" name="Table 21">
            <a:extLst>
              <a:ext uri="{FF2B5EF4-FFF2-40B4-BE49-F238E27FC236}">
                <a16:creationId xmlns:a16="http://schemas.microsoft.com/office/drawing/2014/main" id="{BA44C4D4-F4E0-5009-6D93-144CBD30E11E}"/>
              </a:ext>
            </a:extLst>
          </p:cNvPr>
          <p:cNvGraphicFramePr>
            <a:graphicFrameLocks/>
          </p:cNvGraphicFramePr>
          <p:nvPr>
            <p:extLst>
              <p:ext uri="{D42A27DB-BD31-4B8C-83A1-F6EECF244321}">
                <p14:modId xmlns:p14="http://schemas.microsoft.com/office/powerpoint/2010/main" val="751407810"/>
              </p:ext>
            </p:extLst>
          </p:nvPr>
        </p:nvGraphicFramePr>
        <p:xfrm>
          <a:off x="889855" y="1186754"/>
          <a:ext cx="10066797" cy="3505092"/>
        </p:xfrm>
        <a:graphic>
          <a:graphicData uri="http://schemas.openxmlformats.org/drawingml/2006/table">
            <a:tbl>
              <a:tblPr firstRow="1" bandRow="1">
                <a:tableStyleId>{0E3FDE45-AF77-4B5C-9715-49D594BDF05E}</a:tableStyleId>
              </a:tblPr>
              <a:tblGrid>
                <a:gridCol w="1882842">
                  <a:extLst>
                    <a:ext uri="{9D8B030D-6E8A-4147-A177-3AD203B41FA5}">
                      <a16:colId xmlns:a16="http://schemas.microsoft.com/office/drawing/2014/main" val="3191885079"/>
                    </a:ext>
                  </a:extLst>
                </a:gridCol>
                <a:gridCol w="3522373">
                  <a:extLst>
                    <a:ext uri="{9D8B030D-6E8A-4147-A177-3AD203B41FA5}">
                      <a16:colId xmlns:a16="http://schemas.microsoft.com/office/drawing/2014/main" val="3855024335"/>
                    </a:ext>
                  </a:extLst>
                </a:gridCol>
                <a:gridCol w="4661582">
                  <a:extLst>
                    <a:ext uri="{9D8B030D-6E8A-4147-A177-3AD203B41FA5}">
                      <a16:colId xmlns:a16="http://schemas.microsoft.com/office/drawing/2014/main" val="2391085989"/>
                    </a:ext>
                  </a:extLst>
                </a:gridCol>
              </a:tblGrid>
              <a:tr h="304800">
                <a:tc>
                  <a:txBody>
                    <a:bodyPr/>
                    <a:lstStyle/>
                    <a:p>
                      <a:pPr>
                        <a:buNone/>
                      </a:pPr>
                      <a:r>
                        <a:rPr lang="en-GB" sz="1400" b="1" dirty="0"/>
                        <a:t>Aspect</a:t>
                      </a:r>
                      <a:endParaRPr lang="en-GB" sz="1400" dirty="0"/>
                    </a:p>
                  </a:txBody>
                  <a:tcPr anchor="ctr"/>
                </a:tc>
                <a:tc>
                  <a:txBody>
                    <a:bodyPr/>
                    <a:lstStyle/>
                    <a:p>
                      <a:pPr>
                        <a:buNone/>
                      </a:pPr>
                      <a:r>
                        <a:rPr lang="en-GB" sz="1400" b="1"/>
                        <a:t>One-way ANOVA (Global Test)</a:t>
                      </a:r>
                      <a:endParaRPr lang="en-GB" sz="1400"/>
                    </a:p>
                  </a:txBody>
                  <a:tcPr anchor="ctr"/>
                </a:tc>
                <a:tc>
                  <a:txBody>
                    <a:bodyPr/>
                    <a:lstStyle/>
                    <a:p>
                      <a:pPr>
                        <a:buNone/>
                      </a:pPr>
                      <a:r>
                        <a:rPr lang="en-GB" sz="1400" b="1"/>
                        <a:t>Independent Samples t-test (Pairwise)</a:t>
                      </a:r>
                      <a:endParaRPr lang="en-GB" sz="1400"/>
                    </a:p>
                  </a:txBody>
                  <a:tcPr anchor="ctr"/>
                </a:tc>
                <a:extLst>
                  <a:ext uri="{0D108BD9-81ED-4DB2-BD59-A6C34878D82A}">
                    <a16:rowId xmlns:a16="http://schemas.microsoft.com/office/drawing/2014/main" val="1295391439"/>
                  </a:ext>
                </a:extLst>
              </a:tr>
              <a:tr h="304800">
                <a:tc>
                  <a:txBody>
                    <a:bodyPr/>
                    <a:lstStyle/>
                    <a:p>
                      <a:pPr>
                        <a:buNone/>
                      </a:pPr>
                      <a:r>
                        <a:rPr lang="en-GB" sz="1400" b="1"/>
                        <a:t>Comparison</a:t>
                      </a:r>
                      <a:endParaRPr lang="en-GB" sz="1400"/>
                    </a:p>
                  </a:txBody>
                  <a:tcPr anchor="ctr"/>
                </a:tc>
                <a:tc>
                  <a:txBody>
                    <a:bodyPr/>
                    <a:lstStyle/>
                    <a:p>
                      <a:pPr>
                        <a:buNone/>
                      </a:pPr>
                      <a:r>
                        <a:rPr lang="en-GB" sz="1400"/>
                        <a:t>Low-, Moderate-, and High-Sunlight countries</a:t>
                      </a:r>
                    </a:p>
                  </a:txBody>
                  <a:tcPr anchor="ctr"/>
                </a:tc>
                <a:tc>
                  <a:txBody>
                    <a:bodyPr/>
                    <a:lstStyle/>
                    <a:p>
                      <a:pPr>
                        <a:buNone/>
                      </a:pPr>
                      <a:r>
                        <a:rPr lang="en-GB" sz="1400"/>
                        <a:t>Low-Sunlight vs. High-Sunlight countries</a:t>
                      </a:r>
                    </a:p>
                  </a:txBody>
                  <a:tcPr anchor="ctr"/>
                </a:tc>
                <a:extLst>
                  <a:ext uri="{0D108BD9-81ED-4DB2-BD59-A6C34878D82A}">
                    <a16:rowId xmlns:a16="http://schemas.microsoft.com/office/drawing/2014/main" val="3313150826"/>
                  </a:ext>
                </a:extLst>
              </a:tr>
              <a:tr h="304800">
                <a:tc>
                  <a:txBody>
                    <a:bodyPr/>
                    <a:lstStyle/>
                    <a:p>
                      <a:pPr>
                        <a:buNone/>
                      </a:pPr>
                      <a:r>
                        <a:rPr lang="en-GB" sz="1400" b="1"/>
                        <a:t>H₀ (Null Hypothesis)</a:t>
                      </a:r>
                      <a:endParaRPr lang="en-GB" sz="1400"/>
                    </a:p>
                  </a:txBody>
                  <a:tcPr anchor="ctr"/>
                </a:tc>
                <a:tc>
                  <a:txBody>
                    <a:bodyPr/>
                    <a:lstStyle/>
                    <a:p>
                      <a:pPr>
                        <a:buNone/>
                      </a:pPr>
                      <a:r>
                        <a:rPr lang="en-GB" sz="1400"/>
                        <a:t>No difference in average addiction scores across sunshine-based clusters</a:t>
                      </a:r>
                    </a:p>
                  </a:txBody>
                  <a:tcPr anchor="ctr"/>
                </a:tc>
                <a:tc>
                  <a:txBody>
                    <a:bodyPr/>
                    <a:lstStyle/>
                    <a:p>
                      <a:pPr>
                        <a:buNone/>
                      </a:pPr>
                      <a:r>
                        <a:rPr lang="en-GB" sz="1400"/>
                        <a:t>No difference in average addiction scores between Low- and High-Sunlight countries</a:t>
                      </a:r>
                    </a:p>
                  </a:txBody>
                  <a:tcPr anchor="ctr"/>
                </a:tc>
                <a:extLst>
                  <a:ext uri="{0D108BD9-81ED-4DB2-BD59-A6C34878D82A}">
                    <a16:rowId xmlns:a16="http://schemas.microsoft.com/office/drawing/2014/main" val="872165197"/>
                  </a:ext>
                </a:extLst>
              </a:tr>
              <a:tr h="304800">
                <a:tc>
                  <a:txBody>
                    <a:bodyPr/>
                    <a:lstStyle/>
                    <a:p>
                      <a:pPr>
                        <a:buNone/>
                      </a:pPr>
                      <a:r>
                        <a:rPr lang="en-GB" sz="1400" b="1"/>
                        <a:t>H₁ (Alternative Hypothesis)</a:t>
                      </a:r>
                      <a:endParaRPr lang="en-GB" sz="1400"/>
                    </a:p>
                  </a:txBody>
                  <a:tcPr anchor="ctr"/>
                </a:tc>
                <a:tc>
                  <a:txBody>
                    <a:bodyPr/>
                    <a:lstStyle/>
                    <a:p>
                      <a:pPr>
                        <a:buNone/>
                      </a:pPr>
                      <a:r>
                        <a:rPr lang="en-GB" sz="1400"/>
                        <a:t>At least one sunshine-exposure group differs in average addiction scores</a:t>
                      </a:r>
                    </a:p>
                  </a:txBody>
                  <a:tcPr anchor="ctr"/>
                </a:tc>
                <a:tc>
                  <a:txBody>
                    <a:bodyPr/>
                    <a:lstStyle/>
                    <a:p>
                      <a:pPr>
                        <a:buNone/>
                      </a:pPr>
                      <a:r>
                        <a:rPr lang="en-GB" sz="1400"/>
                        <a:t>Lower sunshine exposure is associated with higher addiction scores</a:t>
                      </a:r>
                    </a:p>
                  </a:txBody>
                  <a:tcPr anchor="ctr"/>
                </a:tc>
                <a:extLst>
                  <a:ext uri="{0D108BD9-81ED-4DB2-BD59-A6C34878D82A}">
                    <a16:rowId xmlns:a16="http://schemas.microsoft.com/office/drawing/2014/main" val="192179732"/>
                  </a:ext>
                </a:extLst>
              </a:tr>
              <a:tr h="304800">
                <a:tc>
                  <a:txBody>
                    <a:bodyPr/>
                    <a:lstStyle/>
                    <a:p>
                      <a:pPr>
                        <a:buNone/>
                      </a:pPr>
                      <a:r>
                        <a:rPr lang="en-GB" sz="1400" b="1"/>
                        <a:t>Purpose</a:t>
                      </a:r>
                      <a:endParaRPr lang="en-GB" sz="1400"/>
                    </a:p>
                  </a:txBody>
                  <a:tcPr anchor="ctr"/>
                </a:tc>
                <a:tc>
                  <a:txBody>
                    <a:bodyPr/>
                    <a:lstStyle/>
                    <a:p>
                      <a:pPr>
                        <a:buNone/>
                      </a:pPr>
                      <a:r>
                        <a:rPr lang="en-GB" sz="1400"/>
                        <a:t>Test for </a:t>
                      </a:r>
                      <a:r>
                        <a:rPr lang="en-GB" sz="1400" b="1"/>
                        <a:t>overall differences</a:t>
                      </a:r>
                      <a:r>
                        <a:rPr lang="en-GB" sz="1400"/>
                        <a:t> across multiple groups</a:t>
                      </a:r>
                    </a:p>
                  </a:txBody>
                  <a:tcPr anchor="ctr"/>
                </a:tc>
                <a:tc>
                  <a:txBody>
                    <a:bodyPr/>
                    <a:lstStyle/>
                    <a:p>
                      <a:pPr>
                        <a:buNone/>
                      </a:pPr>
                      <a:r>
                        <a:rPr lang="en-GB" sz="1400"/>
                        <a:t>Test </a:t>
                      </a:r>
                      <a:r>
                        <a:rPr lang="en-GB" sz="1400" b="1"/>
                        <a:t>directional research hypothesis</a:t>
                      </a:r>
                      <a:endParaRPr lang="en-GB" sz="1400"/>
                    </a:p>
                  </a:txBody>
                  <a:tcPr anchor="ctr"/>
                </a:tc>
                <a:extLst>
                  <a:ext uri="{0D108BD9-81ED-4DB2-BD59-A6C34878D82A}">
                    <a16:rowId xmlns:a16="http://schemas.microsoft.com/office/drawing/2014/main" val="1474494394"/>
                  </a:ext>
                </a:extLst>
              </a:tr>
              <a:tr h="731520">
                <a:tc>
                  <a:txBody>
                    <a:bodyPr/>
                    <a:lstStyle/>
                    <a:p>
                      <a:pPr>
                        <a:buNone/>
                      </a:pPr>
                      <a:r>
                        <a:rPr lang="en-GB" sz="1400" b="1" dirty="0"/>
                        <a:t>Statistics</a:t>
                      </a:r>
                      <a:endParaRPr lang="en-GB" sz="1400" dirty="0"/>
                    </a:p>
                  </a:txBody>
                  <a:tcPr anchor="ctr"/>
                </a:tc>
                <a:tc>
                  <a:txBody>
                    <a:bodyPr/>
                    <a:lstStyle/>
                    <a:p>
                      <a:pPr>
                        <a:buNone/>
                      </a:pPr>
                      <a:r>
                        <a:rPr lang="en-GB" sz="1400" i="1" dirty="0"/>
                        <a:t>Test Statistic F</a:t>
                      </a:r>
                      <a:r>
                        <a:rPr lang="en-GB" sz="1400" dirty="0"/>
                        <a:t> = 1.442 </a:t>
                      </a:r>
                    </a:p>
                    <a:p>
                      <a:pPr marL="0" marR="0" lvl="0" indent="0" algn="l" defTabSz="914377" rtl="0" eaLnBrk="1" fontAlgn="auto" latinLnBrk="0" hangingPunct="1">
                        <a:lnSpc>
                          <a:spcPct val="100000"/>
                        </a:lnSpc>
                        <a:spcBef>
                          <a:spcPts val="0"/>
                        </a:spcBef>
                        <a:spcAft>
                          <a:spcPts val="0"/>
                        </a:spcAft>
                        <a:buClrTx/>
                        <a:buSzTx/>
                        <a:buFontTx/>
                        <a:buNone/>
                        <a:tabLst/>
                        <a:defRPr/>
                      </a:pPr>
                      <a:r>
                        <a:rPr lang="en-GB" sz="1400" b="0" i="1" dirty="0"/>
                        <a:t>p-value = </a:t>
                      </a:r>
                      <a:r>
                        <a:rPr lang="en-GB" sz="1400" dirty="0"/>
                        <a:t>0.2424</a:t>
                      </a:r>
                    </a:p>
                  </a:txBody>
                  <a:tcPr anchor="ctr"/>
                </a:tc>
                <a:tc>
                  <a:txBody>
                    <a:bodyPr/>
                    <a:lstStyle/>
                    <a:p>
                      <a:pPr>
                        <a:buNone/>
                      </a:pPr>
                      <a:r>
                        <a:rPr lang="en-GB" sz="1400" i="1" dirty="0"/>
                        <a:t>t</a:t>
                      </a:r>
                      <a:r>
                        <a:rPr lang="en-GB" sz="1400" dirty="0"/>
                        <a:t> = 0.251</a:t>
                      </a:r>
                    </a:p>
                    <a:p>
                      <a:pPr marL="0" marR="0" lvl="0" indent="0" algn="l" defTabSz="914377" rtl="0" eaLnBrk="1" fontAlgn="auto" latinLnBrk="0" hangingPunct="1">
                        <a:lnSpc>
                          <a:spcPct val="100000"/>
                        </a:lnSpc>
                        <a:spcBef>
                          <a:spcPts val="0"/>
                        </a:spcBef>
                        <a:spcAft>
                          <a:spcPts val="0"/>
                        </a:spcAft>
                        <a:buClrTx/>
                        <a:buSzTx/>
                        <a:buFontTx/>
                        <a:buNone/>
                        <a:tabLst/>
                        <a:defRPr/>
                      </a:pPr>
                      <a:r>
                        <a:rPr lang="en-GB" sz="1400" b="0" i="1" dirty="0"/>
                        <a:t>p-value = </a:t>
                      </a:r>
                      <a:r>
                        <a:rPr lang="en-GB" sz="1400" dirty="0"/>
                        <a:t>0.8028</a:t>
                      </a:r>
                    </a:p>
                  </a:txBody>
                  <a:tcPr anchor="ctr"/>
                </a:tc>
                <a:extLst>
                  <a:ext uri="{0D108BD9-81ED-4DB2-BD59-A6C34878D82A}">
                    <a16:rowId xmlns:a16="http://schemas.microsoft.com/office/drawing/2014/main" val="2700494012"/>
                  </a:ext>
                </a:extLst>
              </a:tr>
              <a:tr h="396132">
                <a:tc>
                  <a:txBody>
                    <a:bodyPr/>
                    <a:lstStyle/>
                    <a:p>
                      <a:pPr>
                        <a:buNone/>
                      </a:pPr>
                      <a:r>
                        <a:rPr lang="en-GB" sz="1400" b="1" dirty="0"/>
                        <a:t>Decision (</a:t>
                      </a:r>
                      <a:r>
                        <a:rPr lang="el-GR" sz="1400" b="1" dirty="0"/>
                        <a:t>α = 0.05)</a:t>
                      </a:r>
                      <a:endParaRPr lang="el-GR" sz="1400" dirty="0"/>
                    </a:p>
                  </a:txBody>
                  <a:tcPr anchor="ctr"/>
                </a:tc>
                <a:tc>
                  <a:txBody>
                    <a:bodyPr/>
                    <a:lstStyle/>
                    <a:p>
                      <a:pPr>
                        <a:buNone/>
                      </a:pPr>
                      <a:r>
                        <a:rPr lang="en-GB" sz="1400"/>
                        <a:t>Not significant → Fail to reject H₀</a:t>
                      </a:r>
                    </a:p>
                  </a:txBody>
                  <a:tcPr anchor="ctr"/>
                </a:tc>
                <a:tc>
                  <a:txBody>
                    <a:bodyPr/>
                    <a:lstStyle/>
                    <a:p>
                      <a:pPr>
                        <a:buNone/>
                      </a:pPr>
                      <a:r>
                        <a:rPr lang="en-GB" sz="1400" dirty="0"/>
                        <a:t>Not significant → Fail to reject H₀</a:t>
                      </a:r>
                    </a:p>
                  </a:txBody>
                  <a:tcPr anchor="ctr"/>
                </a:tc>
                <a:extLst>
                  <a:ext uri="{0D108BD9-81ED-4DB2-BD59-A6C34878D82A}">
                    <a16:rowId xmlns:a16="http://schemas.microsoft.com/office/drawing/2014/main" val="95642707"/>
                  </a:ext>
                </a:extLst>
              </a:tr>
            </a:tbl>
          </a:graphicData>
        </a:graphic>
      </p:graphicFrame>
      <p:sp>
        <p:nvSpPr>
          <p:cNvPr id="10" name="Title 9">
            <a:extLst>
              <a:ext uri="{FF2B5EF4-FFF2-40B4-BE49-F238E27FC236}">
                <a16:creationId xmlns:a16="http://schemas.microsoft.com/office/drawing/2014/main" id="{171580E8-96F9-3CB4-1425-6438F87EAD40}"/>
              </a:ext>
            </a:extLst>
          </p:cNvPr>
          <p:cNvSpPr>
            <a:spLocks noGrp="1"/>
          </p:cNvSpPr>
          <p:nvPr>
            <p:ph type="title"/>
          </p:nvPr>
        </p:nvSpPr>
        <p:spPr/>
        <p:txBody>
          <a:bodyPr/>
          <a:lstStyle/>
          <a:p>
            <a:r>
              <a:rPr lang="en-GB" dirty="0"/>
              <a:t>Hypothesis Testing: Investigating Sunshine's Impact on Addiction</a:t>
            </a:r>
          </a:p>
        </p:txBody>
      </p:sp>
    </p:spTree>
    <p:extLst>
      <p:ext uri="{BB962C8B-B14F-4D97-AF65-F5344CB8AC3E}">
        <p14:creationId xmlns:p14="http://schemas.microsoft.com/office/powerpoint/2010/main" val="3818707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E93D7-A338-7B72-904D-E5FB19702F1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E077FC2-1D2B-AECC-9E31-D9EF16688E2D}"/>
              </a:ext>
            </a:extLst>
          </p:cNvPr>
          <p:cNvSpPr/>
          <p:nvPr/>
        </p:nvSpPr>
        <p:spPr>
          <a:xfrm>
            <a:off x="4544963" y="3239681"/>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E9C7B211-2528-F241-7B07-9C14F5EBFEB1}"/>
              </a:ext>
            </a:extLst>
          </p:cNvPr>
          <p:cNvSpPr/>
          <p:nvPr/>
        </p:nvSpPr>
        <p:spPr>
          <a:xfrm>
            <a:off x="4544964" y="3239681"/>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DB68EDA8-8184-7DA0-7102-2D658245F6C3}"/>
              </a:ext>
            </a:extLst>
          </p:cNvPr>
          <p:cNvSpPr txBox="1"/>
          <p:nvPr/>
        </p:nvSpPr>
        <p:spPr>
          <a:xfrm>
            <a:off x="4544965" y="1486801"/>
            <a:ext cx="6300016" cy="3330399"/>
          </a:xfrm>
          <a:prstGeom prst="rect">
            <a:avLst/>
          </a:prstGeom>
          <a:noFill/>
          <a:ln>
            <a:solidFill>
              <a:schemeClr val="bg1"/>
            </a:solidFill>
          </a:ln>
        </p:spPr>
        <p:txBody>
          <a:bodyPr wrap="square" lIns="91440" tIns="45720" rIns="91440" bIns="45720" rtlCol="0" anchor="t">
            <a:spAutoFit/>
          </a:bodyPr>
          <a:lstStyle/>
          <a:p>
            <a:pPr marL="342900" indent="-342900">
              <a:lnSpc>
                <a:spcPct val="200000"/>
              </a:lnSpc>
              <a:buFont typeface="+mj-lt"/>
              <a:buAutoNum type="arabicPeriod"/>
            </a:pPr>
            <a:r>
              <a:rPr lang="en-US">
                <a:ea typeface="SimHei" panose="02010609060101010101" pitchFamily="49" charset="-122"/>
              </a:rPr>
              <a:t>Introduction</a:t>
            </a:r>
          </a:p>
          <a:p>
            <a:pPr marL="342900" indent="-342900">
              <a:lnSpc>
                <a:spcPct val="200000"/>
              </a:lnSpc>
              <a:buFont typeface="+mj-lt"/>
              <a:buAutoNum type="arabicPeriod"/>
            </a:pPr>
            <a:r>
              <a:rPr lang="en-US">
                <a:ea typeface="SimHei" panose="02010609060101010101" pitchFamily="49" charset="-122"/>
              </a:rPr>
              <a:t>Correlation analysis </a:t>
            </a:r>
          </a:p>
          <a:p>
            <a:pPr marL="342900" indent="-342900">
              <a:lnSpc>
                <a:spcPct val="200000"/>
              </a:lnSpc>
              <a:buFont typeface="+mj-lt"/>
              <a:buAutoNum type="arabicPeriod"/>
            </a:pPr>
            <a:r>
              <a:rPr lang="en-GB" altLang="en-US"/>
              <a:t>Sunshine's Impact on Addiction</a:t>
            </a:r>
            <a:endParaRPr lang="en-GB" altLang="en-US">
              <a:cs typeface="Arial"/>
            </a:endParaRPr>
          </a:p>
          <a:p>
            <a:pPr marL="342900" indent="-342900">
              <a:lnSpc>
                <a:spcPct val="200000"/>
              </a:lnSpc>
              <a:buFont typeface="+mj-lt"/>
              <a:buAutoNum type="arabicPeriod"/>
            </a:pPr>
            <a:r>
              <a:rPr lang="en-GB">
                <a:solidFill>
                  <a:schemeClr val="bg1"/>
                </a:solidFill>
                <a:ea typeface="SimHei"/>
              </a:rPr>
              <a:t>Social Media Platform Comparison</a:t>
            </a:r>
            <a:endParaRPr lang="en-US">
              <a:solidFill>
                <a:schemeClr val="bg1"/>
              </a:solidFill>
              <a:ea typeface="SimHei"/>
            </a:endParaRPr>
          </a:p>
          <a:p>
            <a:pPr marL="342900" indent="-342900">
              <a:lnSpc>
                <a:spcPct val="200000"/>
              </a:lnSpc>
              <a:buFont typeface="+mj-lt"/>
              <a:buAutoNum type="arabicPeriod"/>
            </a:pPr>
            <a:r>
              <a:rPr lang="en-US" altLang="zh-CN"/>
              <a:t>Academic Performance</a:t>
            </a:r>
          </a:p>
          <a:p>
            <a:pPr marL="342900" indent="-342900">
              <a:lnSpc>
                <a:spcPct val="200000"/>
              </a:lnSpc>
              <a:buFont typeface="+mj-lt"/>
              <a:buAutoNum type="arabicPeriod"/>
            </a:pPr>
            <a:r>
              <a:rPr lang="en-US" altLang="zh-CN"/>
              <a:t>Conclusion</a:t>
            </a:r>
          </a:p>
        </p:txBody>
      </p:sp>
    </p:spTree>
    <p:extLst>
      <p:ext uri="{BB962C8B-B14F-4D97-AF65-F5344CB8AC3E}">
        <p14:creationId xmlns:p14="http://schemas.microsoft.com/office/powerpoint/2010/main" val="928756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5D906-2678-B0C0-38D5-E25058064A60}"/>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F1E7DA47-8991-FED8-4FB7-80392A4F38BA}"/>
              </a:ext>
            </a:extLst>
          </p:cNvPr>
          <p:cNvSpPr/>
          <p:nvPr/>
        </p:nvSpPr>
        <p:spPr>
          <a:xfrm>
            <a:off x="6806922" y="4040541"/>
            <a:ext cx="3168000" cy="1080000"/>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Rectangle 32">
            <a:extLst>
              <a:ext uri="{FF2B5EF4-FFF2-40B4-BE49-F238E27FC236}">
                <a16:creationId xmlns:a16="http://schemas.microsoft.com/office/drawing/2014/main" id="{6368594D-6AB0-149E-43EF-916BC32455E3}"/>
              </a:ext>
            </a:extLst>
          </p:cNvPr>
          <p:cNvSpPr/>
          <p:nvPr/>
        </p:nvSpPr>
        <p:spPr>
          <a:xfrm>
            <a:off x="1552819" y="4046483"/>
            <a:ext cx="3168000" cy="1080000"/>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0" name="Rectangle 29">
            <a:extLst>
              <a:ext uri="{FF2B5EF4-FFF2-40B4-BE49-F238E27FC236}">
                <a16:creationId xmlns:a16="http://schemas.microsoft.com/office/drawing/2014/main" id="{18E7C18D-CD0F-397C-5A7D-D5D28D921045}"/>
              </a:ext>
            </a:extLst>
          </p:cNvPr>
          <p:cNvSpPr/>
          <p:nvPr/>
        </p:nvSpPr>
        <p:spPr>
          <a:xfrm>
            <a:off x="1264316" y="3236644"/>
            <a:ext cx="2628000" cy="576000"/>
          </a:xfrm>
          <a:prstGeom prst="rect">
            <a:avLst/>
          </a:prstGeom>
          <a:solidFill>
            <a:srgbClr val="D000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Rectangle 27">
            <a:extLst>
              <a:ext uri="{FF2B5EF4-FFF2-40B4-BE49-F238E27FC236}">
                <a16:creationId xmlns:a16="http://schemas.microsoft.com/office/drawing/2014/main" id="{A777CF5A-1AD3-638C-1ED3-B3EB6ABA6F1D}"/>
              </a:ext>
            </a:extLst>
          </p:cNvPr>
          <p:cNvSpPr/>
          <p:nvPr/>
        </p:nvSpPr>
        <p:spPr>
          <a:xfrm>
            <a:off x="8554917" y="3236644"/>
            <a:ext cx="1584000" cy="57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7" name="Rectangle 26">
            <a:extLst>
              <a:ext uri="{FF2B5EF4-FFF2-40B4-BE49-F238E27FC236}">
                <a16:creationId xmlns:a16="http://schemas.microsoft.com/office/drawing/2014/main" id="{5B3CF915-E29E-536E-975B-C28BACCF05E8}"/>
              </a:ext>
            </a:extLst>
          </p:cNvPr>
          <p:cNvSpPr/>
          <p:nvPr/>
        </p:nvSpPr>
        <p:spPr>
          <a:xfrm>
            <a:off x="3907453" y="3236644"/>
            <a:ext cx="1152000" cy="57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itle 1">
            <a:extLst>
              <a:ext uri="{FF2B5EF4-FFF2-40B4-BE49-F238E27FC236}">
                <a16:creationId xmlns:a16="http://schemas.microsoft.com/office/drawing/2014/main" id="{C00BDDC2-F693-5572-E015-28047BB19734}"/>
              </a:ext>
            </a:extLst>
          </p:cNvPr>
          <p:cNvSpPr>
            <a:spLocks noGrp="1"/>
          </p:cNvSpPr>
          <p:nvPr>
            <p:ph type="title"/>
          </p:nvPr>
        </p:nvSpPr>
        <p:spPr/>
        <p:txBody>
          <a:bodyPr>
            <a:normAutofit fontScale="90000"/>
          </a:bodyPr>
          <a:lstStyle/>
          <a:p>
            <a:pPr>
              <a:lnSpc>
                <a:spcPct val="200000"/>
              </a:lnSpc>
            </a:pPr>
            <a:r>
              <a:rPr lang="en-GB">
                <a:latin typeface="Arial"/>
                <a:ea typeface="SimHei"/>
                <a:cs typeface="Arial"/>
              </a:rPr>
              <a:t>The Engine of Addiction: Platform Comparison</a:t>
            </a:r>
            <a:endParaRPr lang="en-GB">
              <a:ea typeface="SimHei"/>
            </a:endParaRPr>
          </a:p>
        </p:txBody>
      </p:sp>
      <p:sp>
        <p:nvSpPr>
          <p:cNvPr id="14" name="Content Placeholder 13">
            <a:extLst>
              <a:ext uri="{FF2B5EF4-FFF2-40B4-BE49-F238E27FC236}">
                <a16:creationId xmlns:a16="http://schemas.microsoft.com/office/drawing/2014/main" id="{3B45397A-DDCD-973A-8AFA-25ECD4EEE28C}"/>
              </a:ext>
            </a:extLst>
          </p:cNvPr>
          <p:cNvSpPr>
            <a:spLocks noGrp="1"/>
          </p:cNvSpPr>
          <p:nvPr>
            <p:ph idx="13"/>
          </p:nvPr>
        </p:nvSpPr>
        <p:spPr>
          <a:xfrm>
            <a:off x="2131235" y="1494459"/>
            <a:ext cx="1362503" cy="447330"/>
          </a:xfrm>
        </p:spPr>
        <p:txBody>
          <a:bodyPr>
            <a:normAutofit fontScale="92500"/>
          </a:bodyPr>
          <a:lstStyle/>
          <a:p>
            <a:pPr marL="0" indent="0">
              <a:buNone/>
            </a:pPr>
            <a:r>
              <a:rPr lang="en-US" sz="2200"/>
              <a:t>Instagram</a:t>
            </a:r>
            <a:endParaRPr lang="en-DE" sz="2200"/>
          </a:p>
          <a:p>
            <a:endParaRPr lang="en-US"/>
          </a:p>
        </p:txBody>
      </p:sp>
      <p:sp>
        <p:nvSpPr>
          <p:cNvPr id="17" name="Content Placeholder 16">
            <a:extLst>
              <a:ext uri="{FF2B5EF4-FFF2-40B4-BE49-F238E27FC236}">
                <a16:creationId xmlns:a16="http://schemas.microsoft.com/office/drawing/2014/main" id="{5DA4270D-8E7E-158E-5CF3-5397AE025217}"/>
              </a:ext>
            </a:extLst>
          </p:cNvPr>
          <p:cNvSpPr>
            <a:spLocks noGrp="1"/>
          </p:cNvSpPr>
          <p:nvPr>
            <p:ph idx="12"/>
          </p:nvPr>
        </p:nvSpPr>
        <p:spPr/>
        <p:txBody>
          <a:bodyPr/>
          <a:lstStyle/>
          <a:p>
            <a:endParaRPr lang="en-US"/>
          </a:p>
        </p:txBody>
      </p:sp>
      <p:pic>
        <p:nvPicPr>
          <p:cNvPr id="3" name="Picture 2" descr="A logo of a camera&#10;&#10;AI-generated content may be incorrect.">
            <a:extLst>
              <a:ext uri="{FF2B5EF4-FFF2-40B4-BE49-F238E27FC236}">
                <a16:creationId xmlns:a16="http://schemas.microsoft.com/office/drawing/2014/main" id="{A88839A8-6210-3C5D-AD70-36FE3897A1FA}"/>
              </a:ext>
            </a:extLst>
          </p:cNvPr>
          <p:cNvPicPr>
            <a:picLocks noChangeAspect="1"/>
          </p:cNvPicPr>
          <p:nvPr/>
        </p:nvPicPr>
        <p:blipFill>
          <a:blip r:embed="rId3" cstate="print">
            <a:extLst>
              <a:ext uri="{28A0092B-C50C-407E-A947-70E740481C1C}">
                <a14:useLocalDpi xmlns:a14="http://schemas.microsoft.com/office/drawing/2010/main" val="0"/>
              </a:ext>
            </a:extLst>
          </a:blip>
          <a:srcRect l="14700" t="13819" r="13773" b="14305"/>
          <a:stretch>
            <a:fillRect/>
          </a:stretch>
        </p:blipFill>
        <p:spPr>
          <a:xfrm>
            <a:off x="4134379" y="1279428"/>
            <a:ext cx="792938" cy="796787"/>
          </a:xfrm>
          <a:prstGeom prst="rect">
            <a:avLst/>
          </a:prstGeom>
        </p:spPr>
      </p:pic>
      <p:pic>
        <p:nvPicPr>
          <p:cNvPr id="4" name="Picture 3" descr="A black square with white and blue logo&#10;&#10;AI-generated content may be incorrect.">
            <a:extLst>
              <a:ext uri="{FF2B5EF4-FFF2-40B4-BE49-F238E27FC236}">
                <a16:creationId xmlns:a16="http://schemas.microsoft.com/office/drawing/2014/main" id="{7DF4D6E1-9350-DCF9-23E3-B8FA158A60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2995" y="1240000"/>
            <a:ext cx="792937" cy="805327"/>
          </a:xfrm>
          <a:prstGeom prst="rect">
            <a:avLst/>
          </a:prstGeom>
        </p:spPr>
      </p:pic>
      <p:sp>
        <p:nvSpPr>
          <p:cNvPr id="6" name="Title 1">
            <a:extLst>
              <a:ext uri="{FF2B5EF4-FFF2-40B4-BE49-F238E27FC236}">
                <a16:creationId xmlns:a16="http://schemas.microsoft.com/office/drawing/2014/main" id="{6F6317ED-A0C1-02D3-6C44-E1B25B319E7D}"/>
              </a:ext>
            </a:extLst>
          </p:cNvPr>
          <p:cNvSpPr txBox="1">
            <a:spLocks/>
          </p:cNvSpPr>
          <p:nvPr/>
        </p:nvSpPr>
        <p:spPr>
          <a:xfrm>
            <a:off x="5396195" y="1351361"/>
            <a:ext cx="913163" cy="6015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zh-CN" altLang="en-US" sz="2400" b="1" kern="0" dirty="0">
                <a:solidFill>
                  <a:srgbClr val="743481"/>
                </a:solidFill>
                <a:latin typeface="Arial" panose="020B0604020202020204" pitchFamily="34" charset="0"/>
                <a:ea typeface="SimHei" panose="02010609060101010101" pitchFamily="49" charset="-122"/>
                <a:cs typeface="Arial" panose="020B0604020202020204" pitchFamily="34" charset="0"/>
              </a:defRPr>
            </a:lvl1pPr>
          </a:lstStyle>
          <a:p>
            <a:pPr>
              <a:lnSpc>
                <a:spcPct val="200000"/>
              </a:lnSpc>
            </a:pPr>
            <a:r>
              <a:rPr lang="en-GB" sz="2800">
                <a:latin typeface="Arial"/>
                <a:ea typeface="SimHei"/>
                <a:cs typeface="Arial"/>
              </a:rPr>
              <a:t>VS.</a:t>
            </a:r>
            <a:endParaRPr lang="en-GB" sz="2800">
              <a:ea typeface="SimHei"/>
            </a:endParaRPr>
          </a:p>
        </p:txBody>
      </p:sp>
      <p:sp>
        <p:nvSpPr>
          <p:cNvPr id="7" name="Rectangle 6">
            <a:extLst>
              <a:ext uri="{FF2B5EF4-FFF2-40B4-BE49-F238E27FC236}">
                <a16:creationId xmlns:a16="http://schemas.microsoft.com/office/drawing/2014/main" id="{732235C0-0381-C83F-C409-EDE5AA46AE9B}"/>
              </a:ext>
            </a:extLst>
          </p:cNvPr>
          <p:cNvSpPr/>
          <p:nvPr/>
        </p:nvSpPr>
        <p:spPr>
          <a:xfrm>
            <a:off x="6462995" y="3231848"/>
            <a:ext cx="2088000" cy="576000"/>
          </a:xfrm>
          <a:prstGeom prst="rect">
            <a:avLst/>
          </a:prstGeom>
          <a:solidFill>
            <a:srgbClr val="D000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TextBox 7">
            <a:extLst>
              <a:ext uri="{FF2B5EF4-FFF2-40B4-BE49-F238E27FC236}">
                <a16:creationId xmlns:a16="http://schemas.microsoft.com/office/drawing/2014/main" id="{69FE5065-62A1-C06F-F95D-4E5CAC92DA7B}"/>
              </a:ext>
            </a:extLst>
          </p:cNvPr>
          <p:cNvSpPr txBox="1"/>
          <p:nvPr/>
        </p:nvSpPr>
        <p:spPr>
          <a:xfrm>
            <a:off x="7896573" y="1494459"/>
            <a:ext cx="1328385" cy="400110"/>
          </a:xfrm>
          <a:prstGeom prst="rect">
            <a:avLst/>
          </a:prstGeom>
          <a:noFill/>
        </p:spPr>
        <p:txBody>
          <a:bodyPr wrap="square">
            <a:spAutoFit/>
          </a:bodyPr>
          <a:lstStyle/>
          <a:p>
            <a:r>
              <a:rPr lang="en-US" altLang="zh-CN" sz="2000">
                <a:latin typeface="Arial" pitchFamily="34" charset="0"/>
                <a:ea typeface="黑体" pitchFamily="2" charset="-122"/>
              </a:rPr>
              <a:t>TikTok</a:t>
            </a:r>
            <a:endParaRPr lang="en-DE" altLang="zh-CN" sz="2000">
              <a:latin typeface="Arial" pitchFamily="34" charset="0"/>
              <a:ea typeface="黑体" pitchFamily="2" charset="-122"/>
            </a:endParaRPr>
          </a:p>
        </p:txBody>
      </p:sp>
      <p:sp>
        <p:nvSpPr>
          <p:cNvPr id="12" name="TextBox 11">
            <a:extLst>
              <a:ext uri="{FF2B5EF4-FFF2-40B4-BE49-F238E27FC236}">
                <a16:creationId xmlns:a16="http://schemas.microsoft.com/office/drawing/2014/main" id="{15C91419-C99D-BCDD-38EA-4BF895127AEC}"/>
              </a:ext>
            </a:extLst>
          </p:cNvPr>
          <p:cNvSpPr txBox="1"/>
          <p:nvPr/>
        </p:nvSpPr>
        <p:spPr>
          <a:xfrm>
            <a:off x="1918511" y="3329872"/>
            <a:ext cx="1546110" cy="369332"/>
          </a:xfrm>
          <a:prstGeom prst="rect">
            <a:avLst/>
          </a:prstGeom>
          <a:noFill/>
        </p:spPr>
        <p:txBody>
          <a:bodyPr wrap="square">
            <a:spAutoFit/>
          </a:bodyPr>
          <a:lstStyle/>
          <a:p>
            <a:r>
              <a:rPr lang="en-US">
                <a:latin typeface="Arial" pitchFamily="34" charset="0"/>
                <a:ea typeface="黑体" pitchFamily="2" charset="-122"/>
              </a:rPr>
              <a:t>71% Female</a:t>
            </a:r>
            <a:endParaRPr lang="en-DE">
              <a:latin typeface="Arial" pitchFamily="34" charset="0"/>
              <a:ea typeface="黑体" pitchFamily="2" charset="-122"/>
            </a:endParaRPr>
          </a:p>
        </p:txBody>
      </p:sp>
      <p:sp>
        <p:nvSpPr>
          <p:cNvPr id="13" name="TextBox 12">
            <a:extLst>
              <a:ext uri="{FF2B5EF4-FFF2-40B4-BE49-F238E27FC236}">
                <a16:creationId xmlns:a16="http://schemas.microsoft.com/office/drawing/2014/main" id="{8FDFC1BE-1E3A-BE19-48BE-37612EDD0328}"/>
              </a:ext>
            </a:extLst>
          </p:cNvPr>
          <p:cNvSpPr txBox="1"/>
          <p:nvPr/>
        </p:nvSpPr>
        <p:spPr>
          <a:xfrm>
            <a:off x="6820867" y="3329872"/>
            <a:ext cx="1739898" cy="369332"/>
          </a:xfrm>
          <a:prstGeom prst="rect">
            <a:avLst/>
          </a:prstGeom>
          <a:noFill/>
        </p:spPr>
        <p:txBody>
          <a:bodyPr wrap="square">
            <a:spAutoFit/>
          </a:bodyPr>
          <a:lstStyle/>
          <a:p>
            <a:r>
              <a:rPr lang="en-US">
                <a:latin typeface="Arial" pitchFamily="34" charset="0"/>
                <a:ea typeface="黑体" pitchFamily="2" charset="-122"/>
              </a:rPr>
              <a:t>58% Female</a:t>
            </a:r>
            <a:endParaRPr lang="en-DE">
              <a:latin typeface="Arial" pitchFamily="34" charset="0"/>
              <a:ea typeface="黑体" pitchFamily="2" charset="-122"/>
            </a:endParaRPr>
          </a:p>
        </p:txBody>
      </p:sp>
      <p:sp>
        <p:nvSpPr>
          <p:cNvPr id="15" name="TextBox 14">
            <a:extLst>
              <a:ext uri="{FF2B5EF4-FFF2-40B4-BE49-F238E27FC236}">
                <a16:creationId xmlns:a16="http://schemas.microsoft.com/office/drawing/2014/main" id="{8BE28A3E-4611-EA24-DA2A-28512EF7D533}"/>
              </a:ext>
            </a:extLst>
          </p:cNvPr>
          <p:cNvSpPr txBox="1"/>
          <p:nvPr/>
        </p:nvSpPr>
        <p:spPr>
          <a:xfrm>
            <a:off x="8724359" y="3322761"/>
            <a:ext cx="1345663" cy="369332"/>
          </a:xfrm>
          <a:prstGeom prst="rect">
            <a:avLst/>
          </a:prstGeom>
          <a:noFill/>
        </p:spPr>
        <p:txBody>
          <a:bodyPr wrap="square">
            <a:spAutoFit/>
          </a:bodyPr>
          <a:lstStyle/>
          <a:p>
            <a:r>
              <a:rPr lang="en-US">
                <a:solidFill>
                  <a:schemeClr val="bg1"/>
                </a:solidFill>
                <a:latin typeface="Arial" pitchFamily="34" charset="0"/>
                <a:ea typeface="黑体" pitchFamily="2" charset="-122"/>
              </a:rPr>
              <a:t>42% Male</a:t>
            </a:r>
            <a:endParaRPr lang="en-DE">
              <a:solidFill>
                <a:schemeClr val="bg1"/>
              </a:solidFill>
              <a:latin typeface="Arial" pitchFamily="34" charset="0"/>
              <a:ea typeface="黑体" pitchFamily="2" charset="-122"/>
            </a:endParaRPr>
          </a:p>
        </p:txBody>
      </p:sp>
      <p:sp>
        <p:nvSpPr>
          <p:cNvPr id="16" name="TextBox 15">
            <a:extLst>
              <a:ext uri="{FF2B5EF4-FFF2-40B4-BE49-F238E27FC236}">
                <a16:creationId xmlns:a16="http://schemas.microsoft.com/office/drawing/2014/main" id="{D17C2893-C92A-9D35-0590-61E9A08A5DD2}"/>
              </a:ext>
            </a:extLst>
          </p:cNvPr>
          <p:cNvSpPr txBox="1"/>
          <p:nvPr/>
        </p:nvSpPr>
        <p:spPr>
          <a:xfrm>
            <a:off x="3913836" y="3350504"/>
            <a:ext cx="1228637" cy="369332"/>
          </a:xfrm>
          <a:prstGeom prst="rect">
            <a:avLst/>
          </a:prstGeom>
          <a:noFill/>
        </p:spPr>
        <p:txBody>
          <a:bodyPr wrap="square">
            <a:spAutoFit/>
          </a:bodyPr>
          <a:lstStyle/>
          <a:p>
            <a:r>
              <a:rPr lang="en-US">
                <a:solidFill>
                  <a:schemeClr val="bg1"/>
                </a:solidFill>
                <a:latin typeface="Arial" pitchFamily="34" charset="0"/>
                <a:ea typeface="黑体" pitchFamily="2" charset="-122"/>
              </a:rPr>
              <a:t>29% Male</a:t>
            </a:r>
            <a:endParaRPr lang="en-DE">
              <a:solidFill>
                <a:schemeClr val="bg1"/>
              </a:solidFill>
              <a:latin typeface="Arial" pitchFamily="34" charset="0"/>
              <a:ea typeface="黑体" pitchFamily="2" charset="-122"/>
            </a:endParaRPr>
          </a:p>
        </p:txBody>
      </p:sp>
      <p:sp>
        <p:nvSpPr>
          <p:cNvPr id="18" name="TextBox 17">
            <a:extLst>
              <a:ext uri="{FF2B5EF4-FFF2-40B4-BE49-F238E27FC236}">
                <a16:creationId xmlns:a16="http://schemas.microsoft.com/office/drawing/2014/main" id="{F7C456CF-253E-359A-27FB-933FEF0E1185}"/>
              </a:ext>
            </a:extLst>
          </p:cNvPr>
          <p:cNvSpPr txBox="1"/>
          <p:nvPr/>
        </p:nvSpPr>
        <p:spPr>
          <a:xfrm>
            <a:off x="1912204" y="4084123"/>
            <a:ext cx="2690184" cy="369332"/>
          </a:xfrm>
          <a:prstGeom prst="rect">
            <a:avLst/>
          </a:prstGeom>
          <a:noFill/>
        </p:spPr>
        <p:txBody>
          <a:bodyPr wrap="square">
            <a:spAutoFit/>
          </a:bodyPr>
          <a:lstStyle/>
          <a:p>
            <a:r>
              <a:rPr lang="en-US">
                <a:latin typeface="Arial" pitchFamily="34" charset="0"/>
                <a:ea typeface="黑体" pitchFamily="2" charset="-122"/>
              </a:rPr>
              <a:t>Average Daily Usage</a:t>
            </a:r>
            <a:endParaRPr lang="en-DE">
              <a:latin typeface="Arial" pitchFamily="34" charset="0"/>
              <a:ea typeface="黑体" pitchFamily="2" charset="-122"/>
            </a:endParaRPr>
          </a:p>
        </p:txBody>
      </p:sp>
      <p:sp>
        <p:nvSpPr>
          <p:cNvPr id="19" name="TextBox 18">
            <a:extLst>
              <a:ext uri="{FF2B5EF4-FFF2-40B4-BE49-F238E27FC236}">
                <a16:creationId xmlns:a16="http://schemas.microsoft.com/office/drawing/2014/main" id="{C4548523-602F-3772-F3D8-FEFB4EBDD3BB}"/>
              </a:ext>
            </a:extLst>
          </p:cNvPr>
          <p:cNvSpPr txBox="1"/>
          <p:nvPr/>
        </p:nvSpPr>
        <p:spPr>
          <a:xfrm>
            <a:off x="6947189" y="4084123"/>
            <a:ext cx="2434235" cy="369332"/>
          </a:xfrm>
          <a:prstGeom prst="rect">
            <a:avLst/>
          </a:prstGeom>
          <a:noFill/>
        </p:spPr>
        <p:txBody>
          <a:bodyPr wrap="square">
            <a:spAutoFit/>
          </a:bodyPr>
          <a:lstStyle/>
          <a:p>
            <a:r>
              <a:rPr lang="en-US">
                <a:latin typeface="Arial" pitchFamily="34" charset="0"/>
                <a:ea typeface="黑体" pitchFamily="2" charset="-122"/>
              </a:rPr>
              <a:t>Average Daily Usage</a:t>
            </a:r>
            <a:endParaRPr lang="en-DE">
              <a:latin typeface="Arial" pitchFamily="34" charset="0"/>
              <a:ea typeface="黑体" pitchFamily="2" charset="-122"/>
            </a:endParaRPr>
          </a:p>
        </p:txBody>
      </p:sp>
      <p:sp>
        <p:nvSpPr>
          <p:cNvPr id="20" name="TextBox 19">
            <a:extLst>
              <a:ext uri="{FF2B5EF4-FFF2-40B4-BE49-F238E27FC236}">
                <a16:creationId xmlns:a16="http://schemas.microsoft.com/office/drawing/2014/main" id="{F52EDD2A-42B0-550D-31E1-68D8692130D6}"/>
              </a:ext>
            </a:extLst>
          </p:cNvPr>
          <p:cNvSpPr txBox="1"/>
          <p:nvPr/>
        </p:nvSpPr>
        <p:spPr>
          <a:xfrm>
            <a:off x="1482866" y="2361312"/>
            <a:ext cx="3210559" cy="369332"/>
          </a:xfrm>
          <a:prstGeom prst="rect">
            <a:avLst/>
          </a:prstGeom>
          <a:noFill/>
        </p:spPr>
        <p:txBody>
          <a:bodyPr wrap="square">
            <a:spAutoFit/>
          </a:bodyPr>
          <a:lstStyle/>
          <a:p>
            <a:r>
              <a:rPr lang="en-US">
                <a:latin typeface="Arial" pitchFamily="34" charset="0"/>
                <a:ea typeface="黑体" pitchFamily="2" charset="-122"/>
              </a:rPr>
              <a:t>#1 Most used </a:t>
            </a:r>
            <a:r>
              <a:rPr lang="en-US" altLang="zh-CN">
                <a:latin typeface="Arial" pitchFamily="34" charset="0"/>
                <a:ea typeface="黑体" pitchFamily="2" charset="-122"/>
              </a:rPr>
              <a:t>App</a:t>
            </a:r>
            <a:r>
              <a:rPr lang="en-US">
                <a:latin typeface="Arial" pitchFamily="34" charset="0"/>
                <a:ea typeface="黑体" pitchFamily="2" charset="-122"/>
              </a:rPr>
              <a:t> in Dataset</a:t>
            </a:r>
            <a:endParaRPr lang="en-DE">
              <a:latin typeface="Arial" pitchFamily="34" charset="0"/>
              <a:ea typeface="黑体" pitchFamily="2" charset="-122"/>
            </a:endParaRPr>
          </a:p>
        </p:txBody>
      </p:sp>
      <p:cxnSp>
        <p:nvCxnSpPr>
          <p:cNvPr id="22" name="Straight Connector 21">
            <a:extLst>
              <a:ext uri="{FF2B5EF4-FFF2-40B4-BE49-F238E27FC236}">
                <a16:creationId xmlns:a16="http://schemas.microsoft.com/office/drawing/2014/main" id="{7F7339EE-AD65-832E-86E8-6A8C3CBDC179}"/>
              </a:ext>
            </a:extLst>
          </p:cNvPr>
          <p:cNvCxnSpPr>
            <a:cxnSpLocks/>
          </p:cNvCxnSpPr>
          <p:nvPr/>
        </p:nvCxnSpPr>
        <p:spPr>
          <a:xfrm>
            <a:off x="5750173" y="2275902"/>
            <a:ext cx="0" cy="3312098"/>
          </a:xfrm>
          <a:prstGeom prst="line">
            <a:avLst/>
          </a:prstGeom>
          <a:ln w="57150">
            <a:solidFill>
              <a:srgbClr val="74348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AE3A4BBD-4308-38BF-F718-E2A0C40C1BFC}"/>
              </a:ext>
            </a:extLst>
          </p:cNvPr>
          <p:cNvSpPr txBox="1"/>
          <p:nvPr/>
        </p:nvSpPr>
        <p:spPr>
          <a:xfrm>
            <a:off x="2333695" y="4480373"/>
            <a:ext cx="1714832" cy="369332"/>
          </a:xfrm>
          <a:prstGeom prst="rect">
            <a:avLst/>
          </a:prstGeom>
          <a:noFill/>
        </p:spPr>
        <p:txBody>
          <a:bodyPr wrap="square">
            <a:spAutoFit/>
          </a:bodyPr>
          <a:lstStyle/>
          <a:p>
            <a:r>
              <a:rPr lang="en-US">
                <a:latin typeface="Arial" pitchFamily="34" charset="0"/>
                <a:ea typeface="黑体" pitchFamily="2" charset="-122"/>
              </a:rPr>
              <a:t>4.6 hours/day</a:t>
            </a:r>
            <a:endParaRPr lang="en-DE">
              <a:latin typeface="Arial" pitchFamily="34" charset="0"/>
              <a:ea typeface="黑体" pitchFamily="2" charset="-122"/>
            </a:endParaRPr>
          </a:p>
        </p:txBody>
      </p:sp>
      <p:sp>
        <p:nvSpPr>
          <p:cNvPr id="29" name="TextBox 28">
            <a:extLst>
              <a:ext uri="{FF2B5EF4-FFF2-40B4-BE49-F238E27FC236}">
                <a16:creationId xmlns:a16="http://schemas.microsoft.com/office/drawing/2014/main" id="{B167B025-5160-0B9F-0B3F-E285E58F757D}"/>
              </a:ext>
            </a:extLst>
          </p:cNvPr>
          <p:cNvSpPr txBox="1"/>
          <p:nvPr/>
        </p:nvSpPr>
        <p:spPr>
          <a:xfrm>
            <a:off x="6859463" y="2365263"/>
            <a:ext cx="3210559" cy="369332"/>
          </a:xfrm>
          <a:prstGeom prst="rect">
            <a:avLst/>
          </a:prstGeom>
          <a:noFill/>
        </p:spPr>
        <p:txBody>
          <a:bodyPr wrap="square">
            <a:spAutoFit/>
          </a:bodyPr>
          <a:lstStyle/>
          <a:p>
            <a:r>
              <a:rPr lang="en-US">
                <a:latin typeface="Arial" pitchFamily="34" charset="0"/>
                <a:ea typeface="黑体" pitchFamily="2" charset="-122"/>
              </a:rPr>
              <a:t>#2 Most used </a:t>
            </a:r>
            <a:r>
              <a:rPr lang="en-US" altLang="zh-CN">
                <a:latin typeface="Arial" pitchFamily="34" charset="0"/>
                <a:ea typeface="黑体" pitchFamily="2" charset="-122"/>
              </a:rPr>
              <a:t>App</a:t>
            </a:r>
            <a:r>
              <a:rPr lang="en-US">
                <a:latin typeface="Arial" pitchFamily="34" charset="0"/>
                <a:ea typeface="黑体" pitchFamily="2" charset="-122"/>
              </a:rPr>
              <a:t> in Dataset</a:t>
            </a:r>
            <a:endParaRPr lang="en-DE">
              <a:latin typeface="Arial" pitchFamily="34" charset="0"/>
              <a:ea typeface="黑体" pitchFamily="2" charset="-122"/>
            </a:endParaRPr>
          </a:p>
        </p:txBody>
      </p:sp>
      <p:sp>
        <p:nvSpPr>
          <p:cNvPr id="32" name="TextBox 31">
            <a:extLst>
              <a:ext uri="{FF2B5EF4-FFF2-40B4-BE49-F238E27FC236}">
                <a16:creationId xmlns:a16="http://schemas.microsoft.com/office/drawing/2014/main" id="{0026D327-91A0-F768-7412-DEF1F861625B}"/>
              </a:ext>
            </a:extLst>
          </p:cNvPr>
          <p:cNvSpPr txBox="1"/>
          <p:nvPr/>
        </p:nvSpPr>
        <p:spPr>
          <a:xfrm>
            <a:off x="7258147" y="4480373"/>
            <a:ext cx="1843516" cy="369332"/>
          </a:xfrm>
          <a:prstGeom prst="rect">
            <a:avLst/>
          </a:prstGeom>
          <a:noFill/>
        </p:spPr>
        <p:txBody>
          <a:bodyPr wrap="square">
            <a:spAutoFit/>
          </a:bodyPr>
          <a:lstStyle/>
          <a:p>
            <a:r>
              <a:rPr lang="en-US">
                <a:latin typeface="Arial" pitchFamily="34" charset="0"/>
                <a:ea typeface="黑体" pitchFamily="2" charset="-122"/>
              </a:rPr>
              <a:t>5.4 hours/day</a:t>
            </a:r>
            <a:endParaRPr lang="en-DE">
              <a:latin typeface="Arial" pitchFamily="34" charset="0"/>
              <a:ea typeface="黑体" pitchFamily="2" charset="-122"/>
            </a:endParaRPr>
          </a:p>
        </p:txBody>
      </p:sp>
      <p:sp>
        <p:nvSpPr>
          <p:cNvPr id="37" name="Arrow: Up 36">
            <a:extLst>
              <a:ext uri="{FF2B5EF4-FFF2-40B4-BE49-F238E27FC236}">
                <a16:creationId xmlns:a16="http://schemas.microsoft.com/office/drawing/2014/main" id="{A8CB86B4-C6B4-398D-F346-FD1E69B76C5E}"/>
              </a:ext>
            </a:extLst>
          </p:cNvPr>
          <p:cNvSpPr/>
          <p:nvPr/>
        </p:nvSpPr>
        <p:spPr>
          <a:xfrm rot="2146954">
            <a:off x="9195158" y="4070780"/>
            <a:ext cx="372533" cy="970429"/>
          </a:xfrm>
          <a:prstGeom prst="upArrow">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074907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B3F5E-AB2F-30F0-0115-53D1CBAAB663}"/>
            </a:ext>
          </a:extLst>
        </p:cNvPr>
        <p:cNvGrpSpPr/>
        <p:nvPr/>
      </p:nvGrpSpPr>
      <p:grpSpPr>
        <a:xfrm>
          <a:off x="0" y="0"/>
          <a:ext cx="0" cy="0"/>
          <a:chOff x="0" y="0"/>
          <a:chExt cx="0" cy="0"/>
        </a:xfrm>
      </p:grpSpPr>
      <p:pic>
        <p:nvPicPr>
          <p:cNvPr id="21" name="Content Placeholder 20">
            <a:extLst>
              <a:ext uri="{FF2B5EF4-FFF2-40B4-BE49-F238E27FC236}">
                <a16:creationId xmlns:a16="http://schemas.microsoft.com/office/drawing/2014/main" id="{E3F52638-6369-1275-7D18-6B753FD8403E}"/>
              </a:ext>
            </a:extLst>
          </p:cNvPr>
          <p:cNvPicPr>
            <a:picLocks noGrp="1" noChangeAspect="1"/>
          </p:cNvPicPr>
          <p:nvPr>
            <p:ph idx="13"/>
          </p:nvPr>
        </p:nvPicPr>
        <p:blipFill>
          <a:blip r:embed="rId2"/>
          <a:stretch>
            <a:fillRect/>
          </a:stretch>
        </p:blipFill>
        <p:spPr bwMode="auto">
          <a:xfrm>
            <a:off x="532315" y="514543"/>
            <a:ext cx="11579183" cy="543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0">
            <a:extLst>
              <a:ext uri="{FF2B5EF4-FFF2-40B4-BE49-F238E27FC236}">
                <a16:creationId xmlns:a16="http://schemas.microsoft.com/office/drawing/2014/main" id="{3C961CFB-6B14-077F-E23D-2F95FBE9EF0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730619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F950-97B5-0FB2-260B-1484604F59A7}"/>
            </a:ext>
          </a:extLst>
        </p:cNvPr>
        <p:cNvGrpSpPr/>
        <p:nvPr/>
      </p:nvGrpSpPr>
      <p:grpSpPr>
        <a:xfrm>
          <a:off x="0" y="0"/>
          <a:ext cx="0" cy="0"/>
          <a:chOff x="0" y="0"/>
          <a:chExt cx="0" cy="0"/>
        </a:xfrm>
      </p:grpSpPr>
      <p:pic>
        <p:nvPicPr>
          <p:cNvPr id="10" name="Content Placeholder 9" descr="A screenshot of a graph&#10;&#10;AI-generated content may be incorrect.">
            <a:extLst>
              <a:ext uri="{FF2B5EF4-FFF2-40B4-BE49-F238E27FC236}">
                <a16:creationId xmlns:a16="http://schemas.microsoft.com/office/drawing/2014/main" id="{63010A69-B2DD-6041-35EA-5C1FCB9A5E1E}"/>
              </a:ext>
            </a:extLst>
          </p:cNvPr>
          <p:cNvPicPr>
            <a:picLocks noGrp="1" noChangeAspect="1"/>
          </p:cNvPicPr>
          <p:nvPr>
            <p:ph idx="13"/>
          </p:nvPr>
        </p:nvPicPr>
        <p:blipFill>
          <a:blip r:embed="rId2"/>
          <a:stretch>
            <a:fillRect/>
          </a:stretch>
        </p:blipFill>
        <p:spPr bwMode="auto">
          <a:xfrm>
            <a:off x="270572" y="487100"/>
            <a:ext cx="11273150" cy="5606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747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F999-280C-41A6-59C9-6BC3E74FC06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C6A1218-B446-2AE2-42E6-F007434B6888}"/>
              </a:ext>
            </a:extLst>
          </p:cNvPr>
          <p:cNvSpPr/>
          <p:nvPr/>
        </p:nvSpPr>
        <p:spPr>
          <a:xfrm>
            <a:off x="4623623" y="3843503"/>
            <a:ext cx="5660919" cy="520732"/>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2EA681C-1EE1-DF78-4D9C-0933FAFA00F5}"/>
              </a:ext>
            </a:extLst>
          </p:cNvPr>
          <p:cNvSpPr/>
          <p:nvPr/>
        </p:nvSpPr>
        <p:spPr>
          <a:xfrm>
            <a:off x="4544965" y="3843503"/>
            <a:ext cx="5017789" cy="520732"/>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25A2AA9C-2DC6-4303-8BC4-A9E9735463B3}"/>
              </a:ext>
            </a:extLst>
          </p:cNvPr>
          <p:cNvSpPr txBox="1"/>
          <p:nvPr/>
        </p:nvSpPr>
        <p:spPr>
          <a:xfrm>
            <a:off x="4544965" y="1525878"/>
            <a:ext cx="6093538" cy="3330399"/>
          </a:xfrm>
          <a:prstGeom prst="rect">
            <a:avLst/>
          </a:prstGeom>
          <a:noFill/>
          <a:ln>
            <a:solidFill>
              <a:schemeClr val="bg1"/>
            </a:solidFill>
          </a:ln>
        </p:spPr>
        <p:txBody>
          <a:bodyPr wrap="square" lIns="91440" tIns="45720" rIns="91440" bIns="45720" rtlCol="0" anchor="t">
            <a:spAutoFit/>
          </a:bodyPr>
          <a:lstStyle/>
          <a:p>
            <a:pPr marL="342900" indent="-342900">
              <a:lnSpc>
                <a:spcPct val="200000"/>
              </a:lnSpc>
              <a:buFont typeface="+mj-lt"/>
              <a:buAutoNum type="arabicPeriod"/>
            </a:pPr>
            <a:r>
              <a:rPr lang="en-US" dirty="0">
                <a:ea typeface="SimHei"/>
              </a:rPr>
              <a:t>Introduction</a:t>
            </a:r>
          </a:p>
          <a:p>
            <a:pPr marL="342900" indent="-342900">
              <a:lnSpc>
                <a:spcPct val="200000"/>
              </a:lnSpc>
              <a:buFont typeface="+mj-lt"/>
              <a:buAutoNum type="arabicPeriod"/>
            </a:pPr>
            <a:r>
              <a:rPr lang="en-US" dirty="0">
                <a:ea typeface="SimHei"/>
              </a:rPr>
              <a:t>Correlation analysis </a:t>
            </a:r>
            <a:endParaRPr lang="en-US" dirty="0">
              <a:ea typeface="SimHei"/>
              <a:cs typeface="Arial"/>
            </a:endParaRPr>
          </a:p>
          <a:p>
            <a:pPr marL="342900" indent="-342900">
              <a:lnSpc>
                <a:spcPct val="200000"/>
              </a:lnSpc>
              <a:buAutoNum type="arabicPeriod"/>
            </a:pPr>
            <a:r>
              <a:rPr lang="en-GB">
                <a:ea typeface="SimHei"/>
              </a:rPr>
              <a:t>Sunshine's Impact on Addiction</a:t>
            </a:r>
          </a:p>
          <a:p>
            <a:pPr marL="342900" indent="-342900">
              <a:lnSpc>
                <a:spcPct val="200000"/>
              </a:lnSpc>
              <a:buAutoNum type="arabicPeriod"/>
            </a:pPr>
            <a:r>
              <a:rPr lang="en-GB">
                <a:ea typeface="SimHei"/>
              </a:rPr>
              <a:t>Social Media </a:t>
            </a:r>
            <a:r>
              <a:rPr lang="en-GB" dirty="0">
                <a:ea typeface="SimHei"/>
              </a:rPr>
              <a:t>Platform</a:t>
            </a:r>
            <a:r>
              <a:rPr lang="en-GB">
                <a:ea typeface="SimHei"/>
              </a:rPr>
              <a:t> Comparison</a:t>
            </a:r>
            <a:endParaRPr lang="en-US">
              <a:ea typeface="SimHei"/>
            </a:endParaRPr>
          </a:p>
          <a:p>
            <a:pPr marL="342900" indent="-342900">
              <a:lnSpc>
                <a:spcPct val="200000"/>
              </a:lnSpc>
              <a:buAutoNum type="arabicPeriod"/>
            </a:pPr>
            <a:r>
              <a:rPr lang="en-US">
                <a:solidFill>
                  <a:schemeClr val="bg1"/>
                </a:solidFill>
                <a:cs typeface="Arial"/>
              </a:rPr>
              <a:t>Academic Performance</a:t>
            </a:r>
          </a:p>
          <a:p>
            <a:pPr marL="342900" indent="-342900">
              <a:lnSpc>
                <a:spcPct val="200000"/>
              </a:lnSpc>
              <a:buFont typeface="+mj-lt"/>
              <a:buAutoNum type="arabicPeriod"/>
            </a:pPr>
            <a:r>
              <a:rPr lang="en-US" altLang="zh-CN" dirty="0"/>
              <a:t>Conclusion</a:t>
            </a:r>
            <a:endParaRPr lang="en-US" altLang="zh-CN" dirty="0">
              <a:cs typeface="Arial"/>
            </a:endParaRPr>
          </a:p>
        </p:txBody>
      </p:sp>
    </p:spTree>
    <p:extLst>
      <p:ext uri="{BB962C8B-B14F-4D97-AF65-F5344CB8AC3E}">
        <p14:creationId xmlns:p14="http://schemas.microsoft.com/office/powerpoint/2010/main" val="4036949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21">
            <a:extLst>
              <a:ext uri="{FF2B5EF4-FFF2-40B4-BE49-F238E27FC236}">
                <a16:creationId xmlns:a16="http://schemas.microsoft.com/office/drawing/2014/main" id="{2FBFFBFB-2B60-F7FA-6FFC-AE0DA7B7A1E2}"/>
              </a:ext>
            </a:extLst>
          </p:cNvPr>
          <p:cNvGraphicFramePr>
            <a:graphicFrameLocks/>
          </p:cNvGraphicFramePr>
          <p:nvPr>
            <p:extLst>
              <p:ext uri="{D42A27DB-BD31-4B8C-83A1-F6EECF244321}">
                <p14:modId xmlns:p14="http://schemas.microsoft.com/office/powerpoint/2010/main" val="573477316"/>
              </p:ext>
            </p:extLst>
          </p:nvPr>
        </p:nvGraphicFramePr>
        <p:xfrm>
          <a:off x="876459" y="3855829"/>
          <a:ext cx="10066798" cy="2468772"/>
        </p:xfrm>
        <a:graphic>
          <a:graphicData uri="http://schemas.openxmlformats.org/drawingml/2006/table">
            <a:tbl>
              <a:tblPr firstRow="1" bandRow="1">
                <a:tableStyleId>{0E3FDE45-AF77-4B5C-9715-49D594BDF05E}</a:tableStyleId>
              </a:tblPr>
              <a:tblGrid>
                <a:gridCol w="1384960">
                  <a:extLst>
                    <a:ext uri="{9D8B030D-6E8A-4147-A177-3AD203B41FA5}">
                      <a16:colId xmlns:a16="http://schemas.microsoft.com/office/drawing/2014/main" val="3191885079"/>
                    </a:ext>
                  </a:extLst>
                </a:gridCol>
                <a:gridCol w="8681838">
                  <a:extLst>
                    <a:ext uri="{9D8B030D-6E8A-4147-A177-3AD203B41FA5}">
                      <a16:colId xmlns:a16="http://schemas.microsoft.com/office/drawing/2014/main" val="3855024335"/>
                    </a:ext>
                  </a:extLst>
                </a:gridCol>
              </a:tblGrid>
              <a:tr h="304800">
                <a:tc>
                  <a:txBody>
                    <a:bodyPr/>
                    <a:lstStyle/>
                    <a:p>
                      <a:pPr>
                        <a:buNone/>
                      </a:pPr>
                      <a:r>
                        <a:rPr lang="en-GB" sz="1100" b="1"/>
                        <a:t>Hypothesis</a:t>
                      </a:r>
                      <a:endParaRPr lang="en-GB" sz="1100"/>
                    </a:p>
                  </a:txBody>
                  <a:tcPr anchor="ctr"/>
                </a:tc>
                <a:tc>
                  <a:txBody>
                    <a:bodyPr/>
                    <a:lstStyle/>
                    <a:p>
                      <a:pPr>
                        <a:buNone/>
                      </a:pPr>
                      <a:r>
                        <a:rPr lang="en-GB" sz="1100" b="1"/>
                        <a:t>Statement</a:t>
                      </a:r>
                      <a:endParaRPr lang="en-GB" sz="1100"/>
                    </a:p>
                  </a:txBody>
                  <a:tcPr anchor="ctr"/>
                </a:tc>
                <a:extLst>
                  <a:ext uri="{0D108BD9-81ED-4DB2-BD59-A6C34878D82A}">
                    <a16:rowId xmlns:a16="http://schemas.microsoft.com/office/drawing/2014/main" val="1295391439"/>
                  </a:ext>
                </a:extLst>
              </a:tr>
              <a:tr h="731520">
                <a:tc>
                  <a:txBody>
                    <a:bodyPr/>
                    <a:lstStyle/>
                    <a:p>
                      <a:pPr>
                        <a:buNone/>
                      </a:pPr>
                      <a:r>
                        <a:rPr lang="en-GB" sz="1100" b="1"/>
                        <a:t>H1</a:t>
                      </a:r>
                      <a:endParaRPr lang="en-GB" sz="1100"/>
                    </a:p>
                  </a:txBody>
                  <a:tcPr anchor="ctr"/>
                </a:tc>
                <a:tc>
                  <a:txBody>
                    <a:bodyPr/>
                    <a:lstStyle/>
                    <a:p>
                      <a:pPr>
                        <a:buNone/>
                      </a:pPr>
                      <a:r>
                        <a:rPr lang="en-GB" sz="1100" dirty="0"/>
                        <a:t>Higher daily social media usage, higher addiction scores, and more conflicts over social media are associated with a higher probability of reporting academic impact.</a:t>
                      </a:r>
                    </a:p>
                  </a:txBody>
                  <a:tcPr anchor="ctr"/>
                </a:tc>
                <a:extLst>
                  <a:ext uri="{0D108BD9-81ED-4DB2-BD59-A6C34878D82A}">
                    <a16:rowId xmlns:a16="http://schemas.microsoft.com/office/drawing/2014/main" val="2700494012"/>
                  </a:ext>
                </a:extLst>
              </a:tr>
              <a:tr h="518160">
                <a:tc>
                  <a:txBody>
                    <a:bodyPr/>
                    <a:lstStyle/>
                    <a:p>
                      <a:pPr>
                        <a:buNone/>
                      </a:pPr>
                      <a:r>
                        <a:rPr lang="en-GB" sz="1100" b="1"/>
                        <a:t>H2</a:t>
                      </a:r>
                      <a:endParaRPr lang="en-GB" sz="1100"/>
                    </a:p>
                  </a:txBody>
                  <a:tcPr anchor="ctr"/>
                </a:tc>
                <a:tc>
                  <a:txBody>
                    <a:bodyPr/>
                    <a:lstStyle/>
                    <a:p>
                      <a:pPr>
                        <a:buNone/>
                      </a:pPr>
                      <a:r>
                        <a:rPr lang="en-GB" sz="1100"/>
                        <a:t>Lower sleep duration and lower mental health scores are associated with a higher probability of reporting academic impact.</a:t>
                      </a:r>
                    </a:p>
                  </a:txBody>
                  <a:tcPr anchor="ctr"/>
                </a:tc>
                <a:extLst>
                  <a:ext uri="{0D108BD9-81ED-4DB2-BD59-A6C34878D82A}">
                    <a16:rowId xmlns:a16="http://schemas.microsoft.com/office/drawing/2014/main" val="2660126890"/>
                  </a:ext>
                </a:extLst>
              </a:tr>
              <a:tr h="396132">
                <a:tc>
                  <a:txBody>
                    <a:bodyPr/>
                    <a:lstStyle/>
                    <a:p>
                      <a:pPr>
                        <a:buNone/>
                      </a:pPr>
                      <a:r>
                        <a:rPr lang="en-GB" sz="1100" b="1"/>
                        <a:t>H3</a:t>
                      </a:r>
                      <a:endParaRPr lang="en-GB" sz="1100"/>
                    </a:p>
                  </a:txBody>
                  <a:tcPr anchor="ctr"/>
                </a:tc>
                <a:tc>
                  <a:txBody>
                    <a:bodyPr/>
                    <a:lstStyle/>
                    <a:p>
                      <a:pPr>
                        <a:buNone/>
                      </a:pPr>
                      <a:r>
                        <a:rPr lang="en-GB" sz="1100"/>
                        <a:t>The most-used social media platform and relationship status are associated with academic impact (i.e., they are not independent).</a:t>
                      </a:r>
                    </a:p>
                  </a:txBody>
                  <a:tcPr anchor="ctr"/>
                </a:tc>
                <a:extLst>
                  <a:ext uri="{0D108BD9-81ED-4DB2-BD59-A6C34878D82A}">
                    <a16:rowId xmlns:a16="http://schemas.microsoft.com/office/drawing/2014/main" val="95642707"/>
                  </a:ext>
                </a:extLst>
              </a:tr>
              <a:tr h="518160">
                <a:tc>
                  <a:txBody>
                    <a:bodyPr/>
                    <a:lstStyle/>
                    <a:p>
                      <a:pPr>
                        <a:buNone/>
                      </a:pPr>
                      <a:r>
                        <a:rPr lang="en-GB" sz="1100" b="1"/>
                        <a:t>H4</a:t>
                      </a:r>
                      <a:endParaRPr lang="en-GB" sz="1100"/>
                    </a:p>
                  </a:txBody>
                  <a:tcPr anchor="ctr"/>
                </a:tc>
                <a:tc>
                  <a:txBody>
                    <a:bodyPr/>
                    <a:lstStyle/>
                    <a:p>
                      <a:pPr>
                        <a:buNone/>
                      </a:pPr>
                      <a:r>
                        <a:rPr lang="en-GB" sz="1100" dirty="0"/>
                        <a:t>Gender shows weak or no association with academic impact.</a:t>
                      </a:r>
                    </a:p>
                  </a:txBody>
                  <a:tcPr anchor="ctr"/>
                </a:tc>
                <a:extLst>
                  <a:ext uri="{0D108BD9-81ED-4DB2-BD59-A6C34878D82A}">
                    <a16:rowId xmlns:a16="http://schemas.microsoft.com/office/drawing/2014/main" val="3331426073"/>
                  </a:ext>
                </a:extLst>
              </a:tr>
            </a:tbl>
          </a:graphicData>
        </a:graphic>
      </p:graphicFrame>
      <p:sp>
        <p:nvSpPr>
          <p:cNvPr id="2" name="Title 1">
            <a:extLst>
              <a:ext uri="{FF2B5EF4-FFF2-40B4-BE49-F238E27FC236}">
                <a16:creationId xmlns:a16="http://schemas.microsoft.com/office/drawing/2014/main" id="{67B0BCBD-4580-2448-95FF-D7F762C02D66}"/>
              </a:ext>
            </a:extLst>
          </p:cNvPr>
          <p:cNvSpPr>
            <a:spLocks noGrp="1"/>
          </p:cNvSpPr>
          <p:nvPr>
            <p:ph type="title"/>
          </p:nvPr>
        </p:nvSpPr>
        <p:spPr>
          <a:xfrm>
            <a:off x="542115" y="488575"/>
            <a:ext cx="11214847" cy="492153"/>
          </a:xfrm>
        </p:spPr>
        <p:txBody>
          <a:bodyPr/>
          <a:lstStyle/>
          <a:p>
            <a:r>
              <a:rPr lang="en-GB"/>
              <a:t>How does Social Media Impact Academic Performance?</a:t>
            </a:r>
            <a:endParaRPr lang="en-US"/>
          </a:p>
        </p:txBody>
      </p:sp>
      <p:pic>
        <p:nvPicPr>
          <p:cNvPr id="10" name="Content Placeholder 9" descr="A grid of squares with different colors&#10;&#10;AI-generated content may be incorrect.">
            <a:extLst>
              <a:ext uri="{FF2B5EF4-FFF2-40B4-BE49-F238E27FC236}">
                <a16:creationId xmlns:a16="http://schemas.microsoft.com/office/drawing/2014/main" id="{235B28A4-99E6-5976-3328-780F5287D7D1}"/>
              </a:ext>
            </a:extLst>
          </p:cNvPr>
          <p:cNvPicPr>
            <a:picLocks noGrp="1" noChangeAspect="1"/>
          </p:cNvPicPr>
          <p:nvPr>
            <p:ph idx="12"/>
          </p:nvPr>
        </p:nvPicPr>
        <p:blipFill>
          <a:blip r:embed="rId3">
            <a:duotone>
              <a:prstClr val="black"/>
              <a:schemeClr val="accent2">
                <a:tint val="45000"/>
                <a:satMod val="400000"/>
              </a:schemeClr>
            </a:duotone>
          </a:blip>
          <a:stretch>
            <a:fillRect/>
          </a:stretch>
        </p:blipFill>
        <p:spPr bwMode="auto">
          <a:xfrm rot="16200000">
            <a:off x="8535509" y="1269531"/>
            <a:ext cx="2327766" cy="28033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1">
            <a:extLst>
              <a:ext uri="{FF2B5EF4-FFF2-40B4-BE49-F238E27FC236}">
                <a16:creationId xmlns:a16="http://schemas.microsoft.com/office/drawing/2014/main" id="{0CF2B808-A711-E8BE-A258-09BA17228482}"/>
              </a:ext>
            </a:extLst>
          </p:cNvPr>
          <p:cNvSpPr>
            <a:spLocks noGrp="1"/>
          </p:cNvSpPr>
          <p:nvPr>
            <p:ph idx="13"/>
          </p:nvPr>
        </p:nvSpPr>
        <p:spPr>
          <a:xfrm>
            <a:off x="541514" y="1718451"/>
            <a:ext cx="6674982" cy="2173930"/>
          </a:xfrm>
        </p:spPr>
        <p:txBody>
          <a:bodyPr/>
          <a:lstStyle/>
          <a:p>
            <a:pPr marL="0" indent="0" algn="ctr">
              <a:buNone/>
            </a:pPr>
            <a:r>
              <a:rPr lang="en-US" b="1">
                <a:latin typeface="Arial"/>
                <a:ea typeface="黑体"/>
                <a:cs typeface="Arial"/>
              </a:rPr>
              <a:t>STUDENT REPORTED IMPACT</a:t>
            </a:r>
          </a:p>
          <a:p>
            <a:pPr marL="0" indent="0" algn="ctr">
              <a:buNone/>
            </a:pPr>
            <a:r>
              <a:rPr lang="en-US" b="1">
                <a:latin typeface="Arial"/>
                <a:ea typeface="黑体"/>
                <a:cs typeface="Arial"/>
              </a:rPr>
              <a:t>453/705 students </a:t>
            </a:r>
            <a:r>
              <a:rPr lang="en-US">
                <a:latin typeface="Arial"/>
                <a:ea typeface="黑体"/>
                <a:cs typeface="Arial"/>
              </a:rPr>
              <a:t>reported effect on academic performance:</a:t>
            </a:r>
            <a:endParaRPr lang="en-US">
              <a:cs typeface="Arial" pitchFamily="34" charset="0"/>
            </a:endParaRPr>
          </a:p>
          <a:p>
            <a:pPr marL="0" indent="0" algn="ctr">
              <a:buNone/>
            </a:pPr>
            <a:r>
              <a:rPr lang="en-US" sz="5400" b="1">
                <a:solidFill>
                  <a:schemeClr val="tx2"/>
                </a:solidFill>
                <a:latin typeface="Arial"/>
                <a:ea typeface="黑体"/>
                <a:cs typeface="Arial"/>
              </a:rPr>
              <a:t>64.3%</a:t>
            </a:r>
          </a:p>
          <a:p>
            <a:pPr marL="0" indent="0" algn="ctr">
              <a:buNone/>
            </a:pPr>
            <a:r>
              <a:rPr lang="en-US" b="1">
                <a:solidFill>
                  <a:srgbClr val="B7B7B7"/>
                </a:solidFill>
                <a:latin typeface="Arial"/>
                <a:ea typeface="黑体"/>
                <a:cs typeface="Arial"/>
              </a:rPr>
              <a:t>95% Confidence level: [60.6%, 67.7%]</a:t>
            </a:r>
            <a:endParaRPr lang="en-US">
              <a:latin typeface="Arial"/>
              <a:ea typeface="黑体"/>
            </a:endParaRPr>
          </a:p>
          <a:p>
            <a:pPr marL="0" indent="0" algn="ctr">
              <a:buNone/>
            </a:pPr>
            <a:endParaRPr lang="en-US" b="1">
              <a:cs typeface="Arial"/>
            </a:endParaRPr>
          </a:p>
        </p:txBody>
      </p:sp>
      <p:sp>
        <p:nvSpPr>
          <p:cNvPr id="16" name="Content Placeholder 1">
            <a:extLst>
              <a:ext uri="{FF2B5EF4-FFF2-40B4-BE49-F238E27FC236}">
                <a16:creationId xmlns:a16="http://schemas.microsoft.com/office/drawing/2014/main" id="{130F5287-DB07-AD90-A265-0DB3057A8A85}"/>
              </a:ext>
            </a:extLst>
          </p:cNvPr>
          <p:cNvSpPr txBox="1">
            <a:spLocks/>
          </p:cNvSpPr>
          <p:nvPr/>
        </p:nvSpPr>
        <p:spPr bwMode="auto">
          <a:xfrm>
            <a:off x="395574" y="1151964"/>
            <a:ext cx="11355294" cy="819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594" indent="-228594"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lang="en-US" altLang="zh-CN" sz="1800" baseline="0" dirty="0">
                <a:solidFill>
                  <a:schemeClr val="tx1"/>
                </a:solidFill>
                <a:latin typeface="Arial" pitchFamily="34" charset="0"/>
                <a:ea typeface="黑体" pitchFamily="2" charset="-122"/>
                <a:cs typeface="+mn-cs"/>
              </a:defRPr>
            </a:lvl2pPr>
            <a:lvl3pPr marL="809605" indent="-230182"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algn="ctr">
              <a:buNone/>
            </a:pPr>
            <a:r>
              <a:rPr lang="en-GB" kern="0" dirty="0">
                <a:latin typeface="Arial"/>
                <a:ea typeface="黑体"/>
                <a:cs typeface="Arial"/>
              </a:rPr>
              <a:t>The Global Problem: PISA math scores dropped 22 points (2012–2022).</a:t>
            </a:r>
            <a:r>
              <a:rPr lang="en-US" kern="0" baseline="30000" dirty="0">
                <a:latin typeface="Arial"/>
                <a:ea typeface="黑体"/>
                <a:cs typeface="Arial"/>
              </a:rPr>
              <a:t>1</a:t>
            </a:r>
            <a:endParaRPr lang="en-US" sz="6000" kern="0" baseline="30000" dirty="0">
              <a:cs typeface="Arial"/>
            </a:endParaRPr>
          </a:p>
        </p:txBody>
      </p:sp>
      <p:sp>
        <p:nvSpPr>
          <p:cNvPr id="17" name="TextBox 16">
            <a:extLst>
              <a:ext uri="{FF2B5EF4-FFF2-40B4-BE49-F238E27FC236}">
                <a16:creationId xmlns:a16="http://schemas.microsoft.com/office/drawing/2014/main" id="{589DA70A-325B-1721-888C-F63E29894D40}"/>
              </a:ext>
            </a:extLst>
          </p:cNvPr>
          <p:cNvSpPr txBox="1"/>
          <p:nvPr/>
        </p:nvSpPr>
        <p:spPr>
          <a:xfrm>
            <a:off x="6920754" y="6324601"/>
            <a:ext cx="476642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30000">
                <a:cs typeface="Arial"/>
              </a:rPr>
              <a:t>1</a:t>
            </a:r>
            <a:r>
              <a:rPr lang="en-US" sz="1400" b="1">
                <a:cs typeface="Arial"/>
              </a:rPr>
              <a:t>Source: OECD (2023), PISA 2022 Results (Volume I)</a:t>
            </a:r>
            <a:endParaRPr lang="en-US">
              <a:cs typeface="Arial"/>
            </a:endParaRPr>
          </a:p>
          <a:p>
            <a:pPr algn="ctr"/>
            <a:endParaRPr lang="en-US"/>
          </a:p>
        </p:txBody>
      </p:sp>
      <p:sp>
        <p:nvSpPr>
          <p:cNvPr id="3" name="Content Placeholder 1">
            <a:extLst>
              <a:ext uri="{FF2B5EF4-FFF2-40B4-BE49-F238E27FC236}">
                <a16:creationId xmlns:a16="http://schemas.microsoft.com/office/drawing/2014/main" id="{B0DDBCF3-8284-5A92-B48F-F8BFCE354E7D}"/>
              </a:ext>
            </a:extLst>
          </p:cNvPr>
          <p:cNvSpPr txBox="1">
            <a:spLocks/>
          </p:cNvSpPr>
          <p:nvPr/>
        </p:nvSpPr>
        <p:spPr bwMode="auto">
          <a:xfrm>
            <a:off x="10943257" y="2263669"/>
            <a:ext cx="1248768" cy="819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594" indent="-228594"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lang="en-US" altLang="zh-CN" sz="1800" baseline="0" dirty="0">
                <a:solidFill>
                  <a:schemeClr val="tx1"/>
                </a:solidFill>
                <a:latin typeface="Arial" pitchFamily="34" charset="0"/>
                <a:ea typeface="黑体" pitchFamily="2" charset="-122"/>
                <a:cs typeface="+mn-cs"/>
              </a:defRPr>
            </a:lvl2pPr>
            <a:lvl3pPr marL="809605" indent="-230182"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algn="ctr">
              <a:buNone/>
            </a:pPr>
            <a:r>
              <a:rPr lang="en-US" kern="0">
                <a:latin typeface="Arial"/>
                <a:ea typeface="黑体"/>
                <a:cs typeface="Arial"/>
              </a:rPr>
              <a:t>Reported</a:t>
            </a:r>
            <a:endParaRPr lang="en-US">
              <a:cs typeface="Arial" pitchFamily="34" charset="0"/>
            </a:endParaRPr>
          </a:p>
          <a:p>
            <a:pPr marL="0" indent="0" algn="ctr">
              <a:buNone/>
            </a:pPr>
            <a:r>
              <a:rPr lang="en-US" kern="0">
                <a:latin typeface="Arial"/>
                <a:ea typeface="黑体"/>
                <a:cs typeface="Arial"/>
              </a:rPr>
              <a:t>No</a:t>
            </a:r>
          </a:p>
          <a:p>
            <a:pPr marL="0" indent="0" algn="ctr">
              <a:buNone/>
            </a:pPr>
            <a:r>
              <a:rPr lang="en-US" kern="0">
                <a:latin typeface="Arial"/>
                <a:ea typeface="黑体"/>
                <a:cs typeface="Arial"/>
              </a:rPr>
              <a:t>Impact</a:t>
            </a:r>
          </a:p>
        </p:txBody>
      </p:sp>
      <p:sp>
        <p:nvSpPr>
          <p:cNvPr id="5" name="Content Placeholder 1">
            <a:extLst>
              <a:ext uri="{FF2B5EF4-FFF2-40B4-BE49-F238E27FC236}">
                <a16:creationId xmlns:a16="http://schemas.microsoft.com/office/drawing/2014/main" id="{D4F1BFE1-2E50-76DE-0226-F1D55F048A34}"/>
              </a:ext>
            </a:extLst>
          </p:cNvPr>
          <p:cNvSpPr txBox="1">
            <a:spLocks/>
          </p:cNvSpPr>
          <p:nvPr/>
        </p:nvSpPr>
        <p:spPr bwMode="auto">
          <a:xfrm>
            <a:off x="7063073" y="2456599"/>
            <a:ext cx="1248768" cy="43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594" indent="-228594"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lang="en-US" altLang="zh-CN" sz="1800" baseline="0" dirty="0">
                <a:solidFill>
                  <a:schemeClr val="tx1"/>
                </a:solidFill>
                <a:latin typeface="Arial" pitchFamily="34" charset="0"/>
                <a:ea typeface="黑体" pitchFamily="2" charset="-122"/>
                <a:cs typeface="+mn-cs"/>
              </a:defRPr>
            </a:lvl2pPr>
            <a:lvl3pPr marL="809605" indent="-230182"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algn="ctr">
              <a:buNone/>
            </a:pPr>
            <a:r>
              <a:rPr lang="en-US" kern="0">
                <a:latin typeface="Arial"/>
                <a:ea typeface="黑体"/>
                <a:cs typeface="Arial"/>
              </a:rPr>
              <a:t>Reported</a:t>
            </a:r>
          </a:p>
          <a:p>
            <a:pPr marL="0" indent="0" algn="ctr">
              <a:buNone/>
            </a:pPr>
            <a:r>
              <a:rPr lang="en-US" kern="0">
                <a:latin typeface="Arial"/>
                <a:ea typeface="黑体"/>
                <a:cs typeface="Arial"/>
              </a:rPr>
              <a:t>Impact</a:t>
            </a:r>
            <a:endParaRPr lang="en-US" kern="0">
              <a:cs typeface="Arial"/>
            </a:endParaRPr>
          </a:p>
        </p:txBody>
      </p:sp>
    </p:spTree>
    <p:extLst>
      <p:ext uri="{BB962C8B-B14F-4D97-AF65-F5344CB8AC3E}">
        <p14:creationId xmlns:p14="http://schemas.microsoft.com/office/powerpoint/2010/main" val="280215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6BB7-8CED-0BC6-214E-4CCC8A4E2A08}"/>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ED67E20E-9FD9-9778-CC18-C7D505B6D3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3071" y="1437248"/>
            <a:ext cx="5490784" cy="3034381"/>
          </a:xfrm>
          <a:prstGeom prst="rect">
            <a:avLst/>
          </a:prstGeom>
        </p:spPr>
      </p:pic>
      <p:sp>
        <p:nvSpPr>
          <p:cNvPr id="3" name="Title 2">
            <a:extLst>
              <a:ext uri="{FF2B5EF4-FFF2-40B4-BE49-F238E27FC236}">
                <a16:creationId xmlns:a16="http://schemas.microsoft.com/office/drawing/2014/main" id="{7A0C1003-236C-5154-CDE0-38FFFE156D83}"/>
              </a:ext>
            </a:extLst>
          </p:cNvPr>
          <p:cNvSpPr>
            <a:spLocks noGrp="1"/>
          </p:cNvSpPr>
          <p:nvPr>
            <p:ph type="title"/>
          </p:nvPr>
        </p:nvSpPr>
        <p:spPr>
          <a:xfrm>
            <a:off x="706858" y="542465"/>
            <a:ext cx="10668000" cy="447330"/>
          </a:xfrm>
        </p:spPr>
        <p:txBody>
          <a:bodyPr/>
          <a:lstStyle/>
          <a:p>
            <a:r>
              <a:rPr lang="en-US" dirty="0">
                <a:latin typeface="Arial"/>
                <a:ea typeface="SimHei"/>
                <a:cs typeface="Arial"/>
              </a:rPr>
              <a:t>How individual factors contribute to the academic performance?</a:t>
            </a:r>
            <a:endParaRPr lang="en-US" sz="1600" dirty="0"/>
          </a:p>
        </p:txBody>
      </p:sp>
      <p:sp>
        <p:nvSpPr>
          <p:cNvPr id="4" name="Slide Number Placeholder 3">
            <a:extLst>
              <a:ext uri="{FF2B5EF4-FFF2-40B4-BE49-F238E27FC236}">
                <a16:creationId xmlns:a16="http://schemas.microsoft.com/office/drawing/2014/main" id="{08C89EE6-B115-8A63-F8E7-CB4D029D48DE}"/>
              </a:ext>
            </a:extLst>
          </p:cNvPr>
          <p:cNvSpPr>
            <a:spLocks noGrp="1"/>
          </p:cNvSpPr>
          <p:nvPr>
            <p:ph type="sldNum" sz="quarter" idx="11"/>
          </p:nvPr>
        </p:nvSpPr>
        <p:spPr/>
        <p:txBody>
          <a:bodyPr/>
          <a:lstStyle/>
          <a:p>
            <a:fld id="{2DA035EE-A575-442D-B43B-59075C422C34}" type="slidenum">
              <a:rPr lang="zh-CN" altLang="en-US" smtClean="0"/>
              <a:t>16</a:t>
            </a:fld>
            <a:endParaRPr lang="zh-CN" altLang="en-US"/>
          </a:p>
        </p:txBody>
      </p:sp>
      <p:sp>
        <p:nvSpPr>
          <p:cNvPr id="6" name="Content Placeholder 13">
            <a:extLst>
              <a:ext uri="{FF2B5EF4-FFF2-40B4-BE49-F238E27FC236}">
                <a16:creationId xmlns:a16="http://schemas.microsoft.com/office/drawing/2014/main" id="{20E6C75D-003B-29DD-5845-9FA6EE4F9951}"/>
              </a:ext>
            </a:extLst>
          </p:cNvPr>
          <p:cNvSpPr txBox="1">
            <a:spLocks/>
          </p:cNvSpPr>
          <p:nvPr/>
        </p:nvSpPr>
        <p:spPr bwMode="auto">
          <a:xfrm>
            <a:off x="5743051" y="4094972"/>
            <a:ext cx="6136220" cy="274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228594" indent="-228594"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1pPr>
            <a:lvl2pPr marL="579424" indent="-350830" algn="l" defTabSz="914400" rtl="0" eaLnBrk="1" fontAlgn="base" latinLnBrk="0" hangingPunct="1">
              <a:spcBef>
                <a:spcPct val="20000"/>
              </a:spcBef>
              <a:spcAft>
                <a:spcPct val="0"/>
              </a:spcAft>
              <a:buClr>
                <a:srgbClr val="743481"/>
              </a:buClr>
              <a:buSzPct val="140000"/>
              <a:buFont typeface="System Font Regular"/>
              <a:buChar char="－"/>
              <a:tabLst/>
              <a:defRPr lang="en-US" altLang="zh-CN" sz="1800" kern="1200" baseline="0" dirty="0">
                <a:solidFill>
                  <a:schemeClr val="tx1"/>
                </a:solidFill>
                <a:latin typeface="Arial" pitchFamily="34" charset="0"/>
                <a:ea typeface="黑体" pitchFamily="2" charset="-122"/>
                <a:cs typeface="+mn-cs"/>
              </a:defRPr>
            </a:lvl2pPr>
            <a:lvl3pPr marL="809605" indent="-230182"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3pPr>
            <a:lvl4pPr marL="1693820" indent="-387341" algn="l" defTabSz="914400" rtl="0" eaLnBrk="1" fontAlgn="base" latinLnBrk="0" hangingPunct="1">
              <a:spcBef>
                <a:spcPct val="20000"/>
              </a:spcBef>
              <a:spcAft>
                <a:spcPct val="0"/>
              </a:spcAft>
              <a:buClr>
                <a:srgbClr val="7030A0"/>
              </a:buClr>
              <a:buFont typeface="Wingdings" pitchFamily="2" charset="2"/>
              <a:buChar char="n"/>
              <a:defRPr sz="1800" kern="1200" baseline="0">
                <a:solidFill>
                  <a:schemeClr val="tx1"/>
                </a:solidFill>
                <a:latin typeface="Arial" pitchFamily="34" charset="0"/>
                <a:ea typeface="黑体" pitchFamily="2" charset="-122"/>
                <a:cs typeface="+mn-cs"/>
              </a:defRPr>
            </a:lvl4pPr>
            <a:lvl5pPr marL="2093861" indent="-398453" algn="l" defTabSz="914400" rtl="0" eaLnBrk="1" fontAlgn="base" latinLnBrk="0" hangingPunct="1">
              <a:spcBef>
                <a:spcPct val="25000"/>
              </a:spcBef>
              <a:spcAft>
                <a:spcPct val="0"/>
              </a:spcAft>
              <a:buClr>
                <a:srgbClr val="7030A0"/>
              </a:buClr>
              <a:buFont typeface="Wingdings" pitchFamily="2" charset="2"/>
              <a:buChar char="§"/>
              <a:defRPr sz="1800" kern="1200" baseline="0">
                <a:solidFill>
                  <a:schemeClr val="tx1"/>
                </a:solidFill>
                <a:latin typeface="Arial" pitchFamily="34" charset="0"/>
                <a:ea typeface="黑体" pitchFamily="2" charset="-122"/>
                <a:cs typeface="+mn-cs"/>
              </a:defRPr>
            </a:lvl5pPr>
            <a:lvl6pPr marL="2551050"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6pPr>
            <a:lvl7pPr marL="3008238"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7pPr>
            <a:lvl8pPr marL="3465427"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8pPr>
            <a:lvl9pPr marL="3922615"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9pPr>
          </a:lstStyle>
          <a:p>
            <a:pPr marL="0" indent="0" algn="ctr">
              <a:buNone/>
            </a:pPr>
            <a:r>
              <a:rPr lang="en-US" sz="1600" kern="0">
                <a:latin typeface="Arial"/>
                <a:ea typeface="黑体"/>
                <a:cs typeface="Arial"/>
              </a:rPr>
              <a:t>Strength of Evidence Cohen's |d| &gt; 0.8 is considered large effect</a:t>
            </a:r>
            <a:endParaRPr lang="en-US" sz="1600">
              <a:cs typeface="Arial"/>
            </a:endParaRPr>
          </a:p>
        </p:txBody>
      </p:sp>
      <p:sp>
        <p:nvSpPr>
          <p:cNvPr id="2" name="Content Placeholder 13">
            <a:extLst>
              <a:ext uri="{FF2B5EF4-FFF2-40B4-BE49-F238E27FC236}">
                <a16:creationId xmlns:a16="http://schemas.microsoft.com/office/drawing/2014/main" id="{F7242917-C0FA-C036-1144-415AFF45A7C4}"/>
              </a:ext>
            </a:extLst>
          </p:cNvPr>
          <p:cNvSpPr txBox="1">
            <a:spLocks/>
          </p:cNvSpPr>
          <p:nvPr/>
        </p:nvSpPr>
        <p:spPr bwMode="auto">
          <a:xfrm>
            <a:off x="2133600" y="4741633"/>
            <a:ext cx="9241258" cy="1573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228594" indent="-228594"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1pPr>
            <a:lvl2pPr marL="579424" indent="-350830" algn="l" defTabSz="914400" rtl="0" eaLnBrk="1" fontAlgn="base" latinLnBrk="0" hangingPunct="1">
              <a:spcBef>
                <a:spcPct val="20000"/>
              </a:spcBef>
              <a:spcAft>
                <a:spcPct val="0"/>
              </a:spcAft>
              <a:buClr>
                <a:srgbClr val="743481"/>
              </a:buClr>
              <a:buSzPct val="140000"/>
              <a:buFont typeface="System Font Regular"/>
              <a:buChar char="－"/>
              <a:tabLst/>
              <a:defRPr lang="en-US" altLang="zh-CN" sz="1800" kern="1200" baseline="0" dirty="0">
                <a:solidFill>
                  <a:schemeClr val="tx1"/>
                </a:solidFill>
                <a:latin typeface="Arial" pitchFamily="34" charset="0"/>
                <a:ea typeface="黑体" pitchFamily="2" charset="-122"/>
                <a:cs typeface="+mn-cs"/>
              </a:defRPr>
            </a:lvl2pPr>
            <a:lvl3pPr marL="809605" indent="-230182"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3pPr>
            <a:lvl4pPr marL="1693820" indent="-387341" algn="l" defTabSz="914400" rtl="0" eaLnBrk="1" fontAlgn="base" latinLnBrk="0" hangingPunct="1">
              <a:spcBef>
                <a:spcPct val="20000"/>
              </a:spcBef>
              <a:spcAft>
                <a:spcPct val="0"/>
              </a:spcAft>
              <a:buClr>
                <a:srgbClr val="7030A0"/>
              </a:buClr>
              <a:buFont typeface="Wingdings" pitchFamily="2" charset="2"/>
              <a:buChar char="n"/>
              <a:defRPr sz="1800" kern="1200" baseline="0">
                <a:solidFill>
                  <a:schemeClr val="tx1"/>
                </a:solidFill>
                <a:latin typeface="Arial" pitchFamily="34" charset="0"/>
                <a:ea typeface="黑体" pitchFamily="2" charset="-122"/>
                <a:cs typeface="+mn-cs"/>
              </a:defRPr>
            </a:lvl4pPr>
            <a:lvl5pPr marL="2093861" indent="-398453" algn="l" defTabSz="914400" rtl="0" eaLnBrk="1" fontAlgn="base" latinLnBrk="0" hangingPunct="1">
              <a:spcBef>
                <a:spcPct val="25000"/>
              </a:spcBef>
              <a:spcAft>
                <a:spcPct val="0"/>
              </a:spcAft>
              <a:buClr>
                <a:srgbClr val="7030A0"/>
              </a:buClr>
              <a:buFont typeface="Wingdings" pitchFamily="2" charset="2"/>
              <a:buChar char="§"/>
              <a:defRPr sz="1800" kern="1200" baseline="0">
                <a:solidFill>
                  <a:schemeClr val="tx1"/>
                </a:solidFill>
                <a:latin typeface="Arial" pitchFamily="34" charset="0"/>
                <a:ea typeface="黑体" pitchFamily="2" charset="-122"/>
                <a:cs typeface="+mn-cs"/>
              </a:defRPr>
            </a:lvl5pPr>
            <a:lvl6pPr marL="2551050"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6pPr>
            <a:lvl7pPr marL="3008238"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7pPr>
            <a:lvl8pPr marL="3465427"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8pPr>
            <a:lvl9pPr marL="3922615"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9pPr>
          </a:lstStyle>
          <a:p>
            <a:pPr marL="227965" indent="-227965"/>
            <a:r>
              <a:rPr lang="en-US" sz="1600" kern="0">
                <a:latin typeface="Arial"/>
                <a:ea typeface="黑体"/>
                <a:cs typeface="Arial"/>
              </a:rPr>
              <a:t>Reject </a:t>
            </a:r>
            <a:r>
              <a:rPr lang="en-US" sz="1600" b="1" kern="0">
                <a:latin typeface="Arial"/>
                <a:ea typeface="黑体"/>
                <a:cs typeface="Arial"/>
              </a:rPr>
              <a:t>H</a:t>
            </a:r>
            <a:r>
              <a:rPr lang="en-US" sz="800" b="1" kern="0">
                <a:latin typeface="Arial"/>
                <a:ea typeface="黑体"/>
                <a:cs typeface="Arial"/>
              </a:rPr>
              <a:t>0 </a:t>
            </a:r>
            <a:r>
              <a:rPr lang="en-US" sz="1600" kern="0">
                <a:latin typeface="Arial"/>
                <a:ea typeface="黑体"/>
                <a:cs typeface="Arial"/>
              </a:rPr>
              <a:t>at 95% confidence level</a:t>
            </a:r>
            <a:endParaRPr lang="en-US">
              <a:cs typeface="Arial" pitchFamily="34" charset="0"/>
            </a:endParaRPr>
          </a:p>
          <a:p>
            <a:pPr marL="227965" indent="-227965"/>
            <a:r>
              <a:rPr lang="en-US" sz="1600" kern="0">
                <a:latin typeface="Arial"/>
                <a:ea typeface="黑体"/>
                <a:cs typeface="Arial"/>
              </a:rPr>
              <a:t>Higher addiction scores, daily usage, and frequent conflicts are </a:t>
            </a:r>
            <a:r>
              <a:rPr lang="en-US" sz="1600" b="1" kern="0">
                <a:latin typeface="Arial"/>
                <a:ea typeface="黑体"/>
                <a:cs typeface="Arial"/>
              </a:rPr>
              <a:t>significantly associated </a:t>
            </a:r>
            <a:r>
              <a:rPr lang="en-US" sz="1600" kern="0">
                <a:latin typeface="Arial"/>
                <a:ea typeface="黑体"/>
                <a:cs typeface="Arial"/>
              </a:rPr>
              <a:t>with a reported </a:t>
            </a:r>
            <a:r>
              <a:rPr lang="en-US" sz="1600" b="1" kern="0">
                <a:latin typeface="Arial"/>
                <a:ea typeface="黑体"/>
                <a:cs typeface="Arial"/>
              </a:rPr>
              <a:t>negative impact </a:t>
            </a:r>
            <a:r>
              <a:rPr lang="en-US" sz="1600" kern="0">
                <a:latin typeface="Arial"/>
                <a:ea typeface="黑体"/>
                <a:cs typeface="Arial"/>
              </a:rPr>
              <a:t>on academic performance. </a:t>
            </a:r>
            <a:endParaRPr lang="en-US">
              <a:cs typeface="Arial" pitchFamily="34" charset="0"/>
            </a:endParaRPr>
          </a:p>
          <a:p>
            <a:pPr marL="227965" indent="-227965"/>
            <a:r>
              <a:rPr lang="en-US" sz="1600" kern="0">
                <a:latin typeface="Arial"/>
                <a:ea typeface="黑体"/>
                <a:cs typeface="Arial"/>
              </a:rPr>
              <a:t>Lower mental health scores and reduced sleep duration are also </a:t>
            </a:r>
            <a:r>
              <a:rPr lang="en-US" sz="1600" b="1" kern="0">
                <a:latin typeface="Arial"/>
                <a:ea typeface="黑体"/>
                <a:cs typeface="Arial"/>
              </a:rPr>
              <a:t>significantly associated </a:t>
            </a:r>
            <a:r>
              <a:rPr lang="en-US" sz="1600" kern="0">
                <a:latin typeface="Arial"/>
                <a:ea typeface="黑体"/>
                <a:cs typeface="Arial"/>
              </a:rPr>
              <a:t>with a reported </a:t>
            </a:r>
            <a:r>
              <a:rPr lang="en-US" sz="1600" b="1" kern="0">
                <a:latin typeface="Arial"/>
                <a:ea typeface="黑体"/>
                <a:cs typeface="Arial"/>
              </a:rPr>
              <a:t>negative impact </a:t>
            </a:r>
            <a:r>
              <a:rPr lang="en-US" sz="1600" kern="0">
                <a:latin typeface="Arial"/>
                <a:ea typeface="黑体"/>
                <a:cs typeface="Arial"/>
              </a:rPr>
              <a:t>on academic performance.</a:t>
            </a:r>
            <a:endParaRPr lang="en-US">
              <a:cs typeface="Arial" pitchFamily="34" charset="0"/>
            </a:endParaRPr>
          </a:p>
        </p:txBody>
      </p:sp>
      <p:pic>
        <p:nvPicPr>
          <p:cNvPr id="12" name="Content Placeholder 11">
            <a:extLst>
              <a:ext uri="{FF2B5EF4-FFF2-40B4-BE49-F238E27FC236}">
                <a16:creationId xmlns:a16="http://schemas.microsoft.com/office/drawing/2014/main" id="{CD11BEAA-3EDB-4D80-2325-2D425917C670}"/>
              </a:ext>
            </a:extLst>
          </p:cNvPr>
          <p:cNvPicPr>
            <a:picLocks noGrp="1" noChangeAspect="1"/>
          </p:cNvPicPr>
          <p:nvPr>
            <p:ph idx="13"/>
          </p:nvPr>
        </p:nvPicPr>
        <p:blipFill>
          <a:blip r:embed="rId5">
            <a:extLst>
              <a:ext uri="{96DAC541-7B7A-43D3-8B79-37D633B846F1}">
                <asvg:svgBlip xmlns:asvg="http://schemas.microsoft.com/office/drawing/2016/SVG/main" r:embed="rId6"/>
              </a:ext>
            </a:extLst>
          </a:blip>
          <a:stretch>
            <a:fillRect/>
          </a:stretch>
        </p:blipFill>
        <p:spPr>
          <a:xfrm>
            <a:off x="5826744" y="1513129"/>
            <a:ext cx="5967698" cy="2586002"/>
          </a:xfrm>
        </p:spPr>
      </p:pic>
      <p:pic>
        <p:nvPicPr>
          <p:cNvPr id="8" name="Graphic 7" descr="Arrow: Slight curve with solid fill">
            <a:extLst>
              <a:ext uri="{FF2B5EF4-FFF2-40B4-BE49-F238E27FC236}">
                <a16:creationId xmlns:a16="http://schemas.microsoft.com/office/drawing/2014/main" id="{04C50042-9967-8C8A-F640-80C0953651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3548" y="4837063"/>
            <a:ext cx="914400" cy="914400"/>
          </a:xfrm>
          <a:prstGeom prst="rect">
            <a:avLst/>
          </a:prstGeom>
        </p:spPr>
      </p:pic>
    </p:spTree>
    <p:extLst>
      <p:ext uri="{BB962C8B-B14F-4D97-AF65-F5344CB8AC3E}">
        <p14:creationId xmlns:p14="http://schemas.microsoft.com/office/powerpoint/2010/main" val="1398414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02AB35-95B2-2FE8-18B8-30570B45C2CF}"/>
              </a:ext>
            </a:extLst>
          </p:cNvPr>
          <p:cNvSpPr>
            <a:spLocks noGrp="1"/>
          </p:cNvSpPr>
          <p:nvPr>
            <p:ph type="title"/>
          </p:nvPr>
        </p:nvSpPr>
        <p:spPr>
          <a:xfrm>
            <a:off x="620418" y="627473"/>
            <a:ext cx="10668000" cy="447330"/>
          </a:xfrm>
        </p:spPr>
        <p:txBody>
          <a:bodyPr/>
          <a:lstStyle/>
          <a:p>
            <a:r>
              <a:rPr lang="en-GB">
                <a:latin typeface="Arial"/>
                <a:ea typeface="SimHei"/>
                <a:cs typeface="Arial"/>
              </a:rPr>
              <a:t>Which factors best predict academic harm together?</a:t>
            </a:r>
            <a:endParaRPr lang="en-US"/>
          </a:p>
        </p:txBody>
      </p:sp>
      <p:sp>
        <p:nvSpPr>
          <p:cNvPr id="4" name="Slide Number Placeholder 3">
            <a:extLst>
              <a:ext uri="{FF2B5EF4-FFF2-40B4-BE49-F238E27FC236}">
                <a16:creationId xmlns:a16="http://schemas.microsoft.com/office/drawing/2014/main" id="{1476B8BB-8AD7-2A29-9E4F-AFC8FA96BF5F}"/>
              </a:ext>
            </a:extLst>
          </p:cNvPr>
          <p:cNvSpPr>
            <a:spLocks noGrp="1"/>
          </p:cNvSpPr>
          <p:nvPr>
            <p:ph type="sldNum" sz="quarter" idx="11"/>
          </p:nvPr>
        </p:nvSpPr>
        <p:spPr/>
        <p:txBody>
          <a:bodyPr/>
          <a:lstStyle/>
          <a:p>
            <a:fld id="{2DA035EE-A575-442D-B43B-59075C422C34}" type="slidenum">
              <a:rPr lang="zh-CN" altLang="en-US" smtClean="0"/>
              <a:t>17</a:t>
            </a:fld>
            <a:endParaRPr lang="zh-CN" altLang="en-US"/>
          </a:p>
        </p:txBody>
      </p:sp>
      <p:sp>
        <p:nvSpPr>
          <p:cNvPr id="14" name="Content Placeholder 13">
            <a:extLst>
              <a:ext uri="{FF2B5EF4-FFF2-40B4-BE49-F238E27FC236}">
                <a16:creationId xmlns:a16="http://schemas.microsoft.com/office/drawing/2014/main" id="{FE23C645-EF43-1DBD-D6D3-AC78213C94AE}"/>
              </a:ext>
            </a:extLst>
          </p:cNvPr>
          <p:cNvSpPr>
            <a:spLocks noGrp="1"/>
          </p:cNvSpPr>
          <p:nvPr>
            <p:ph idx="13"/>
          </p:nvPr>
        </p:nvSpPr>
        <p:spPr>
          <a:xfrm>
            <a:off x="775143" y="1077146"/>
            <a:ext cx="6907188" cy="445252"/>
          </a:xfrm>
        </p:spPr>
        <p:txBody>
          <a:bodyPr/>
          <a:lstStyle/>
          <a:p>
            <a:pPr marL="0" indent="0" algn="ctr">
              <a:buNone/>
            </a:pPr>
            <a:r>
              <a:rPr lang="en-US" sz="1400">
                <a:latin typeface="Arial"/>
                <a:ea typeface="黑体"/>
                <a:cs typeface="Arial"/>
              </a:rPr>
              <a:t>Odds of Negative Academic Impact (Yes = Performance Harmed)</a:t>
            </a:r>
            <a:endParaRPr lang="en-US"/>
          </a:p>
        </p:txBody>
      </p:sp>
      <p:sp>
        <p:nvSpPr>
          <p:cNvPr id="17" name="Content Placeholder 13">
            <a:extLst>
              <a:ext uri="{FF2B5EF4-FFF2-40B4-BE49-F238E27FC236}">
                <a16:creationId xmlns:a16="http://schemas.microsoft.com/office/drawing/2014/main" id="{334D29F0-E857-024F-FA2C-CC1059BAB10A}"/>
              </a:ext>
            </a:extLst>
          </p:cNvPr>
          <p:cNvSpPr txBox="1">
            <a:spLocks/>
          </p:cNvSpPr>
          <p:nvPr/>
        </p:nvSpPr>
        <p:spPr bwMode="auto">
          <a:xfrm>
            <a:off x="7865291" y="1079176"/>
            <a:ext cx="3232567" cy="138015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594" indent="-228594"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lang="en-US" altLang="zh-CN" sz="1800" baseline="0" dirty="0">
                <a:solidFill>
                  <a:schemeClr val="tx1"/>
                </a:solidFill>
                <a:latin typeface="Arial" pitchFamily="34" charset="0"/>
                <a:ea typeface="黑体" pitchFamily="2" charset="-122"/>
                <a:cs typeface="+mn-cs"/>
              </a:defRPr>
            </a:lvl2pPr>
            <a:lvl3pPr marL="809605" indent="-230182"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algn="ctr">
              <a:buNone/>
            </a:pPr>
            <a:r>
              <a:rPr lang="en-US" sz="1400" kern="0" dirty="0">
                <a:latin typeface="Arial"/>
                <a:ea typeface="黑体"/>
                <a:cs typeface="Arial"/>
              </a:rPr>
              <a:t>Interpreting Odds Ratios (OR):</a:t>
            </a:r>
          </a:p>
          <a:p>
            <a:pPr marL="0" indent="0" algn="just">
              <a:buNone/>
            </a:pPr>
            <a:r>
              <a:rPr lang="en-US" sz="1400" kern="0" dirty="0">
                <a:latin typeface="Arial"/>
                <a:ea typeface="黑体"/>
                <a:cs typeface="Arial"/>
              </a:rPr>
              <a:t>the OR tells us </a:t>
            </a:r>
            <a:r>
              <a:rPr lang="en-US" sz="1400" b="1" kern="0" dirty="0">
                <a:latin typeface="Arial"/>
                <a:ea typeface="黑体"/>
                <a:cs typeface="Arial"/>
              </a:rPr>
              <a:t>how the odds of reporting academic impact</a:t>
            </a:r>
            <a:r>
              <a:rPr lang="en-US" sz="1400" kern="0" dirty="0">
                <a:latin typeface="Arial"/>
                <a:ea typeface="黑体"/>
                <a:cs typeface="Arial"/>
              </a:rPr>
              <a:t> change for one-unit increase in a predictor, while holding other constants</a:t>
            </a:r>
          </a:p>
        </p:txBody>
      </p:sp>
      <p:sp>
        <p:nvSpPr>
          <p:cNvPr id="7" name="TextBox 6">
            <a:extLst>
              <a:ext uri="{FF2B5EF4-FFF2-40B4-BE49-F238E27FC236}">
                <a16:creationId xmlns:a16="http://schemas.microsoft.com/office/drawing/2014/main" id="{8DA3B9C3-450E-C090-E639-1778D3D35E98}"/>
              </a:ext>
            </a:extLst>
          </p:cNvPr>
          <p:cNvSpPr txBox="1"/>
          <p:nvPr/>
        </p:nvSpPr>
        <p:spPr>
          <a:xfrm>
            <a:off x="618932" y="5537200"/>
            <a:ext cx="1096490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7965" indent="-227965">
              <a:buFont typeface="Wingdings,Sans-Serif"/>
              <a:buChar char="§"/>
            </a:pPr>
            <a:r>
              <a:rPr lang="en-US" sz="1600" baseline="0" dirty="0">
                <a:solidFill>
                  <a:srgbClr val="3B3B3B"/>
                </a:solidFill>
                <a:latin typeface="Arial"/>
                <a:ea typeface="Arial"/>
                <a:cs typeface="Arial"/>
              </a:rPr>
              <a:t>In this dataset, </a:t>
            </a:r>
            <a:r>
              <a:rPr lang="en-US" sz="1600" baseline="0" dirty="0" err="1">
                <a:solidFill>
                  <a:srgbClr val="3B3B3B"/>
                </a:solidFill>
                <a:latin typeface="Consolas"/>
                <a:ea typeface="Arial"/>
                <a:cs typeface="Arial"/>
              </a:rPr>
              <a:t>Conflicts_Over_Social_Media</a:t>
            </a:r>
            <a:r>
              <a:rPr lang="en-US" sz="1600" baseline="0" dirty="0">
                <a:solidFill>
                  <a:srgbClr val="3B3B3B"/>
                </a:solidFill>
                <a:latin typeface="Arial"/>
                <a:ea typeface="Arial"/>
                <a:cs typeface="Arial"/>
              </a:rPr>
              <a:t> has the largest OR</a:t>
            </a:r>
            <a:r>
              <a:rPr lang="en-US" sz="1600" dirty="0">
                <a:solidFill>
                  <a:srgbClr val="3B3B3B"/>
                </a:solidFill>
                <a:latin typeface="Arial"/>
                <a:ea typeface="Arial"/>
                <a:cs typeface="Arial"/>
              </a:rPr>
              <a:t> </a:t>
            </a:r>
            <a:r>
              <a:rPr lang="en-US" sz="1600" baseline="0" dirty="0">
                <a:solidFill>
                  <a:srgbClr val="3B3B3B"/>
                </a:solidFill>
                <a:latin typeface="Arial"/>
                <a:ea typeface="Arial"/>
                <a:cs typeface="Arial"/>
              </a:rPr>
              <a:t>(strongest positive association with reporting academic impact).</a:t>
            </a:r>
            <a:r>
              <a:rPr lang="en-US" sz="1600" dirty="0">
                <a:solidFill>
                  <a:srgbClr val="262626"/>
                </a:solidFill>
                <a:latin typeface="Arial"/>
                <a:ea typeface="Arial"/>
                <a:cs typeface="Arial"/>
              </a:rPr>
              <a:t>​</a:t>
            </a:r>
          </a:p>
          <a:p>
            <a:pPr marL="227965" indent="-227965">
              <a:buFont typeface="Wingdings,Sans-Serif"/>
              <a:buChar char="§"/>
            </a:pPr>
            <a:r>
              <a:rPr lang="en-US" sz="1600" baseline="0" dirty="0">
                <a:solidFill>
                  <a:srgbClr val="3B3B3B"/>
                </a:solidFill>
                <a:latin typeface="Arial"/>
                <a:ea typeface="Arial"/>
                <a:cs typeface="Arial"/>
              </a:rPr>
              <a:t>Many CIs are wide and some cross OR=1, so those effects are </a:t>
            </a:r>
            <a:r>
              <a:rPr lang="en-US" sz="1600" dirty="0">
                <a:solidFill>
                  <a:srgbClr val="3B3B3B"/>
                </a:solidFill>
                <a:latin typeface="Arial"/>
                <a:ea typeface="Arial"/>
                <a:cs typeface="Arial"/>
              </a:rPr>
              <a:t>uncertain in</a:t>
            </a:r>
            <a:r>
              <a:rPr lang="en-US" sz="1600" baseline="0" dirty="0">
                <a:solidFill>
                  <a:srgbClr val="3B3B3B"/>
                </a:solidFill>
                <a:latin typeface="Arial"/>
                <a:ea typeface="Arial"/>
                <a:cs typeface="Arial"/>
              </a:rPr>
              <a:t> the multivariable model.</a:t>
            </a:r>
            <a:r>
              <a:rPr lang="en-US" sz="1600" dirty="0">
                <a:solidFill>
                  <a:srgbClr val="262626"/>
                </a:solidFill>
                <a:latin typeface="Arial"/>
                <a:ea typeface="Arial"/>
                <a:cs typeface="Arial"/>
              </a:rPr>
              <a:t>​</a:t>
            </a:r>
          </a:p>
          <a:p>
            <a:pPr rtl="0"/>
            <a:r>
              <a:rPr lang="en-US" sz="1600" dirty="0">
                <a:solidFill>
                  <a:srgbClr val="262626"/>
                </a:solidFill>
                <a:latin typeface="Arial"/>
                <a:ea typeface="Segoe UI"/>
                <a:cs typeface="Segoe UI"/>
              </a:rPr>
              <a:t>​</a:t>
            </a:r>
          </a:p>
          <a:p>
            <a:pPr algn="ctr"/>
            <a:endParaRPr lang="en-US" sz="1600">
              <a:cs typeface="Arial"/>
            </a:endParaRPr>
          </a:p>
        </p:txBody>
      </p:sp>
      <p:pic>
        <p:nvPicPr>
          <p:cNvPr id="6" name="Picture 5">
            <a:extLst>
              <a:ext uri="{FF2B5EF4-FFF2-40B4-BE49-F238E27FC236}">
                <a16:creationId xmlns:a16="http://schemas.microsoft.com/office/drawing/2014/main" id="{DF3D35C7-5B34-8F43-2CC7-32D2B2DB7BCD}"/>
              </a:ext>
            </a:extLst>
          </p:cNvPr>
          <p:cNvPicPr>
            <a:picLocks noChangeAspect="1"/>
          </p:cNvPicPr>
          <p:nvPr/>
        </p:nvPicPr>
        <p:blipFill>
          <a:blip r:embed="rId4"/>
          <a:srcRect t="4933" r="119" b="190"/>
          <a:stretch>
            <a:fillRect/>
          </a:stretch>
        </p:blipFill>
        <p:spPr>
          <a:xfrm>
            <a:off x="766565" y="1310199"/>
            <a:ext cx="7093838" cy="4227442"/>
          </a:xfrm>
          <a:prstGeom prst="rect">
            <a:avLst/>
          </a:prstGeom>
        </p:spPr>
      </p:pic>
      <p:sp>
        <p:nvSpPr>
          <p:cNvPr id="2" name="Content Placeholder 13">
            <a:extLst>
              <a:ext uri="{FF2B5EF4-FFF2-40B4-BE49-F238E27FC236}">
                <a16:creationId xmlns:a16="http://schemas.microsoft.com/office/drawing/2014/main" id="{45BABE73-5305-4A4A-ED12-11A0AFE527C8}"/>
              </a:ext>
            </a:extLst>
          </p:cNvPr>
          <p:cNvSpPr txBox="1">
            <a:spLocks/>
          </p:cNvSpPr>
          <p:nvPr/>
        </p:nvSpPr>
        <p:spPr bwMode="auto">
          <a:xfrm>
            <a:off x="8076308" y="2461807"/>
            <a:ext cx="3017219" cy="28599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594" indent="-228594"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1pPr>
            <a:lvl2pPr marL="579424" indent="-350830" algn="l" rtl="0" eaLnBrk="1" fontAlgn="base" hangingPunct="1">
              <a:spcBef>
                <a:spcPct val="20000"/>
              </a:spcBef>
              <a:spcAft>
                <a:spcPct val="0"/>
              </a:spcAft>
              <a:buClr>
                <a:srgbClr val="743481"/>
              </a:buClr>
              <a:buSzPct val="140000"/>
              <a:buFont typeface="System Font Regular"/>
              <a:buChar char="－"/>
              <a:tabLst/>
              <a:defRPr lang="en-US" altLang="zh-CN" sz="1800" baseline="0" dirty="0">
                <a:solidFill>
                  <a:schemeClr val="tx1"/>
                </a:solidFill>
                <a:latin typeface="Arial" pitchFamily="34" charset="0"/>
                <a:ea typeface="黑体" pitchFamily="2" charset="-122"/>
                <a:cs typeface="+mn-cs"/>
              </a:defRPr>
            </a:lvl2pPr>
            <a:lvl3pPr marL="809605" indent="-230182" algn="l" rtl="0" eaLnBrk="1" fontAlgn="base" hangingPunct="1">
              <a:spcBef>
                <a:spcPct val="20000"/>
              </a:spcBef>
              <a:spcAft>
                <a:spcPct val="0"/>
              </a:spcAft>
              <a:buClr>
                <a:srgbClr val="743481"/>
              </a:buClr>
              <a:buFont typeface="Wingdings" pitchFamily="2" charset="2"/>
              <a:buChar char="§"/>
              <a:tabLst/>
              <a:defRPr lang="en-US" altLang="zh-CN" sz="1800" baseline="0" dirty="0">
                <a:solidFill>
                  <a:schemeClr val="tx1"/>
                </a:solidFill>
                <a:latin typeface="Arial" pitchFamily="34" charset="0"/>
                <a:ea typeface="黑体" pitchFamily="2" charset="-122"/>
                <a:cs typeface="+mn-cs"/>
              </a:defRPr>
            </a:lvl3pPr>
            <a:lvl4pPr marL="1693820" indent="-387341" algn="l" rtl="0" eaLnBrk="1" fontAlgn="base" hangingPunct="1">
              <a:spcBef>
                <a:spcPct val="20000"/>
              </a:spcBef>
              <a:spcAft>
                <a:spcPct val="0"/>
              </a:spcAft>
              <a:buClr>
                <a:srgbClr val="7030A0"/>
              </a:buClr>
              <a:buFont typeface="Wingdings" pitchFamily="2" charset="2"/>
              <a:buChar char="n"/>
              <a:defRPr baseline="0">
                <a:solidFill>
                  <a:schemeClr val="tx1"/>
                </a:solidFill>
                <a:latin typeface="Arial" pitchFamily="34" charset="0"/>
                <a:ea typeface="黑体" pitchFamily="2" charset="-122"/>
              </a:defRPr>
            </a:lvl4pPr>
            <a:lvl5pPr marL="2093861" indent="-398453" algn="l" rtl="0" eaLnBrk="1" fontAlgn="base" hangingPunct="1">
              <a:spcBef>
                <a:spcPct val="25000"/>
              </a:spcBef>
              <a:spcAft>
                <a:spcPct val="0"/>
              </a:spcAft>
              <a:buClr>
                <a:srgbClr val="7030A0"/>
              </a:buClr>
              <a:buFont typeface="Wingdings" pitchFamily="2" charset="2"/>
              <a:buChar char="§"/>
              <a:defRPr baseline="0">
                <a:solidFill>
                  <a:schemeClr val="tx1"/>
                </a:solidFill>
                <a:latin typeface="Arial" pitchFamily="34" charset="0"/>
                <a:ea typeface="黑体" pitchFamily="2" charset="-122"/>
              </a:defRPr>
            </a:lvl5pPr>
            <a:lvl6pPr marL="2551050"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238"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427"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615" indent="-39845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227965" indent="-227965" algn="just">
              <a:buFont typeface="Wingdings"/>
              <a:buChar char="§"/>
            </a:pPr>
            <a:r>
              <a:rPr lang="en-US" sz="1400" b="1" kern="0">
                <a:latin typeface="Arial"/>
                <a:ea typeface="黑体"/>
                <a:cs typeface="Arial"/>
              </a:rPr>
              <a:t>Conflicts over social media: </a:t>
            </a:r>
            <a:endParaRPr lang="en-US" sz="1400" b="1" kern="0">
              <a:cs typeface="Arial"/>
            </a:endParaRPr>
          </a:p>
          <a:p>
            <a:pPr marL="228600" indent="0">
              <a:buNone/>
            </a:pPr>
            <a:r>
              <a:rPr lang="en-US" sz="1400" kern="0">
                <a:latin typeface="Arial"/>
                <a:ea typeface="黑体"/>
                <a:cs typeface="Arial"/>
              </a:rPr>
              <a:t>Highest odds of harm (OR = 50). Strongest risk.</a:t>
            </a:r>
            <a:endParaRPr lang="en-US" sz="1400" kern="0">
              <a:cs typeface="Arial"/>
            </a:endParaRPr>
          </a:p>
          <a:p>
            <a:pPr marL="171450" indent="-171450" algn="just">
              <a:buNone/>
            </a:pPr>
            <a:endParaRPr lang="en-US" sz="1400" kern="0">
              <a:latin typeface="Arial"/>
              <a:ea typeface="黑体"/>
              <a:cs typeface="Arial"/>
            </a:endParaRPr>
          </a:p>
          <a:p>
            <a:pPr marL="227965" indent="-227965" algn="just">
              <a:buFont typeface="Wingdings"/>
              <a:buChar char="§"/>
            </a:pPr>
            <a:r>
              <a:rPr lang="en-US" sz="1400" b="1" kern="0">
                <a:latin typeface="Arial"/>
                <a:ea typeface="黑体"/>
                <a:cs typeface="Arial"/>
              </a:rPr>
              <a:t>Mental health:</a:t>
            </a:r>
            <a:r>
              <a:rPr lang="en-US" sz="1400" kern="0">
                <a:latin typeface="Arial"/>
                <a:ea typeface="黑体"/>
                <a:cs typeface="Arial"/>
              </a:rPr>
              <a:t> </a:t>
            </a:r>
            <a:endParaRPr lang="en-US" sz="1400" kern="0">
              <a:cs typeface="Arial"/>
            </a:endParaRPr>
          </a:p>
          <a:p>
            <a:pPr marL="228600" indent="0">
              <a:buNone/>
            </a:pPr>
            <a:r>
              <a:rPr lang="en-US" sz="1400" kern="0">
                <a:latin typeface="Arial"/>
                <a:ea typeface="黑体"/>
                <a:cs typeface="Arial"/>
              </a:rPr>
              <a:t>Better scores, much lower odds of harm (OR = 0,23). </a:t>
            </a:r>
            <a:endParaRPr lang="en-US" sz="1400">
              <a:cs typeface="Arial"/>
            </a:endParaRPr>
          </a:p>
          <a:p>
            <a:pPr marL="228600" indent="0">
              <a:buNone/>
            </a:pPr>
            <a:r>
              <a:rPr lang="en-US" sz="1400" kern="0">
                <a:latin typeface="Arial"/>
                <a:ea typeface="黑体"/>
                <a:cs typeface="Arial"/>
              </a:rPr>
              <a:t>Strongly protective.</a:t>
            </a:r>
            <a:endParaRPr lang="en-US" sz="1400">
              <a:cs typeface="Arial"/>
            </a:endParaRPr>
          </a:p>
          <a:p>
            <a:pPr marL="0" indent="0" algn="just">
              <a:buNone/>
            </a:pPr>
            <a:endParaRPr lang="en-US" sz="1400">
              <a:cs typeface="Arial"/>
            </a:endParaRPr>
          </a:p>
          <a:p>
            <a:pPr marL="227965" indent="-227965" algn="just">
              <a:buFont typeface="Wingdings"/>
              <a:buChar char="§"/>
            </a:pPr>
            <a:r>
              <a:rPr lang="en-US" sz="1400" b="1" kern="0">
                <a:latin typeface="Arial"/>
                <a:ea typeface="黑体"/>
                <a:cs typeface="Arial"/>
              </a:rPr>
              <a:t>Age:</a:t>
            </a:r>
            <a:r>
              <a:rPr lang="en-US" sz="1400" kern="0">
                <a:latin typeface="Arial"/>
                <a:ea typeface="黑体"/>
                <a:cs typeface="Arial"/>
              </a:rPr>
              <a:t> </a:t>
            </a:r>
            <a:endParaRPr lang="en-US" sz="1400">
              <a:latin typeface="Arial"/>
              <a:ea typeface="黑体"/>
              <a:cs typeface="Arial"/>
            </a:endParaRPr>
          </a:p>
          <a:p>
            <a:pPr marL="0" indent="228600" algn="just">
              <a:buNone/>
            </a:pPr>
            <a:r>
              <a:rPr lang="en-US" sz="1400" kern="0">
                <a:latin typeface="Arial"/>
                <a:ea typeface="黑体"/>
                <a:cs typeface="Arial"/>
              </a:rPr>
              <a:t>no clear independent association </a:t>
            </a:r>
            <a:endParaRPr lang="en-US" sz="1400" kern="0">
              <a:cs typeface="Arial"/>
            </a:endParaRPr>
          </a:p>
        </p:txBody>
      </p:sp>
    </p:spTree>
    <p:extLst>
      <p:ext uri="{BB962C8B-B14F-4D97-AF65-F5344CB8AC3E}">
        <p14:creationId xmlns:p14="http://schemas.microsoft.com/office/powerpoint/2010/main" val="210749746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2622-703B-7557-3E9B-3E392CC94A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354E8D-E151-D306-4C82-F4B32E6EA94C}"/>
              </a:ext>
            </a:extLst>
          </p:cNvPr>
          <p:cNvSpPr/>
          <p:nvPr/>
        </p:nvSpPr>
        <p:spPr>
          <a:xfrm>
            <a:off x="4544964" y="4358566"/>
            <a:ext cx="5660919" cy="462116"/>
          </a:xfrm>
          <a:prstGeom prst="rect">
            <a:avLst/>
          </a:prstGeom>
          <a:solidFill>
            <a:srgbClr val="7434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96B9F75A-5E4A-45EC-E8AF-66736F30C4D9}"/>
              </a:ext>
            </a:extLst>
          </p:cNvPr>
          <p:cNvSpPr txBox="1"/>
          <p:nvPr/>
        </p:nvSpPr>
        <p:spPr>
          <a:xfrm>
            <a:off x="4544965" y="1486801"/>
            <a:ext cx="5255807" cy="3330399"/>
          </a:xfrm>
          <a:prstGeom prst="rect">
            <a:avLst/>
          </a:prstGeom>
          <a:noFill/>
          <a:ln>
            <a:solidFill>
              <a:schemeClr val="bg1"/>
            </a:solidFill>
          </a:ln>
        </p:spPr>
        <p:txBody>
          <a:bodyPr wrap="square" lIns="91440" tIns="45720" rIns="91440" bIns="45720" rtlCol="0" anchor="t">
            <a:spAutoFit/>
          </a:bodyPr>
          <a:lstStyle/>
          <a:p>
            <a:pPr marL="342900" indent="-342900">
              <a:lnSpc>
                <a:spcPct val="200000"/>
              </a:lnSpc>
              <a:buFont typeface="+mj-lt"/>
              <a:buAutoNum type="arabicPeriod"/>
            </a:pPr>
            <a:r>
              <a:rPr lang="en-US">
                <a:ea typeface="SimHei"/>
              </a:rPr>
              <a:t>Introduction</a:t>
            </a:r>
          </a:p>
          <a:p>
            <a:pPr marL="342900" indent="-342900">
              <a:lnSpc>
                <a:spcPct val="200000"/>
              </a:lnSpc>
              <a:buAutoNum type="arabicPeriod"/>
            </a:pPr>
            <a:r>
              <a:rPr lang="en-US">
                <a:ea typeface="SimHei"/>
              </a:rPr>
              <a:t>Correlation analysis </a:t>
            </a:r>
            <a:endParaRPr lang="en-US">
              <a:ea typeface="SimHei"/>
              <a:cs typeface="Arial"/>
            </a:endParaRPr>
          </a:p>
          <a:p>
            <a:pPr marL="342900" indent="-342900">
              <a:lnSpc>
                <a:spcPct val="200000"/>
              </a:lnSpc>
              <a:buFont typeface="+mj-lt"/>
              <a:buAutoNum type="arabicPeriod"/>
            </a:pPr>
            <a:r>
              <a:rPr lang="en-GB" altLang="en-US"/>
              <a:t>Sunshine's Impact on Addiction</a:t>
            </a:r>
            <a:endParaRPr lang="en-GB" altLang="en-US">
              <a:cs typeface="Arial"/>
            </a:endParaRPr>
          </a:p>
          <a:p>
            <a:pPr marL="342900" indent="-342900">
              <a:lnSpc>
                <a:spcPct val="200000"/>
              </a:lnSpc>
              <a:buFont typeface="+mj-lt"/>
              <a:buAutoNum type="arabicPeriod"/>
            </a:pPr>
            <a:r>
              <a:rPr lang="en-GB">
                <a:ea typeface="SimHei"/>
              </a:rPr>
              <a:t>Social Media Platform Comparison</a:t>
            </a:r>
            <a:endParaRPr lang="en-US">
              <a:ea typeface="SimHei"/>
              <a:cs typeface="Arial"/>
            </a:endParaRPr>
          </a:p>
          <a:p>
            <a:pPr marL="342900" indent="-342900">
              <a:lnSpc>
                <a:spcPct val="200000"/>
              </a:lnSpc>
              <a:buFont typeface="+mj-lt"/>
              <a:buAutoNum type="arabicPeriod"/>
            </a:pPr>
            <a:r>
              <a:rPr lang="en-US" altLang="zh-CN"/>
              <a:t>Academic Performance</a:t>
            </a:r>
            <a:endParaRPr lang="en-US" altLang="zh-CN">
              <a:cs typeface="Arial"/>
            </a:endParaRPr>
          </a:p>
          <a:p>
            <a:pPr marL="342900" indent="-342900">
              <a:lnSpc>
                <a:spcPct val="200000"/>
              </a:lnSpc>
              <a:buFont typeface="+mj-lt"/>
              <a:buAutoNum type="arabicPeriod"/>
            </a:pPr>
            <a:r>
              <a:rPr lang="en-US" altLang="zh-CN">
                <a:solidFill>
                  <a:schemeClr val="bg1"/>
                </a:solidFill>
              </a:rPr>
              <a:t>Conclusion</a:t>
            </a:r>
            <a:endParaRPr lang="en-US" altLang="zh-CN">
              <a:solidFill>
                <a:schemeClr val="bg1"/>
              </a:solidFill>
              <a:cs typeface="Arial"/>
            </a:endParaRPr>
          </a:p>
        </p:txBody>
      </p:sp>
    </p:spTree>
    <p:extLst>
      <p:ext uri="{BB962C8B-B14F-4D97-AF65-F5344CB8AC3E}">
        <p14:creationId xmlns:p14="http://schemas.microsoft.com/office/powerpoint/2010/main" val="3767127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90FD-0776-20FE-DF27-BE5A1B8A0174}"/>
            </a:ext>
          </a:extLst>
        </p:cNvPr>
        <p:cNvGrpSpPr/>
        <p:nvPr/>
      </p:nvGrpSpPr>
      <p:grpSpPr>
        <a:xfrm>
          <a:off x="0" y="0"/>
          <a:ext cx="0" cy="0"/>
          <a:chOff x="0" y="0"/>
          <a:chExt cx="0" cy="0"/>
        </a:xfrm>
      </p:grpSpPr>
      <p:pic>
        <p:nvPicPr>
          <p:cNvPr id="34" name="Picture 33" descr="A paper with a checklist and a red mark&#10;&#10;AI-generated content may be incorrect.">
            <a:extLst>
              <a:ext uri="{FF2B5EF4-FFF2-40B4-BE49-F238E27FC236}">
                <a16:creationId xmlns:a16="http://schemas.microsoft.com/office/drawing/2014/main" id="{611314B3-6399-2166-9570-31F44EEF2116}"/>
              </a:ext>
            </a:extLst>
          </p:cNvPr>
          <p:cNvPicPr>
            <a:picLocks noChangeAspect="1"/>
          </p:cNvPicPr>
          <p:nvPr/>
        </p:nvPicPr>
        <p:blipFill>
          <a:blip r:embed="rId2">
            <a:biLevel thresh="75000"/>
          </a:blip>
          <a:stretch>
            <a:fillRect/>
          </a:stretch>
        </p:blipFill>
        <p:spPr>
          <a:xfrm>
            <a:off x="8860783" y="1688865"/>
            <a:ext cx="2003322" cy="2003322"/>
          </a:xfrm>
          <a:prstGeom prst="rect">
            <a:avLst/>
          </a:prstGeom>
        </p:spPr>
      </p:pic>
      <p:sp>
        <p:nvSpPr>
          <p:cNvPr id="2" name="Title 1">
            <a:extLst>
              <a:ext uri="{FF2B5EF4-FFF2-40B4-BE49-F238E27FC236}">
                <a16:creationId xmlns:a16="http://schemas.microsoft.com/office/drawing/2014/main" id="{410710D0-33F4-8E97-E92D-32A90B54C193}"/>
              </a:ext>
            </a:extLst>
          </p:cNvPr>
          <p:cNvSpPr>
            <a:spLocks noGrp="1"/>
          </p:cNvSpPr>
          <p:nvPr>
            <p:ph type="title"/>
          </p:nvPr>
        </p:nvSpPr>
        <p:spPr>
          <a:xfrm>
            <a:off x="711203" y="767517"/>
            <a:ext cx="10668000" cy="447330"/>
          </a:xfrm>
        </p:spPr>
        <p:txBody>
          <a:bodyPr/>
          <a:lstStyle/>
          <a:p>
            <a:r>
              <a:rPr lang="es-MX" err="1">
                <a:latin typeface="Arial"/>
                <a:ea typeface="SimHei"/>
                <a:cs typeface="Arial"/>
              </a:rPr>
              <a:t>Conclusion</a:t>
            </a:r>
            <a:br>
              <a:rPr lang="es-MX">
                <a:latin typeface="Arial"/>
                <a:ea typeface="SimHei"/>
                <a:cs typeface="Arial"/>
              </a:rPr>
            </a:br>
            <a:r>
              <a:rPr lang="en-GB" sz="1800"/>
              <a:t>Key Drivers of Student Social Media Addiction and Academic Impact</a:t>
            </a:r>
            <a:endParaRPr lang="es-MX" sz="1800"/>
          </a:p>
        </p:txBody>
      </p:sp>
      <p:pic>
        <p:nvPicPr>
          <p:cNvPr id="10" name="Picture 9" descr="A yellow sun with rays of light&#10;&#10;AI-generated content may be incorrect.">
            <a:extLst>
              <a:ext uri="{FF2B5EF4-FFF2-40B4-BE49-F238E27FC236}">
                <a16:creationId xmlns:a16="http://schemas.microsoft.com/office/drawing/2014/main" id="{1347D806-E684-35AE-40B3-84472C43A026}"/>
              </a:ext>
            </a:extLst>
          </p:cNvPr>
          <p:cNvPicPr>
            <a:picLocks noChangeAspect="1"/>
          </p:cNvPicPr>
          <p:nvPr/>
        </p:nvPicPr>
        <p:blipFill>
          <a:blip r:embed="rId3"/>
          <a:stretch>
            <a:fillRect/>
          </a:stretch>
        </p:blipFill>
        <p:spPr>
          <a:xfrm>
            <a:off x="1327894" y="1688865"/>
            <a:ext cx="2003322" cy="2003322"/>
          </a:xfrm>
          <a:prstGeom prst="rect">
            <a:avLst/>
          </a:prstGeom>
        </p:spPr>
      </p:pic>
      <p:pic>
        <p:nvPicPr>
          <p:cNvPr id="12" name="Picture 11" descr="A cellphone with different colored circles&#10;&#10;AI-generated content may be incorrect.">
            <a:extLst>
              <a:ext uri="{FF2B5EF4-FFF2-40B4-BE49-F238E27FC236}">
                <a16:creationId xmlns:a16="http://schemas.microsoft.com/office/drawing/2014/main" id="{4E4343F8-E5AE-3F13-E83C-D71CBC5EC97E}"/>
              </a:ext>
            </a:extLst>
          </p:cNvPr>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5094339" y="1688865"/>
            <a:ext cx="2003322" cy="2003322"/>
          </a:xfrm>
          <a:prstGeom prst="rect">
            <a:avLst/>
          </a:prstGeom>
        </p:spPr>
      </p:pic>
      <p:sp>
        <p:nvSpPr>
          <p:cNvPr id="26" name="TextBox 25">
            <a:extLst>
              <a:ext uri="{FF2B5EF4-FFF2-40B4-BE49-F238E27FC236}">
                <a16:creationId xmlns:a16="http://schemas.microsoft.com/office/drawing/2014/main" id="{2397C7AB-4C4E-4988-72BF-CC73CE7F403B}"/>
              </a:ext>
            </a:extLst>
          </p:cNvPr>
          <p:cNvSpPr txBox="1"/>
          <p:nvPr/>
        </p:nvSpPr>
        <p:spPr>
          <a:xfrm>
            <a:off x="1809220" y="1874918"/>
            <a:ext cx="1040670" cy="1631216"/>
          </a:xfrm>
          <a:prstGeom prst="rect">
            <a:avLst/>
          </a:prstGeom>
          <a:noFill/>
        </p:spPr>
        <p:txBody>
          <a:bodyPr wrap="none" rtlCol="0">
            <a:spAutoFit/>
          </a:bodyPr>
          <a:lstStyle/>
          <a:p>
            <a:r>
              <a:rPr lang="es-MX" sz="10000">
                <a:solidFill>
                  <a:srgbClr val="FF0000"/>
                </a:solidFill>
              </a:rPr>
              <a:t>X</a:t>
            </a:r>
            <a:endParaRPr lang="en-GB" sz="10000">
              <a:solidFill>
                <a:srgbClr val="FF0000"/>
              </a:solidFill>
            </a:endParaRPr>
          </a:p>
        </p:txBody>
      </p:sp>
      <p:graphicFrame>
        <p:nvGraphicFramePr>
          <p:cNvPr id="35" name="Content Placeholder 7">
            <a:extLst>
              <a:ext uri="{FF2B5EF4-FFF2-40B4-BE49-F238E27FC236}">
                <a16:creationId xmlns:a16="http://schemas.microsoft.com/office/drawing/2014/main" id="{CF43FB55-D510-6964-DFB0-3DA20ABEC3EC}"/>
              </a:ext>
            </a:extLst>
          </p:cNvPr>
          <p:cNvGraphicFramePr>
            <a:graphicFrameLocks noGrp="1"/>
          </p:cNvGraphicFramePr>
          <p:nvPr>
            <p:ph idx="12"/>
            <p:extLst>
              <p:ext uri="{D42A27DB-BD31-4B8C-83A1-F6EECF244321}">
                <p14:modId xmlns:p14="http://schemas.microsoft.com/office/powerpoint/2010/main" val="2903224178"/>
              </p:ext>
            </p:extLst>
          </p:nvPr>
        </p:nvGraphicFramePr>
        <p:xfrm>
          <a:off x="685933" y="3787875"/>
          <a:ext cx="10566399" cy="2600325"/>
        </p:xfrm>
        <a:graphic>
          <a:graphicData uri="http://schemas.openxmlformats.org/drawingml/2006/table">
            <a:tbl>
              <a:tblPr firstRow="1" bandRow="1">
                <a:tableStyleId>{2D5ABB26-0587-4C30-8999-92F81FD0307C}</a:tableStyleId>
              </a:tblPr>
              <a:tblGrid>
                <a:gridCol w="3522133">
                  <a:extLst>
                    <a:ext uri="{9D8B030D-6E8A-4147-A177-3AD203B41FA5}">
                      <a16:colId xmlns:a16="http://schemas.microsoft.com/office/drawing/2014/main" val="3788333540"/>
                    </a:ext>
                  </a:extLst>
                </a:gridCol>
                <a:gridCol w="3522133">
                  <a:extLst>
                    <a:ext uri="{9D8B030D-6E8A-4147-A177-3AD203B41FA5}">
                      <a16:colId xmlns:a16="http://schemas.microsoft.com/office/drawing/2014/main" val="102792255"/>
                    </a:ext>
                  </a:extLst>
                </a:gridCol>
                <a:gridCol w="3522133">
                  <a:extLst>
                    <a:ext uri="{9D8B030D-6E8A-4147-A177-3AD203B41FA5}">
                      <a16:colId xmlns:a16="http://schemas.microsoft.com/office/drawing/2014/main" val="3035830623"/>
                    </a:ext>
                  </a:extLst>
                </a:gridCol>
              </a:tblGrid>
              <a:tr h="965835">
                <a:tc>
                  <a:txBody>
                    <a:bodyPr/>
                    <a:lstStyle/>
                    <a:p>
                      <a:r>
                        <a:rPr lang="en-GB"/>
                        <a:t>No support for sunlight being relevant to digital addiction patterns</a:t>
                      </a:r>
                    </a:p>
                  </a:txBody>
                  <a:tcPr/>
                </a:tc>
                <a:tc>
                  <a:txBody>
                    <a:bodyPr/>
                    <a:lstStyle/>
                    <a:p>
                      <a:r>
                        <a:rPr lang="en-GB" dirty="0"/>
                        <a:t>Platform choice emerges as a dominant driver of addictive </a:t>
                      </a:r>
                      <a:r>
                        <a:rPr lang="en-GB" dirty="0" err="1"/>
                        <a:t>behavior</a:t>
                      </a:r>
                      <a:endParaRPr lang="en-GB" dirty="0"/>
                    </a:p>
                  </a:txBody>
                  <a:tcPr/>
                </a:tc>
                <a:tc>
                  <a:txBody>
                    <a:bodyPr/>
                    <a:lstStyle/>
                    <a:p>
                      <a:r>
                        <a:rPr lang="en-GB"/>
                        <a:t>Academic failure is driven by the emotional fallout (Conflict &amp; Mental Health), and not just social media usage.</a:t>
                      </a:r>
                    </a:p>
                  </a:txBody>
                  <a:tcPr/>
                </a:tc>
                <a:extLst>
                  <a:ext uri="{0D108BD9-81ED-4DB2-BD59-A6C34878D82A}">
                    <a16:rowId xmlns:a16="http://schemas.microsoft.com/office/drawing/2014/main" val="3659930578"/>
                  </a:ext>
                </a:extLst>
              </a:tr>
              <a:tr h="1411605">
                <a:tc gridSpan="3">
                  <a:txBody>
                    <a:bodyPr/>
                    <a:lstStyle/>
                    <a:p>
                      <a:pPr algn="ctr"/>
                      <a:endParaRPr lang="en-GB" b="1" i="1" dirty="0"/>
                    </a:p>
                    <a:p>
                      <a:pPr algn="ctr"/>
                      <a:r>
                        <a:rPr lang="en-GB" altLang="en-US" sz="1800" b="1" i="1" kern="0" dirty="0">
                          <a:solidFill>
                            <a:srgbClr val="743481"/>
                          </a:solidFill>
                          <a:latin typeface="Arial" panose="020B0604020202020204" pitchFamily="34" charset="0"/>
                          <a:ea typeface="SimHei" panose="02010609060101010101" pitchFamily="49" charset="-122"/>
                          <a:cs typeface="Arial" panose="020B0604020202020204" pitchFamily="34" charset="0"/>
                        </a:rPr>
                        <a:t>Better academic results will not come from reducing screen time alone. The real problem lies in how social media platforms increase stress and conflicts among students.</a:t>
                      </a: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2978018799"/>
                  </a:ext>
                </a:extLst>
              </a:tr>
            </a:tbl>
          </a:graphicData>
        </a:graphic>
      </p:graphicFrame>
    </p:spTree>
    <p:extLst>
      <p:ext uri="{BB962C8B-B14F-4D97-AF65-F5344CB8AC3E}">
        <p14:creationId xmlns:p14="http://schemas.microsoft.com/office/powerpoint/2010/main" val="3689566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68B6-6DB4-22E5-B10F-8B99B9C25344}"/>
              </a:ext>
            </a:extLst>
          </p:cNvPr>
          <p:cNvSpPr>
            <a:spLocks noGrp="1"/>
          </p:cNvSpPr>
          <p:nvPr>
            <p:ph type="title"/>
          </p:nvPr>
        </p:nvSpPr>
        <p:spPr/>
        <p:txBody>
          <a:bodyPr/>
          <a:lstStyle/>
          <a:p>
            <a:pPr algn="ctr"/>
            <a:r>
              <a:rPr lang="es-MX" dirty="0"/>
              <a:t>Do </a:t>
            </a:r>
            <a:r>
              <a:rPr lang="es-MX" dirty="0" err="1"/>
              <a:t>you</a:t>
            </a:r>
            <a:r>
              <a:rPr lang="es-MX" dirty="0"/>
              <a:t> </a:t>
            </a:r>
            <a:r>
              <a:rPr lang="es-MX" dirty="0" err="1"/>
              <a:t>have</a:t>
            </a:r>
            <a:r>
              <a:rPr lang="es-MX" dirty="0"/>
              <a:t> </a:t>
            </a:r>
            <a:r>
              <a:rPr lang="es-MX" dirty="0" err="1"/>
              <a:t>any</a:t>
            </a:r>
            <a:r>
              <a:rPr lang="es-MX" dirty="0"/>
              <a:t> </a:t>
            </a:r>
            <a:r>
              <a:rPr lang="es-MX" dirty="0" err="1"/>
              <a:t>questions</a:t>
            </a:r>
            <a:r>
              <a:rPr lang="es-MX" dirty="0"/>
              <a:t>? </a:t>
            </a:r>
            <a:endParaRPr lang="en-GB" dirty="0"/>
          </a:p>
        </p:txBody>
      </p:sp>
      <p:sp>
        <p:nvSpPr>
          <p:cNvPr id="3" name="Slide Number Placeholder 2">
            <a:extLst>
              <a:ext uri="{FF2B5EF4-FFF2-40B4-BE49-F238E27FC236}">
                <a16:creationId xmlns:a16="http://schemas.microsoft.com/office/drawing/2014/main" id="{DE93293F-38F5-2A8F-E60E-DF4076E67785}"/>
              </a:ext>
            </a:extLst>
          </p:cNvPr>
          <p:cNvSpPr>
            <a:spLocks noGrp="1"/>
          </p:cNvSpPr>
          <p:nvPr>
            <p:ph type="sldNum" sz="quarter" idx="11"/>
          </p:nvPr>
        </p:nvSpPr>
        <p:spPr/>
        <p:txBody>
          <a:bodyPr/>
          <a:lstStyle/>
          <a:p>
            <a:fld id="{2DA035EE-A575-442D-B43B-59075C422C34}" type="slidenum">
              <a:rPr lang="zh-CN" altLang="en-US" smtClean="0"/>
              <a:t>20</a:t>
            </a:fld>
            <a:endParaRPr lang="zh-CN" altLang="en-US"/>
          </a:p>
        </p:txBody>
      </p:sp>
      <p:sp>
        <p:nvSpPr>
          <p:cNvPr id="5" name="Title 1">
            <a:extLst>
              <a:ext uri="{FF2B5EF4-FFF2-40B4-BE49-F238E27FC236}">
                <a16:creationId xmlns:a16="http://schemas.microsoft.com/office/drawing/2014/main" id="{E45E423B-4F72-8008-017E-E4EEB13F5A44}"/>
              </a:ext>
            </a:extLst>
          </p:cNvPr>
          <p:cNvSpPr txBox="1">
            <a:spLocks/>
          </p:cNvSpPr>
          <p:nvPr/>
        </p:nvSpPr>
        <p:spPr bwMode="auto">
          <a:xfrm>
            <a:off x="762000" y="493383"/>
            <a:ext cx="10668000" cy="81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lang="zh-CN" altLang="en-US" sz="2400" b="1" kern="0" baseline="0">
                <a:solidFill>
                  <a:srgbClr val="743481"/>
                </a:solidFill>
                <a:latin typeface="Arial" pitchFamily="34" charset="0"/>
                <a:ea typeface="黑体" pitchFamily="2" charset="-122"/>
                <a:cs typeface="+mn-cs"/>
              </a:defRPr>
            </a:lvl1pPr>
            <a:lvl2pPr algn="l" rtl="0" eaLnBrk="1" fontAlgn="base" hangingPunct="1">
              <a:spcBef>
                <a:spcPct val="0"/>
              </a:spcBef>
              <a:spcAft>
                <a:spcPct val="0"/>
              </a:spcAft>
              <a:defRPr sz="3200">
                <a:solidFill>
                  <a:schemeClr val="tx2"/>
                </a:solidFill>
                <a:latin typeface="Arial" charset="0"/>
                <a:ea typeface="黑体" pitchFamily="49" charset="-122"/>
              </a:defRPr>
            </a:lvl2pPr>
            <a:lvl3pPr algn="l" rtl="0" eaLnBrk="1" fontAlgn="base" hangingPunct="1">
              <a:spcBef>
                <a:spcPct val="0"/>
              </a:spcBef>
              <a:spcAft>
                <a:spcPct val="0"/>
              </a:spcAft>
              <a:defRPr sz="3200">
                <a:solidFill>
                  <a:schemeClr val="tx2"/>
                </a:solidFill>
                <a:latin typeface="Arial" charset="0"/>
                <a:ea typeface="黑体" pitchFamily="49" charset="-122"/>
              </a:defRPr>
            </a:lvl3pPr>
            <a:lvl4pPr algn="l" rtl="0" eaLnBrk="1" fontAlgn="base" hangingPunct="1">
              <a:spcBef>
                <a:spcPct val="0"/>
              </a:spcBef>
              <a:spcAft>
                <a:spcPct val="0"/>
              </a:spcAft>
              <a:defRPr sz="3200">
                <a:solidFill>
                  <a:schemeClr val="tx2"/>
                </a:solidFill>
                <a:latin typeface="Arial" charset="0"/>
                <a:ea typeface="黑体" pitchFamily="49" charset="-122"/>
              </a:defRPr>
            </a:lvl4pPr>
            <a:lvl5pPr algn="l" rtl="0" eaLnBrk="1" fontAlgn="base" hangingPunct="1">
              <a:spcBef>
                <a:spcPct val="0"/>
              </a:spcBef>
              <a:spcAft>
                <a:spcPct val="0"/>
              </a:spcAft>
              <a:defRPr sz="3200">
                <a:solidFill>
                  <a:schemeClr val="tx2"/>
                </a:solidFill>
                <a:latin typeface="Arial" charset="0"/>
                <a:ea typeface="黑体" pitchFamily="49" charset="-122"/>
              </a:defRPr>
            </a:lvl5pPr>
            <a:lvl6pPr marL="457189" algn="l" rtl="0" eaLnBrk="1" fontAlgn="base" hangingPunct="1">
              <a:spcBef>
                <a:spcPct val="0"/>
              </a:spcBef>
              <a:spcAft>
                <a:spcPct val="0"/>
              </a:spcAft>
              <a:defRPr sz="3800">
                <a:solidFill>
                  <a:schemeClr val="tx2"/>
                </a:solidFill>
                <a:latin typeface="Arial" charset="0"/>
                <a:ea typeface="宋体" pitchFamily="2" charset="-122"/>
              </a:defRPr>
            </a:lvl6pPr>
            <a:lvl7pPr marL="914377" algn="l" rtl="0" eaLnBrk="1" fontAlgn="base" hangingPunct="1">
              <a:spcBef>
                <a:spcPct val="0"/>
              </a:spcBef>
              <a:spcAft>
                <a:spcPct val="0"/>
              </a:spcAft>
              <a:defRPr sz="3800">
                <a:solidFill>
                  <a:schemeClr val="tx2"/>
                </a:solidFill>
                <a:latin typeface="Arial" charset="0"/>
                <a:ea typeface="宋体" pitchFamily="2" charset="-122"/>
              </a:defRPr>
            </a:lvl7pPr>
            <a:lvl8pPr marL="1371566" algn="l" rtl="0" eaLnBrk="1" fontAlgn="base" hangingPunct="1">
              <a:spcBef>
                <a:spcPct val="0"/>
              </a:spcBef>
              <a:spcAft>
                <a:spcPct val="0"/>
              </a:spcAft>
              <a:defRPr sz="3800">
                <a:solidFill>
                  <a:schemeClr val="tx2"/>
                </a:solidFill>
                <a:latin typeface="Arial" charset="0"/>
                <a:ea typeface="宋体" pitchFamily="2" charset="-122"/>
              </a:defRPr>
            </a:lvl8pPr>
            <a:lvl9pPr marL="1828754" algn="l" rtl="0" eaLnBrk="1" fontAlgn="base" hangingPunct="1">
              <a:spcBef>
                <a:spcPct val="0"/>
              </a:spcBef>
              <a:spcAft>
                <a:spcPct val="0"/>
              </a:spcAft>
              <a:defRPr sz="3800">
                <a:solidFill>
                  <a:schemeClr val="tx2"/>
                </a:solidFill>
                <a:latin typeface="Arial" charset="0"/>
                <a:ea typeface="宋体" pitchFamily="2" charset="-122"/>
              </a:defRPr>
            </a:lvl9pPr>
          </a:lstStyle>
          <a:p>
            <a:pPr algn="ctr"/>
            <a:r>
              <a:rPr lang="es-MX" sz="4000" dirty="0" err="1">
                <a:latin typeface="Arial"/>
                <a:ea typeface="黑体"/>
                <a:cs typeface="Arial"/>
              </a:rPr>
              <a:t>Thank</a:t>
            </a:r>
            <a:r>
              <a:rPr lang="es-MX" sz="4000" dirty="0">
                <a:latin typeface="Arial"/>
                <a:ea typeface="黑体"/>
                <a:cs typeface="Arial"/>
              </a:rPr>
              <a:t> </a:t>
            </a:r>
            <a:r>
              <a:rPr lang="es-MX" sz="4000" dirty="0" err="1">
                <a:latin typeface="Arial"/>
                <a:ea typeface="黑体"/>
                <a:cs typeface="Arial"/>
              </a:rPr>
              <a:t>you</a:t>
            </a:r>
            <a:r>
              <a:rPr lang="es-MX" sz="4000" dirty="0">
                <a:latin typeface="Arial"/>
                <a:ea typeface="黑体"/>
                <a:cs typeface="Arial"/>
              </a:rPr>
              <a:t> </a:t>
            </a:r>
            <a:r>
              <a:rPr lang="es-MX" sz="4000" dirty="0" err="1">
                <a:latin typeface="Arial"/>
                <a:ea typeface="黑体"/>
                <a:cs typeface="Arial"/>
              </a:rPr>
              <a:t>for</a:t>
            </a:r>
            <a:r>
              <a:rPr lang="es-MX" sz="4000" dirty="0">
                <a:latin typeface="Arial"/>
                <a:ea typeface="黑体"/>
                <a:cs typeface="Arial"/>
              </a:rPr>
              <a:t> </a:t>
            </a:r>
            <a:r>
              <a:rPr lang="es-MX" sz="4000" dirty="0" err="1">
                <a:latin typeface="Arial"/>
                <a:ea typeface="黑体"/>
                <a:cs typeface="Arial"/>
              </a:rPr>
              <a:t>your</a:t>
            </a:r>
            <a:r>
              <a:rPr lang="es-MX" sz="4000" dirty="0">
                <a:latin typeface="Arial"/>
                <a:ea typeface="黑体"/>
                <a:cs typeface="Arial"/>
              </a:rPr>
              <a:t> </a:t>
            </a:r>
            <a:r>
              <a:rPr lang="es-MX" sz="4000" dirty="0" err="1">
                <a:latin typeface="Arial"/>
                <a:ea typeface="黑体"/>
                <a:cs typeface="Arial"/>
              </a:rPr>
              <a:t>attention</a:t>
            </a:r>
            <a:endParaRPr lang="en-US" sz="4000" dirty="0">
              <a:cs typeface="Arial" pitchFamily="34" charset="0"/>
            </a:endParaRPr>
          </a:p>
        </p:txBody>
      </p:sp>
      <p:pic>
        <p:nvPicPr>
          <p:cNvPr id="6" name="Graphic 5" descr="Customer review with solid fill">
            <a:extLst>
              <a:ext uri="{FF2B5EF4-FFF2-40B4-BE49-F238E27FC236}">
                <a16:creationId xmlns:a16="http://schemas.microsoft.com/office/drawing/2014/main" id="{394CACB9-8EF9-A9E6-8E65-BBF2CBE749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9665" y="1013952"/>
            <a:ext cx="3977148" cy="3977148"/>
          </a:xfrm>
          <a:prstGeom prst="rect">
            <a:avLst/>
          </a:prstGeom>
        </p:spPr>
      </p:pic>
    </p:spTree>
    <p:extLst>
      <p:ext uri="{BB962C8B-B14F-4D97-AF65-F5344CB8AC3E}">
        <p14:creationId xmlns:p14="http://schemas.microsoft.com/office/powerpoint/2010/main" val="487012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B474-1C07-7DCB-DB0D-9AEECBF7C3B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D2D359D-E384-D5F0-97D1-F94ED65E5267}"/>
              </a:ext>
            </a:extLst>
          </p:cNvPr>
          <p:cNvSpPr>
            <a:spLocks noGrp="1"/>
          </p:cNvSpPr>
          <p:nvPr>
            <p:ph type="title"/>
          </p:nvPr>
        </p:nvSpPr>
        <p:spPr/>
        <p:txBody>
          <a:bodyPr/>
          <a:lstStyle/>
          <a:p>
            <a:r>
              <a:rPr lang="en-US">
                <a:latin typeface="Arial"/>
                <a:ea typeface="SimHei"/>
                <a:cs typeface="Arial"/>
              </a:rPr>
              <a:t>Appendix 1 : Cohen's d measure</a:t>
            </a:r>
            <a:endParaRPr lang="en-US" altLang="zh-CN"/>
          </a:p>
        </p:txBody>
      </p:sp>
      <p:sp>
        <p:nvSpPr>
          <p:cNvPr id="4" name="Slide Number Placeholder 3">
            <a:extLst>
              <a:ext uri="{FF2B5EF4-FFF2-40B4-BE49-F238E27FC236}">
                <a16:creationId xmlns:a16="http://schemas.microsoft.com/office/drawing/2014/main" id="{62D4E4E0-4771-BD58-C120-762DD5D895F7}"/>
              </a:ext>
            </a:extLst>
          </p:cNvPr>
          <p:cNvSpPr>
            <a:spLocks noGrp="1"/>
          </p:cNvSpPr>
          <p:nvPr>
            <p:ph type="sldNum" sz="quarter" idx="11"/>
          </p:nvPr>
        </p:nvSpPr>
        <p:spPr/>
        <p:txBody>
          <a:bodyPr/>
          <a:lstStyle/>
          <a:p>
            <a:fld id="{2DA035EE-A575-442D-B43B-59075C422C34}" type="slidenum">
              <a:rPr lang="zh-CN" altLang="en-US" smtClean="0"/>
              <a:t>21</a:t>
            </a:fld>
            <a:endParaRPr lang="zh-CN" altLang="en-US"/>
          </a:p>
        </p:txBody>
      </p:sp>
      <p:sp>
        <p:nvSpPr>
          <p:cNvPr id="3" name="Content Placeholder 2">
            <a:extLst>
              <a:ext uri="{FF2B5EF4-FFF2-40B4-BE49-F238E27FC236}">
                <a16:creationId xmlns:a16="http://schemas.microsoft.com/office/drawing/2014/main" id="{4DDDC3DE-A539-FCD2-DEAC-17AF2B30F65A}"/>
              </a:ext>
            </a:extLst>
          </p:cNvPr>
          <p:cNvSpPr>
            <a:spLocks noGrp="1"/>
          </p:cNvSpPr>
          <p:nvPr>
            <p:ph idx="12"/>
          </p:nvPr>
        </p:nvSpPr>
        <p:spPr/>
        <p:txBody>
          <a:bodyPr/>
          <a:lstStyle/>
          <a:p>
            <a:endParaRPr lang="en-US"/>
          </a:p>
        </p:txBody>
      </p:sp>
      <p:sp>
        <p:nvSpPr>
          <p:cNvPr id="5" name="Content Placeholder 13">
            <a:extLst>
              <a:ext uri="{FF2B5EF4-FFF2-40B4-BE49-F238E27FC236}">
                <a16:creationId xmlns:a16="http://schemas.microsoft.com/office/drawing/2014/main" id="{09C2B4D9-707A-4703-10CF-B9945E7EA8FB}"/>
              </a:ext>
            </a:extLst>
          </p:cNvPr>
          <p:cNvSpPr txBox="1">
            <a:spLocks/>
          </p:cNvSpPr>
          <p:nvPr/>
        </p:nvSpPr>
        <p:spPr bwMode="auto">
          <a:xfrm>
            <a:off x="659939" y="982130"/>
            <a:ext cx="7812619" cy="1512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228594" indent="-228594"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1pPr>
            <a:lvl2pPr marL="579424" indent="-350830" algn="l" defTabSz="914400" rtl="0" eaLnBrk="1" fontAlgn="base" latinLnBrk="0" hangingPunct="1">
              <a:spcBef>
                <a:spcPct val="20000"/>
              </a:spcBef>
              <a:spcAft>
                <a:spcPct val="0"/>
              </a:spcAft>
              <a:buClr>
                <a:srgbClr val="743481"/>
              </a:buClr>
              <a:buSzPct val="140000"/>
              <a:buFont typeface="System Font Regular"/>
              <a:buChar char="－"/>
              <a:tabLst/>
              <a:defRPr lang="en-US" altLang="zh-CN" sz="1800" kern="1200" baseline="0" dirty="0">
                <a:solidFill>
                  <a:schemeClr val="tx1"/>
                </a:solidFill>
                <a:latin typeface="Arial" pitchFamily="34" charset="0"/>
                <a:ea typeface="黑体" pitchFamily="2" charset="-122"/>
                <a:cs typeface="+mn-cs"/>
              </a:defRPr>
            </a:lvl2pPr>
            <a:lvl3pPr marL="809605" indent="-230182"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3pPr>
            <a:lvl4pPr marL="1693820" indent="-387341" algn="l" defTabSz="914400" rtl="0" eaLnBrk="1" fontAlgn="base" latinLnBrk="0" hangingPunct="1">
              <a:spcBef>
                <a:spcPct val="20000"/>
              </a:spcBef>
              <a:spcAft>
                <a:spcPct val="0"/>
              </a:spcAft>
              <a:buClr>
                <a:srgbClr val="7030A0"/>
              </a:buClr>
              <a:buFont typeface="Wingdings" pitchFamily="2" charset="2"/>
              <a:buChar char="n"/>
              <a:defRPr sz="1800" kern="1200" baseline="0">
                <a:solidFill>
                  <a:schemeClr val="tx1"/>
                </a:solidFill>
                <a:latin typeface="Arial" pitchFamily="34" charset="0"/>
                <a:ea typeface="黑体" pitchFamily="2" charset="-122"/>
                <a:cs typeface="+mn-cs"/>
              </a:defRPr>
            </a:lvl4pPr>
            <a:lvl5pPr marL="2093861" indent="-398453" algn="l" defTabSz="914400" rtl="0" eaLnBrk="1" fontAlgn="base" latinLnBrk="0" hangingPunct="1">
              <a:spcBef>
                <a:spcPct val="25000"/>
              </a:spcBef>
              <a:spcAft>
                <a:spcPct val="0"/>
              </a:spcAft>
              <a:buClr>
                <a:srgbClr val="7030A0"/>
              </a:buClr>
              <a:buFont typeface="Wingdings" pitchFamily="2" charset="2"/>
              <a:buChar char="§"/>
              <a:defRPr sz="1800" kern="1200" baseline="0">
                <a:solidFill>
                  <a:schemeClr val="tx1"/>
                </a:solidFill>
                <a:latin typeface="Arial" pitchFamily="34" charset="0"/>
                <a:ea typeface="黑体" pitchFamily="2" charset="-122"/>
                <a:cs typeface="+mn-cs"/>
              </a:defRPr>
            </a:lvl5pPr>
            <a:lvl6pPr marL="2551050"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6pPr>
            <a:lvl7pPr marL="3008238"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7pPr>
            <a:lvl8pPr marL="3465427"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8pPr>
            <a:lvl9pPr marL="3922615"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9pPr>
          </a:lstStyle>
          <a:p>
            <a:pPr marL="0" indent="0">
              <a:buNone/>
            </a:pPr>
            <a:r>
              <a:rPr lang="en-US" kern="0">
                <a:latin typeface="Arial"/>
                <a:ea typeface="黑体"/>
                <a:cs typeface="Arial"/>
              </a:rPr>
              <a:t>Definition: </a:t>
            </a:r>
          </a:p>
          <a:p>
            <a:pPr marL="0" indent="0">
              <a:buNone/>
            </a:pPr>
            <a:r>
              <a:rPr lang="en-US" kern="0">
                <a:latin typeface="Arial"/>
                <a:ea typeface="黑体"/>
                <a:cs typeface="Arial"/>
              </a:rPr>
              <a:t>Cohen's d measures the standardized difference between two means:</a:t>
            </a:r>
            <a:endParaRPr lang="en-US" kern="0">
              <a:cs typeface="Arial" pitchFamily="34" charset="0"/>
            </a:endParaRPr>
          </a:p>
        </p:txBody>
      </p:sp>
      <p:sp>
        <p:nvSpPr>
          <p:cNvPr id="6" name="Content Placeholder 13">
            <a:extLst>
              <a:ext uri="{FF2B5EF4-FFF2-40B4-BE49-F238E27FC236}">
                <a16:creationId xmlns:a16="http://schemas.microsoft.com/office/drawing/2014/main" id="{98BF46A8-B6C3-F9BB-6ADE-F9A728FDF830}"/>
              </a:ext>
            </a:extLst>
          </p:cNvPr>
          <p:cNvSpPr txBox="1">
            <a:spLocks/>
          </p:cNvSpPr>
          <p:nvPr/>
        </p:nvSpPr>
        <p:spPr bwMode="auto">
          <a:xfrm>
            <a:off x="659937" y="3358241"/>
            <a:ext cx="6019681" cy="1512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228594" indent="-228594"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1pPr>
            <a:lvl2pPr marL="579424" indent="-350830" algn="l" defTabSz="914400" rtl="0" eaLnBrk="1" fontAlgn="base" latinLnBrk="0" hangingPunct="1">
              <a:spcBef>
                <a:spcPct val="20000"/>
              </a:spcBef>
              <a:spcAft>
                <a:spcPct val="0"/>
              </a:spcAft>
              <a:buClr>
                <a:srgbClr val="743481"/>
              </a:buClr>
              <a:buSzPct val="140000"/>
              <a:buFont typeface="System Font Regular"/>
              <a:buChar char="－"/>
              <a:tabLst/>
              <a:defRPr lang="en-US" altLang="zh-CN" sz="1800" kern="1200" baseline="0" dirty="0">
                <a:solidFill>
                  <a:schemeClr val="tx1"/>
                </a:solidFill>
                <a:latin typeface="Arial" pitchFamily="34" charset="0"/>
                <a:ea typeface="黑体" pitchFamily="2" charset="-122"/>
                <a:cs typeface="+mn-cs"/>
              </a:defRPr>
            </a:lvl2pPr>
            <a:lvl3pPr marL="809605" indent="-230182"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3pPr>
            <a:lvl4pPr marL="1693820" indent="-387341" algn="l" defTabSz="914400" rtl="0" eaLnBrk="1" fontAlgn="base" latinLnBrk="0" hangingPunct="1">
              <a:spcBef>
                <a:spcPct val="20000"/>
              </a:spcBef>
              <a:spcAft>
                <a:spcPct val="0"/>
              </a:spcAft>
              <a:buClr>
                <a:srgbClr val="7030A0"/>
              </a:buClr>
              <a:buFont typeface="Wingdings" pitchFamily="2" charset="2"/>
              <a:buChar char="n"/>
              <a:defRPr sz="1800" kern="1200" baseline="0">
                <a:solidFill>
                  <a:schemeClr val="tx1"/>
                </a:solidFill>
                <a:latin typeface="Arial" pitchFamily="34" charset="0"/>
                <a:ea typeface="黑体" pitchFamily="2" charset="-122"/>
                <a:cs typeface="+mn-cs"/>
              </a:defRPr>
            </a:lvl4pPr>
            <a:lvl5pPr marL="2093861" indent="-398453" algn="l" defTabSz="914400" rtl="0" eaLnBrk="1" fontAlgn="base" latinLnBrk="0" hangingPunct="1">
              <a:spcBef>
                <a:spcPct val="25000"/>
              </a:spcBef>
              <a:spcAft>
                <a:spcPct val="0"/>
              </a:spcAft>
              <a:buClr>
                <a:srgbClr val="7030A0"/>
              </a:buClr>
              <a:buFont typeface="Wingdings" pitchFamily="2" charset="2"/>
              <a:buChar char="§"/>
              <a:defRPr sz="1800" kern="1200" baseline="0">
                <a:solidFill>
                  <a:schemeClr val="tx1"/>
                </a:solidFill>
                <a:latin typeface="Arial" pitchFamily="34" charset="0"/>
                <a:ea typeface="黑体" pitchFamily="2" charset="-122"/>
                <a:cs typeface="+mn-cs"/>
              </a:defRPr>
            </a:lvl5pPr>
            <a:lvl6pPr marL="2551050"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6pPr>
            <a:lvl7pPr marL="3008238"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7pPr>
            <a:lvl8pPr marL="3465427"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8pPr>
            <a:lvl9pPr marL="3922615"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9pPr>
          </a:lstStyle>
          <a:p>
            <a:pPr marL="0" indent="0">
              <a:buNone/>
            </a:pPr>
            <a:r>
              <a:rPr lang="en-US" kern="0">
                <a:latin typeface="Arial"/>
                <a:ea typeface="黑体"/>
                <a:cs typeface="Arial"/>
              </a:rPr>
              <a:t>Intuition:</a:t>
            </a:r>
          </a:p>
          <a:p>
            <a:pPr marL="0" indent="0">
              <a:buNone/>
            </a:pPr>
            <a:r>
              <a:rPr lang="en-US" kern="0">
                <a:latin typeface="Arial"/>
                <a:ea typeface="黑体"/>
                <a:cs typeface="Arial"/>
              </a:rPr>
              <a:t>Statistical significance tells us </a:t>
            </a:r>
            <a:r>
              <a:rPr lang="en-US" b="1" kern="0">
                <a:latin typeface="Arial"/>
                <a:ea typeface="黑体"/>
                <a:cs typeface="Arial"/>
              </a:rPr>
              <a:t>if</a:t>
            </a:r>
            <a:r>
              <a:rPr lang="en-US" kern="0">
                <a:latin typeface="Arial"/>
                <a:ea typeface="黑体"/>
                <a:cs typeface="Arial"/>
              </a:rPr>
              <a:t> an effect exists.</a:t>
            </a:r>
            <a:br>
              <a:rPr lang="en-US" kern="0">
                <a:latin typeface="Arial"/>
                <a:ea typeface="黑体"/>
                <a:cs typeface="Arial"/>
              </a:rPr>
            </a:br>
            <a:r>
              <a:rPr lang="en-US" kern="0">
                <a:latin typeface="Arial"/>
                <a:ea typeface="黑体"/>
                <a:cs typeface="Arial"/>
              </a:rPr>
              <a:t>Cohen’s </a:t>
            </a:r>
            <a:r>
              <a:rPr lang="en-US" i="1" kern="0">
                <a:latin typeface="Arial"/>
                <a:ea typeface="黑体"/>
                <a:cs typeface="Arial"/>
              </a:rPr>
              <a:t>d</a:t>
            </a:r>
            <a:r>
              <a:rPr lang="en-US" kern="0">
                <a:latin typeface="Arial"/>
                <a:ea typeface="黑体"/>
                <a:cs typeface="Arial"/>
              </a:rPr>
              <a:t> tells us </a:t>
            </a:r>
            <a:r>
              <a:rPr lang="en-US" b="1" kern="0">
                <a:latin typeface="Arial"/>
                <a:ea typeface="黑体"/>
                <a:cs typeface="Arial"/>
              </a:rPr>
              <a:t>how large</a:t>
            </a:r>
            <a:r>
              <a:rPr lang="en-US" kern="0">
                <a:latin typeface="Arial"/>
                <a:ea typeface="黑体"/>
                <a:cs typeface="Arial"/>
              </a:rPr>
              <a:t> that effect is.</a:t>
            </a:r>
          </a:p>
          <a:p>
            <a:pPr marL="0" indent="0">
              <a:buNone/>
            </a:pPr>
            <a:endParaRPr lang="en-US" kern="0">
              <a:latin typeface="Arial"/>
              <a:ea typeface="黑体"/>
              <a:cs typeface="Arial"/>
            </a:endParaRPr>
          </a:p>
          <a:p>
            <a:pPr marL="0" indent="0">
              <a:buNone/>
            </a:pPr>
            <a:r>
              <a:rPr lang="en-US" kern="0">
                <a:latin typeface="Arial"/>
                <a:ea typeface="黑体"/>
                <a:cs typeface="Arial"/>
              </a:rPr>
              <a:t>Interpretation scale:</a:t>
            </a:r>
            <a:endParaRPr lang="en-US" kern="0">
              <a:cs typeface="Arial"/>
            </a:endParaRPr>
          </a:p>
          <a:p>
            <a:pPr marL="0" indent="0">
              <a:buNone/>
            </a:pPr>
            <a:endParaRPr lang="en-US" kern="0">
              <a:cs typeface="Arial"/>
            </a:endParaRPr>
          </a:p>
          <a:p>
            <a:pPr marL="0" indent="0">
              <a:buNone/>
            </a:pPr>
            <a:endParaRPr lang="en-US" kern="0">
              <a:cs typeface="Arial"/>
            </a:endParaRPr>
          </a:p>
        </p:txBody>
      </p:sp>
      <p:pic>
        <p:nvPicPr>
          <p:cNvPr id="9" name="Picture 8">
            <a:extLst>
              <a:ext uri="{FF2B5EF4-FFF2-40B4-BE49-F238E27FC236}">
                <a16:creationId xmlns:a16="http://schemas.microsoft.com/office/drawing/2014/main" id="{3538D33B-3E57-19A6-29A0-3D1F8B13F8D1}"/>
              </a:ext>
            </a:extLst>
          </p:cNvPr>
          <p:cNvPicPr>
            <a:picLocks noChangeAspect="1"/>
          </p:cNvPicPr>
          <p:nvPr/>
        </p:nvPicPr>
        <p:blipFill>
          <a:blip r:embed="rId2"/>
          <a:stretch>
            <a:fillRect/>
          </a:stretch>
        </p:blipFill>
        <p:spPr>
          <a:xfrm>
            <a:off x="7091634" y="1751557"/>
            <a:ext cx="3522757" cy="4439094"/>
          </a:xfrm>
          <a:prstGeom prst="rect">
            <a:avLst/>
          </a:prstGeom>
        </p:spPr>
      </p:pic>
      <p:pic>
        <p:nvPicPr>
          <p:cNvPr id="10" name="Picture 9">
            <a:extLst>
              <a:ext uri="{FF2B5EF4-FFF2-40B4-BE49-F238E27FC236}">
                <a16:creationId xmlns:a16="http://schemas.microsoft.com/office/drawing/2014/main" id="{30AC6026-EECA-E0C9-4B04-1086B5FD6C75}"/>
              </a:ext>
            </a:extLst>
          </p:cNvPr>
          <p:cNvPicPr>
            <a:picLocks noChangeAspect="1"/>
          </p:cNvPicPr>
          <p:nvPr/>
        </p:nvPicPr>
        <p:blipFill>
          <a:blip r:embed="rId3"/>
          <a:srcRect b="11215"/>
          <a:stretch>
            <a:fillRect/>
          </a:stretch>
        </p:blipFill>
        <p:spPr>
          <a:xfrm>
            <a:off x="3051023" y="1732129"/>
            <a:ext cx="1828800" cy="854136"/>
          </a:xfrm>
          <a:prstGeom prst="rect">
            <a:avLst/>
          </a:prstGeom>
        </p:spPr>
      </p:pic>
      <p:sp>
        <p:nvSpPr>
          <p:cNvPr id="12" name="Content Placeholder 13">
            <a:extLst>
              <a:ext uri="{FF2B5EF4-FFF2-40B4-BE49-F238E27FC236}">
                <a16:creationId xmlns:a16="http://schemas.microsoft.com/office/drawing/2014/main" id="{F85F4646-F7C8-9F69-0A4C-A5288033531B}"/>
              </a:ext>
            </a:extLst>
          </p:cNvPr>
          <p:cNvSpPr txBox="1">
            <a:spLocks/>
          </p:cNvSpPr>
          <p:nvPr/>
        </p:nvSpPr>
        <p:spPr bwMode="auto">
          <a:xfrm>
            <a:off x="659937" y="2363158"/>
            <a:ext cx="6019681" cy="1512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228594" indent="-228594"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1pPr>
            <a:lvl2pPr marL="579424" indent="-350830" algn="l" defTabSz="914400" rtl="0" eaLnBrk="1" fontAlgn="base" latinLnBrk="0" hangingPunct="1">
              <a:spcBef>
                <a:spcPct val="20000"/>
              </a:spcBef>
              <a:spcAft>
                <a:spcPct val="0"/>
              </a:spcAft>
              <a:buClr>
                <a:srgbClr val="743481"/>
              </a:buClr>
              <a:buSzPct val="140000"/>
              <a:buFont typeface="System Font Regular"/>
              <a:buChar char="－"/>
              <a:tabLst/>
              <a:defRPr lang="en-US" altLang="zh-CN" sz="1800" kern="1200" baseline="0" dirty="0">
                <a:solidFill>
                  <a:schemeClr val="tx1"/>
                </a:solidFill>
                <a:latin typeface="Arial" pitchFamily="34" charset="0"/>
                <a:ea typeface="黑体" pitchFamily="2" charset="-122"/>
                <a:cs typeface="+mn-cs"/>
              </a:defRPr>
            </a:lvl2pPr>
            <a:lvl3pPr marL="809605" indent="-230182" algn="l" defTabSz="914400" rtl="0" eaLnBrk="1" fontAlgn="base" latinLnBrk="0" hangingPunct="1">
              <a:spcBef>
                <a:spcPct val="20000"/>
              </a:spcBef>
              <a:spcAft>
                <a:spcPct val="0"/>
              </a:spcAft>
              <a:buClr>
                <a:srgbClr val="743481"/>
              </a:buClr>
              <a:buFont typeface="Wingdings" pitchFamily="2" charset="2"/>
              <a:buChar char="§"/>
              <a:tabLst/>
              <a:defRPr lang="en-US" altLang="zh-CN" sz="1800" kern="1200" baseline="0" dirty="0">
                <a:solidFill>
                  <a:schemeClr val="tx1"/>
                </a:solidFill>
                <a:latin typeface="Arial" pitchFamily="34" charset="0"/>
                <a:ea typeface="黑体" pitchFamily="2" charset="-122"/>
                <a:cs typeface="+mn-cs"/>
              </a:defRPr>
            </a:lvl3pPr>
            <a:lvl4pPr marL="1693820" indent="-387341" algn="l" defTabSz="914400" rtl="0" eaLnBrk="1" fontAlgn="base" latinLnBrk="0" hangingPunct="1">
              <a:spcBef>
                <a:spcPct val="20000"/>
              </a:spcBef>
              <a:spcAft>
                <a:spcPct val="0"/>
              </a:spcAft>
              <a:buClr>
                <a:srgbClr val="7030A0"/>
              </a:buClr>
              <a:buFont typeface="Wingdings" pitchFamily="2" charset="2"/>
              <a:buChar char="n"/>
              <a:defRPr sz="1800" kern="1200" baseline="0">
                <a:solidFill>
                  <a:schemeClr val="tx1"/>
                </a:solidFill>
                <a:latin typeface="Arial" pitchFamily="34" charset="0"/>
                <a:ea typeface="黑体" pitchFamily="2" charset="-122"/>
                <a:cs typeface="+mn-cs"/>
              </a:defRPr>
            </a:lvl4pPr>
            <a:lvl5pPr marL="2093861" indent="-398453" algn="l" defTabSz="914400" rtl="0" eaLnBrk="1" fontAlgn="base" latinLnBrk="0" hangingPunct="1">
              <a:spcBef>
                <a:spcPct val="25000"/>
              </a:spcBef>
              <a:spcAft>
                <a:spcPct val="0"/>
              </a:spcAft>
              <a:buClr>
                <a:srgbClr val="7030A0"/>
              </a:buClr>
              <a:buFont typeface="Wingdings" pitchFamily="2" charset="2"/>
              <a:buChar char="§"/>
              <a:defRPr sz="1800" kern="1200" baseline="0">
                <a:solidFill>
                  <a:schemeClr val="tx1"/>
                </a:solidFill>
                <a:latin typeface="Arial" pitchFamily="34" charset="0"/>
                <a:ea typeface="黑体" pitchFamily="2" charset="-122"/>
                <a:cs typeface="+mn-cs"/>
              </a:defRPr>
            </a:lvl5pPr>
            <a:lvl6pPr marL="2551050"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6pPr>
            <a:lvl7pPr marL="3008238"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7pPr>
            <a:lvl8pPr marL="3465427"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8pPr>
            <a:lvl9pPr marL="3922615" indent="-398453" algn="l" defTabSz="914400" rtl="0" eaLnBrk="1" fontAlgn="base" latinLnBrk="0" hangingPunct="1">
              <a:spcBef>
                <a:spcPct val="25000"/>
              </a:spcBef>
              <a:spcAft>
                <a:spcPct val="0"/>
              </a:spcAft>
              <a:buClr>
                <a:schemeClr val="accent2"/>
              </a:buClr>
              <a:buFont typeface="Wingdings" pitchFamily="2" charset="2"/>
              <a:buChar char="§"/>
              <a:defRPr sz="2000" kern="1200">
                <a:solidFill>
                  <a:schemeClr val="tx1"/>
                </a:solidFill>
                <a:latin typeface="+mn-lt"/>
                <a:ea typeface="+mn-ea"/>
                <a:cs typeface="+mn-cs"/>
              </a:defRPr>
            </a:lvl9pPr>
          </a:lstStyle>
          <a:p>
            <a:pPr marL="0" indent="0">
              <a:buNone/>
            </a:pPr>
            <a:r>
              <a:rPr lang="en-US" kern="0">
                <a:latin typeface="Arial"/>
                <a:ea typeface="黑体"/>
                <a:cs typeface="Arial"/>
              </a:rPr>
              <a:t>Where: </a:t>
            </a:r>
            <a:endParaRPr lang="en-US" kern="0">
              <a:cs typeface="Arial"/>
            </a:endParaRPr>
          </a:p>
        </p:txBody>
      </p:sp>
      <p:pic>
        <p:nvPicPr>
          <p:cNvPr id="13" name="Picture 12" descr="A math equations in a rectangular box&#10;&#10;AI-generated content may be incorrect.">
            <a:extLst>
              <a:ext uri="{FF2B5EF4-FFF2-40B4-BE49-F238E27FC236}">
                <a16:creationId xmlns:a16="http://schemas.microsoft.com/office/drawing/2014/main" id="{C8A94648-A11E-5BFF-6B0E-27F8B7DD7C9D}"/>
              </a:ext>
            </a:extLst>
          </p:cNvPr>
          <p:cNvPicPr>
            <a:picLocks noChangeAspect="1"/>
          </p:cNvPicPr>
          <p:nvPr/>
        </p:nvPicPr>
        <p:blipFill>
          <a:blip r:embed="rId4"/>
          <a:srcRect t="10561" r="-223" b="3961"/>
          <a:stretch>
            <a:fillRect/>
          </a:stretch>
        </p:blipFill>
        <p:spPr>
          <a:xfrm>
            <a:off x="1652027" y="2489107"/>
            <a:ext cx="4038051" cy="871170"/>
          </a:xfrm>
          <a:prstGeom prst="rect">
            <a:avLst/>
          </a:prstGeom>
        </p:spPr>
      </p:pic>
      <p:graphicFrame>
        <p:nvGraphicFramePr>
          <p:cNvPr id="15" name="Table 14">
            <a:extLst>
              <a:ext uri="{FF2B5EF4-FFF2-40B4-BE49-F238E27FC236}">
                <a16:creationId xmlns:a16="http://schemas.microsoft.com/office/drawing/2014/main" id="{228EC083-8EC7-A823-7F42-65F44B128B81}"/>
              </a:ext>
            </a:extLst>
          </p:cNvPr>
          <p:cNvGraphicFramePr>
            <a:graphicFrameLocks noGrp="1"/>
          </p:cNvGraphicFramePr>
          <p:nvPr/>
        </p:nvGraphicFramePr>
        <p:xfrm>
          <a:off x="762000" y="4884868"/>
          <a:ext cx="4462782" cy="1463040"/>
        </p:xfrm>
        <a:graphic>
          <a:graphicData uri="http://schemas.openxmlformats.org/drawingml/2006/table">
            <a:tbl>
              <a:tblPr bandRow="1">
                <a:tableStyleId>{5C22544A-7EE6-4342-B048-85BDC9FD1C3A}</a:tableStyleId>
              </a:tblPr>
              <a:tblGrid>
                <a:gridCol w="2231391">
                  <a:extLst>
                    <a:ext uri="{9D8B030D-6E8A-4147-A177-3AD203B41FA5}">
                      <a16:colId xmlns:a16="http://schemas.microsoft.com/office/drawing/2014/main" val="1641103558"/>
                    </a:ext>
                  </a:extLst>
                </a:gridCol>
                <a:gridCol w="2231391">
                  <a:extLst>
                    <a:ext uri="{9D8B030D-6E8A-4147-A177-3AD203B41FA5}">
                      <a16:colId xmlns:a16="http://schemas.microsoft.com/office/drawing/2014/main" val="2717886807"/>
                    </a:ext>
                  </a:extLst>
                </a:gridCol>
              </a:tblGrid>
              <a:tr h="0">
                <a:tc>
                  <a:txBody>
                    <a:bodyPr/>
                    <a:lstStyle/>
                    <a:p>
                      <a:pPr>
                        <a:buNone/>
                      </a:pPr>
                      <a:r>
                        <a:rPr lang="en-US"/>
                        <a:t>Cohen’s </a:t>
                      </a:r>
                      <a:r>
                        <a:rPr lang="en-US" i="1"/>
                        <a:t>d</a:t>
                      </a:r>
                      <a:endParaRPr lang="en-US"/>
                    </a:p>
                  </a:txBody>
                  <a:tcPr anchor="ctr">
                    <a:lnL>
                      <a:noFill/>
                    </a:lnL>
                    <a:lnR>
                      <a:noFill/>
                    </a:lnR>
                    <a:lnT>
                      <a:noFill/>
                    </a:lnT>
                    <a:lnB>
                      <a:noFill/>
                    </a:lnB>
                    <a:noFill/>
                  </a:tcPr>
                </a:tc>
                <a:tc>
                  <a:txBody>
                    <a:bodyPr/>
                    <a:lstStyle/>
                    <a:p>
                      <a:pPr>
                        <a:buNone/>
                      </a:pPr>
                      <a:r>
                        <a:rPr lang="en-US"/>
                        <a:t>Interpretation</a:t>
                      </a:r>
                    </a:p>
                  </a:txBody>
                  <a:tcPr anchor="ctr">
                    <a:lnL>
                      <a:noFill/>
                    </a:lnL>
                    <a:lnR>
                      <a:noFill/>
                    </a:lnR>
                    <a:lnT>
                      <a:noFill/>
                    </a:lnT>
                    <a:lnB>
                      <a:noFill/>
                    </a:lnB>
                    <a:noFill/>
                  </a:tcPr>
                </a:tc>
                <a:extLst>
                  <a:ext uri="{0D108BD9-81ED-4DB2-BD59-A6C34878D82A}">
                    <a16:rowId xmlns:a16="http://schemas.microsoft.com/office/drawing/2014/main" val="3114866573"/>
                  </a:ext>
                </a:extLst>
              </a:tr>
              <a:tr h="0">
                <a:tc>
                  <a:txBody>
                    <a:bodyPr/>
                    <a:lstStyle/>
                    <a:p>
                      <a:pPr marL="285750" indent="-285750">
                        <a:buFont typeface="Wingdings"/>
                        <a:buChar char="Ø"/>
                      </a:pPr>
                      <a:r>
                        <a:rPr lang="en-US"/>
                        <a:t>0.2</a:t>
                      </a:r>
                    </a:p>
                  </a:txBody>
                  <a:tcPr anchor="ctr">
                    <a:lnL>
                      <a:noFill/>
                    </a:lnL>
                    <a:lnR>
                      <a:noFill/>
                    </a:lnR>
                    <a:lnT>
                      <a:noFill/>
                    </a:lnT>
                    <a:lnB>
                      <a:noFill/>
                    </a:lnB>
                    <a:noFill/>
                  </a:tcPr>
                </a:tc>
                <a:tc>
                  <a:txBody>
                    <a:bodyPr/>
                    <a:lstStyle/>
                    <a:p>
                      <a:pPr>
                        <a:buNone/>
                      </a:pPr>
                      <a:r>
                        <a:rPr lang="en-US"/>
                        <a:t>Small effect</a:t>
                      </a:r>
                    </a:p>
                  </a:txBody>
                  <a:tcPr anchor="ctr">
                    <a:lnL>
                      <a:noFill/>
                    </a:lnL>
                    <a:lnR>
                      <a:noFill/>
                    </a:lnR>
                    <a:lnT>
                      <a:noFill/>
                    </a:lnT>
                    <a:lnB>
                      <a:noFill/>
                    </a:lnB>
                    <a:noFill/>
                  </a:tcPr>
                </a:tc>
                <a:extLst>
                  <a:ext uri="{0D108BD9-81ED-4DB2-BD59-A6C34878D82A}">
                    <a16:rowId xmlns:a16="http://schemas.microsoft.com/office/drawing/2014/main" val="4293732366"/>
                  </a:ext>
                </a:extLst>
              </a:tr>
              <a:tr h="0">
                <a:tc>
                  <a:txBody>
                    <a:bodyPr/>
                    <a:lstStyle/>
                    <a:p>
                      <a:pPr marL="285750" indent="-285750">
                        <a:buFont typeface="Wingdings"/>
                        <a:buChar char="Ø"/>
                      </a:pPr>
                      <a:r>
                        <a:rPr lang="en-US"/>
                        <a:t>0.5</a:t>
                      </a:r>
                    </a:p>
                  </a:txBody>
                  <a:tcPr anchor="ctr">
                    <a:lnL>
                      <a:noFill/>
                    </a:lnL>
                    <a:lnR>
                      <a:noFill/>
                    </a:lnR>
                    <a:lnT>
                      <a:noFill/>
                    </a:lnT>
                    <a:lnB>
                      <a:noFill/>
                    </a:lnB>
                    <a:noFill/>
                  </a:tcPr>
                </a:tc>
                <a:tc>
                  <a:txBody>
                    <a:bodyPr/>
                    <a:lstStyle/>
                    <a:p>
                      <a:pPr>
                        <a:buNone/>
                      </a:pPr>
                      <a:r>
                        <a:rPr lang="en-US"/>
                        <a:t>Medium effect</a:t>
                      </a:r>
                    </a:p>
                  </a:txBody>
                  <a:tcPr anchor="ctr">
                    <a:lnL>
                      <a:noFill/>
                    </a:lnL>
                    <a:lnR>
                      <a:noFill/>
                    </a:lnR>
                    <a:lnT>
                      <a:noFill/>
                    </a:lnT>
                    <a:lnB>
                      <a:noFill/>
                    </a:lnB>
                    <a:noFill/>
                  </a:tcPr>
                </a:tc>
                <a:extLst>
                  <a:ext uri="{0D108BD9-81ED-4DB2-BD59-A6C34878D82A}">
                    <a16:rowId xmlns:a16="http://schemas.microsoft.com/office/drawing/2014/main" val="3327556208"/>
                  </a:ext>
                </a:extLst>
              </a:tr>
              <a:tr h="0">
                <a:tc>
                  <a:txBody>
                    <a:bodyPr/>
                    <a:lstStyle/>
                    <a:p>
                      <a:pPr marL="285750" indent="-285750">
                        <a:buFont typeface="Wingdings"/>
                        <a:buChar char="Ø"/>
                      </a:pPr>
                      <a:r>
                        <a:rPr lang="en-US"/>
                        <a:t>0.8</a:t>
                      </a:r>
                    </a:p>
                  </a:txBody>
                  <a:tcPr anchor="ctr">
                    <a:lnL>
                      <a:noFill/>
                    </a:lnL>
                    <a:lnR>
                      <a:noFill/>
                    </a:lnR>
                    <a:lnT>
                      <a:noFill/>
                    </a:lnT>
                    <a:lnB>
                      <a:noFill/>
                    </a:lnB>
                    <a:noFill/>
                  </a:tcPr>
                </a:tc>
                <a:tc>
                  <a:txBody>
                    <a:bodyPr/>
                    <a:lstStyle/>
                    <a:p>
                      <a:pPr>
                        <a:buNone/>
                      </a:pPr>
                      <a:r>
                        <a:rPr lang="en-US"/>
                        <a:t>Large effect</a:t>
                      </a:r>
                    </a:p>
                  </a:txBody>
                  <a:tcPr anchor="ctr">
                    <a:lnL>
                      <a:noFill/>
                    </a:lnL>
                    <a:lnR>
                      <a:noFill/>
                    </a:lnR>
                    <a:lnT>
                      <a:noFill/>
                    </a:lnT>
                    <a:lnB>
                      <a:noFill/>
                    </a:lnB>
                    <a:noFill/>
                  </a:tcPr>
                </a:tc>
                <a:extLst>
                  <a:ext uri="{0D108BD9-81ED-4DB2-BD59-A6C34878D82A}">
                    <a16:rowId xmlns:a16="http://schemas.microsoft.com/office/drawing/2014/main" val="3635133520"/>
                  </a:ext>
                </a:extLst>
              </a:tr>
            </a:tbl>
          </a:graphicData>
        </a:graphic>
      </p:graphicFrame>
    </p:spTree>
    <p:extLst>
      <p:ext uri="{BB962C8B-B14F-4D97-AF65-F5344CB8AC3E}">
        <p14:creationId xmlns:p14="http://schemas.microsoft.com/office/powerpoint/2010/main" val="2536521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AI-generated content may be incorrect.">
            <a:extLst>
              <a:ext uri="{FF2B5EF4-FFF2-40B4-BE49-F238E27FC236}">
                <a16:creationId xmlns:a16="http://schemas.microsoft.com/office/drawing/2014/main" id="{101534DC-24A1-974A-CDB3-B1D7DB436550}"/>
              </a:ext>
            </a:extLst>
          </p:cNvPr>
          <p:cNvPicPr>
            <a:picLocks noGrp="1" noChangeAspect="1"/>
          </p:cNvPicPr>
          <p:nvPr>
            <p:ph idx="13"/>
          </p:nvPr>
        </p:nvPicPr>
        <p:blipFill>
          <a:blip r:embed="rId2"/>
          <a:stretch>
            <a:fillRect/>
          </a:stretch>
        </p:blipFill>
        <p:spPr bwMode="auto">
          <a:xfrm>
            <a:off x="754063" y="1550156"/>
            <a:ext cx="10566400" cy="42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B59028E7-D2C2-4600-D261-9A04BBE087B1}"/>
              </a:ext>
            </a:extLst>
          </p:cNvPr>
          <p:cNvSpPr>
            <a:spLocks noGrp="1"/>
          </p:cNvSpPr>
          <p:nvPr>
            <p:ph type="title"/>
          </p:nvPr>
        </p:nvSpPr>
        <p:spPr/>
        <p:txBody>
          <a:bodyPr/>
          <a:lstStyle/>
          <a:p>
            <a:r>
              <a:rPr lang="en-US">
                <a:latin typeface="Arial"/>
                <a:ea typeface="SimHei"/>
                <a:cs typeface="Arial"/>
              </a:rPr>
              <a:t>Appendix 2: Detailed Data Tables</a:t>
            </a:r>
            <a:endParaRPr lang="en-US"/>
          </a:p>
        </p:txBody>
      </p:sp>
      <p:sp>
        <p:nvSpPr>
          <p:cNvPr id="4" name="Slide Number Placeholder 3">
            <a:extLst>
              <a:ext uri="{FF2B5EF4-FFF2-40B4-BE49-F238E27FC236}">
                <a16:creationId xmlns:a16="http://schemas.microsoft.com/office/drawing/2014/main" id="{C40CEE0D-EC5D-E7EF-9EDD-D585E9191341}"/>
              </a:ext>
            </a:extLst>
          </p:cNvPr>
          <p:cNvSpPr>
            <a:spLocks noGrp="1"/>
          </p:cNvSpPr>
          <p:nvPr>
            <p:ph type="sldNum" sz="quarter" idx="11"/>
          </p:nvPr>
        </p:nvSpPr>
        <p:spPr/>
        <p:txBody>
          <a:bodyPr/>
          <a:lstStyle/>
          <a:p>
            <a:fld id="{2DA035EE-A575-442D-B43B-59075C422C34}" type="slidenum">
              <a:rPr lang="zh-CN" altLang="en-US" smtClean="0"/>
              <a:t>22</a:t>
            </a:fld>
            <a:endParaRPr lang="zh-CN" altLang="en-US"/>
          </a:p>
        </p:txBody>
      </p:sp>
      <p:sp>
        <p:nvSpPr>
          <p:cNvPr id="5" name="Content Placeholder 4">
            <a:extLst>
              <a:ext uri="{FF2B5EF4-FFF2-40B4-BE49-F238E27FC236}">
                <a16:creationId xmlns:a16="http://schemas.microsoft.com/office/drawing/2014/main" id="{3566B303-153B-A069-05B4-96D5C0212C13}"/>
              </a:ext>
            </a:extLst>
          </p:cNvPr>
          <p:cNvSpPr>
            <a:spLocks noGrp="1"/>
          </p:cNvSpPr>
          <p:nvPr>
            <p:ph idx="12"/>
          </p:nvPr>
        </p:nvSpPr>
        <p:spPr/>
        <p:txBody>
          <a:bodyPr/>
          <a:lstStyle/>
          <a:p>
            <a:endParaRPr lang="en-US"/>
          </a:p>
        </p:txBody>
      </p:sp>
    </p:spTree>
    <p:extLst>
      <p:ext uri="{BB962C8B-B14F-4D97-AF65-F5344CB8AC3E}">
        <p14:creationId xmlns:p14="http://schemas.microsoft.com/office/powerpoint/2010/main" val="2590434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CF2CF-04D3-7515-1695-77D9E3168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C603C-9B77-D320-BA0C-B299DAA675D3}"/>
              </a:ext>
            </a:extLst>
          </p:cNvPr>
          <p:cNvSpPr>
            <a:spLocks noGrp="1"/>
          </p:cNvSpPr>
          <p:nvPr>
            <p:ph type="title"/>
          </p:nvPr>
        </p:nvSpPr>
        <p:spPr>
          <a:xfrm>
            <a:off x="766233" y="523351"/>
            <a:ext cx="10668000" cy="447330"/>
          </a:xfrm>
        </p:spPr>
        <p:txBody>
          <a:bodyPr wrap="square" anchor="ctr">
            <a:normAutofit/>
          </a:bodyPr>
          <a:lstStyle/>
          <a:p>
            <a:pPr>
              <a:lnSpc>
                <a:spcPct val="90000"/>
              </a:lnSpc>
            </a:pPr>
            <a:r>
              <a:rPr lang="es-MX" err="1">
                <a:ea typeface="SimHei"/>
              </a:rPr>
              <a:t>Appendix</a:t>
            </a:r>
            <a:r>
              <a:rPr lang="es-MX">
                <a:ea typeface="SimHei"/>
              </a:rPr>
              <a:t> 3 : </a:t>
            </a:r>
            <a:r>
              <a:rPr lang="es-MX" err="1">
                <a:ea typeface="SimHei"/>
              </a:rPr>
              <a:t>Clustering</a:t>
            </a:r>
            <a:r>
              <a:rPr lang="es-MX">
                <a:ea typeface="SimHei"/>
              </a:rPr>
              <a:t>: </a:t>
            </a:r>
            <a:endParaRPr lang="en-CN" kern="1200">
              <a:ea typeface="SimHei"/>
            </a:endParaRPr>
          </a:p>
        </p:txBody>
      </p:sp>
      <p:pic>
        <p:nvPicPr>
          <p:cNvPr id="14" name="Content Placeholder 13" descr="A graph of clustering scree plot&#10;&#10;AI-generated content may be incorrect.">
            <a:extLst>
              <a:ext uri="{FF2B5EF4-FFF2-40B4-BE49-F238E27FC236}">
                <a16:creationId xmlns:a16="http://schemas.microsoft.com/office/drawing/2014/main" id="{DBC85D1E-282A-4C1F-A410-252304F202B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24000" y="1649532"/>
            <a:ext cx="4093930" cy="3400110"/>
          </a:xfrm>
        </p:spPr>
      </p:pic>
      <p:sp>
        <p:nvSpPr>
          <p:cNvPr id="11" name="Slide Number Placeholder 3">
            <a:extLst>
              <a:ext uri="{FF2B5EF4-FFF2-40B4-BE49-F238E27FC236}">
                <a16:creationId xmlns:a16="http://schemas.microsoft.com/office/drawing/2014/main" id="{D7219EB2-958A-C1E5-E4EF-D0BF7B7FAEFD}"/>
              </a:ext>
            </a:extLst>
          </p:cNvPr>
          <p:cNvSpPr>
            <a:spLocks noGrp="1"/>
          </p:cNvSpPr>
          <p:nvPr>
            <p:ph type="sldNum" sz="quarter" idx="11"/>
          </p:nvPr>
        </p:nvSpPr>
        <p:spPr/>
        <p:txBody>
          <a:bodyPr/>
          <a:lstStyle/>
          <a:p>
            <a:pPr>
              <a:spcAft>
                <a:spcPts val="600"/>
              </a:spcAft>
            </a:pPr>
            <a:fld id="{2DA035EE-A575-442D-B43B-59075C422C34}" type="slidenum">
              <a:rPr lang="zh-CN" altLang="en-US" smtClean="0"/>
              <a:pPr>
                <a:spcAft>
                  <a:spcPts val="600"/>
                </a:spcAft>
              </a:pPr>
              <a:t>23</a:t>
            </a:fld>
            <a:endParaRPr lang="zh-CN" altLang="en-US"/>
          </a:p>
        </p:txBody>
      </p:sp>
      <p:pic>
        <p:nvPicPr>
          <p:cNvPr id="17" name="Content Placeholder 16" descr="A graph with colorful squares and lines&#10;&#10;AI-generated content may be incorrect.">
            <a:extLst>
              <a:ext uri="{FF2B5EF4-FFF2-40B4-BE49-F238E27FC236}">
                <a16:creationId xmlns:a16="http://schemas.microsoft.com/office/drawing/2014/main" id="{5D5744E3-A5A8-96B1-2767-A7141B7B4350}"/>
              </a:ext>
            </a:extLst>
          </p:cNvPr>
          <p:cNvPicPr>
            <a:picLocks noGrp="1" noChangeAspect="1"/>
          </p:cNvPicPr>
          <p:nvPr>
            <p:ph idx="12"/>
          </p:nvPr>
        </p:nvPicPr>
        <p:blipFill>
          <a:blip r:embed="rId4">
            <a:extLst>
              <a:ext uri="{28A0092B-C50C-407E-A947-70E740481C1C}">
                <a14:useLocalDpi xmlns:a14="http://schemas.microsoft.com/office/drawing/2010/main" val="0"/>
              </a:ext>
            </a:extLst>
          </a:blip>
          <a:stretch>
            <a:fillRect/>
          </a:stretch>
        </p:blipFill>
        <p:spPr>
          <a:xfrm>
            <a:off x="6088509" y="1649532"/>
            <a:ext cx="3965984" cy="3239895"/>
          </a:xfrm>
        </p:spPr>
      </p:pic>
      <p:sp>
        <p:nvSpPr>
          <p:cNvPr id="18" name="TextBox 17">
            <a:extLst>
              <a:ext uri="{FF2B5EF4-FFF2-40B4-BE49-F238E27FC236}">
                <a16:creationId xmlns:a16="http://schemas.microsoft.com/office/drawing/2014/main" id="{B013C09E-9ED4-6F60-95B2-5C88A7E5D110}"/>
              </a:ext>
            </a:extLst>
          </p:cNvPr>
          <p:cNvSpPr txBox="1"/>
          <p:nvPr/>
        </p:nvSpPr>
        <p:spPr>
          <a:xfrm>
            <a:off x="957414" y="1337187"/>
            <a:ext cx="10277172" cy="369332"/>
          </a:xfrm>
          <a:prstGeom prst="rect">
            <a:avLst/>
          </a:prstGeom>
          <a:noFill/>
        </p:spPr>
        <p:txBody>
          <a:bodyPr wrap="none" rtlCol="0">
            <a:spAutoFit/>
          </a:bodyPr>
          <a:lstStyle/>
          <a:p>
            <a:r>
              <a:rPr lang="en-GB" b="1" i="1"/>
              <a:t>How many distinct social media usage </a:t>
            </a:r>
            <a:r>
              <a:rPr lang="en-GB" b="1" i="1" err="1"/>
              <a:t>behavior</a:t>
            </a:r>
            <a:r>
              <a:rPr lang="en-GB" b="1" i="1"/>
              <a:t> patterns can be identified among students?</a:t>
            </a:r>
          </a:p>
        </p:txBody>
      </p:sp>
      <p:sp>
        <p:nvSpPr>
          <p:cNvPr id="5" name="TextBox 4">
            <a:extLst>
              <a:ext uri="{FF2B5EF4-FFF2-40B4-BE49-F238E27FC236}">
                <a16:creationId xmlns:a16="http://schemas.microsoft.com/office/drawing/2014/main" id="{A323DC14-7DB4-00C1-1D2B-273F5EB00BA6}"/>
              </a:ext>
            </a:extLst>
          </p:cNvPr>
          <p:cNvSpPr txBox="1"/>
          <p:nvPr/>
        </p:nvSpPr>
        <p:spPr>
          <a:xfrm>
            <a:off x="812829" y="4994787"/>
            <a:ext cx="8892178" cy="646331"/>
          </a:xfrm>
          <a:prstGeom prst="rect">
            <a:avLst/>
          </a:prstGeom>
          <a:noFill/>
        </p:spPr>
        <p:txBody>
          <a:bodyPr wrap="none" lIns="91440" tIns="45720" rIns="91440" bIns="45720" rtlCol="0" anchor="t">
            <a:spAutoFit/>
          </a:bodyPr>
          <a:lstStyle/>
          <a:p>
            <a:r>
              <a:rPr lang="en-GB" b="1" i="1"/>
              <a:t>First we find out the number of clusters to use : 4</a:t>
            </a:r>
          </a:p>
          <a:p>
            <a:r>
              <a:rPr lang="en-GB" b="1" i="1">
                <a:cs typeface="Arial"/>
              </a:rPr>
              <a:t>Using this information, we then separated the data in the four following cluster. </a:t>
            </a:r>
          </a:p>
        </p:txBody>
      </p:sp>
    </p:spTree>
    <p:extLst>
      <p:ext uri="{BB962C8B-B14F-4D97-AF65-F5344CB8AC3E}">
        <p14:creationId xmlns:p14="http://schemas.microsoft.com/office/powerpoint/2010/main" val="286841800"/>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E27B4-79BF-077E-B396-057773738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33E78-D497-EE9D-3C75-FFBC81946606}"/>
              </a:ext>
            </a:extLst>
          </p:cNvPr>
          <p:cNvSpPr>
            <a:spLocks noGrp="1"/>
          </p:cNvSpPr>
          <p:nvPr>
            <p:ph type="title"/>
          </p:nvPr>
        </p:nvSpPr>
        <p:spPr>
          <a:xfrm>
            <a:off x="766233" y="534236"/>
            <a:ext cx="10668000" cy="447330"/>
          </a:xfrm>
        </p:spPr>
        <p:txBody>
          <a:bodyPr wrap="square" anchor="ctr">
            <a:normAutofit/>
          </a:bodyPr>
          <a:lstStyle/>
          <a:p>
            <a:pPr>
              <a:lnSpc>
                <a:spcPct val="90000"/>
              </a:lnSpc>
            </a:pPr>
            <a:r>
              <a:rPr lang="es-MX">
                <a:ea typeface="SimHei"/>
              </a:rPr>
              <a:t>Appendix 4: Clustering</a:t>
            </a:r>
            <a:endParaRPr lang="en-US" kern="1200">
              <a:ea typeface="SimHei"/>
              <a:cs typeface="Arial"/>
            </a:endParaRPr>
          </a:p>
        </p:txBody>
      </p:sp>
      <p:pic>
        <p:nvPicPr>
          <p:cNvPr id="6" name="Content Placeholder 5" descr="A screenshot of a chart&#10;&#10;AI-generated content may be incorrect.">
            <a:extLst>
              <a:ext uri="{FF2B5EF4-FFF2-40B4-BE49-F238E27FC236}">
                <a16:creationId xmlns:a16="http://schemas.microsoft.com/office/drawing/2014/main" id="{020FD33F-7838-613D-44BE-BA229B39DB0A}"/>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25911" t="6453"/>
          <a:stretch>
            <a:fillRect/>
          </a:stretch>
        </p:blipFill>
        <p:spPr>
          <a:xfrm>
            <a:off x="766233" y="1415845"/>
            <a:ext cx="6744928" cy="4514462"/>
          </a:xfrm>
        </p:spPr>
      </p:pic>
      <p:sp>
        <p:nvSpPr>
          <p:cNvPr id="11" name="Slide Number Placeholder 3">
            <a:extLst>
              <a:ext uri="{FF2B5EF4-FFF2-40B4-BE49-F238E27FC236}">
                <a16:creationId xmlns:a16="http://schemas.microsoft.com/office/drawing/2014/main" id="{5AADF345-C3F1-75EB-9314-B060140FC7BC}"/>
              </a:ext>
            </a:extLst>
          </p:cNvPr>
          <p:cNvSpPr>
            <a:spLocks noGrp="1"/>
          </p:cNvSpPr>
          <p:nvPr>
            <p:ph type="sldNum" sz="quarter" idx="11"/>
          </p:nvPr>
        </p:nvSpPr>
        <p:spPr/>
        <p:txBody>
          <a:bodyPr/>
          <a:lstStyle/>
          <a:p>
            <a:pPr>
              <a:spcAft>
                <a:spcPts val="600"/>
              </a:spcAft>
            </a:pPr>
            <a:fld id="{2DA035EE-A575-442D-B43B-59075C422C34}" type="slidenum">
              <a:rPr lang="zh-CN" altLang="en-US" smtClean="0"/>
              <a:pPr>
                <a:spcAft>
                  <a:spcPts val="600"/>
                </a:spcAft>
              </a:pPr>
              <a:t>24</a:t>
            </a:fld>
            <a:endParaRPr lang="zh-CN" altLang="en-US"/>
          </a:p>
        </p:txBody>
      </p:sp>
      <p:sp>
        <p:nvSpPr>
          <p:cNvPr id="7" name="AutoShape 3">
            <a:extLst>
              <a:ext uri="{FF2B5EF4-FFF2-40B4-BE49-F238E27FC236}">
                <a16:creationId xmlns:a16="http://schemas.microsoft.com/office/drawing/2014/main" id="{3C8010F6-7ECE-3709-BA62-4AACCE3915CB}"/>
              </a:ext>
            </a:extLst>
          </p:cNvPr>
          <p:cNvSpPr>
            <a:spLocks noChangeArrowheads="1"/>
          </p:cNvSpPr>
          <p:nvPr>
            <p:custDataLst>
              <p:tags r:id="rId1"/>
            </p:custDataLst>
          </p:nvPr>
        </p:nvSpPr>
        <p:spPr bwMode="auto">
          <a:xfrm>
            <a:off x="7511161" y="1027620"/>
            <a:ext cx="580237" cy="4875934"/>
          </a:xfrm>
          <a:prstGeom prst="homePlate">
            <a:avLst>
              <a:gd name="adj" fmla="val 100000"/>
            </a:avLst>
          </a:prstGeom>
          <a:solidFill>
            <a:schemeClr val="accent1">
              <a:lumMod val="100000"/>
            </a:schemeClr>
          </a:solidFill>
          <a:ln>
            <a:noFill/>
          </a:ln>
          <a:effectLst/>
        </p:spPr>
        <p:txBody>
          <a:bodyPr wrap="none" lIns="0" tIns="0" rIns="0" bIns="0" anchor="ctr"/>
          <a:lstStyle/>
          <a:p>
            <a:endParaRPr lang="en-GB"/>
          </a:p>
        </p:txBody>
      </p:sp>
      <p:sp>
        <p:nvSpPr>
          <p:cNvPr id="8" name="TextBox 7">
            <a:extLst>
              <a:ext uri="{FF2B5EF4-FFF2-40B4-BE49-F238E27FC236}">
                <a16:creationId xmlns:a16="http://schemas.microsoft.com/office/drawing/2014/main" id="{87C70676-D373-A99A-AD64-1ACD98B8C04F}"/>
              </a:ext>
            </a:extLst>
          </p:cNvPr>
          <p:cNvSpPr txBox="1"/>
          <p:nvPr/>
        </p:nvSpPr>
        <p:spPr>
          <a:xfrm>
            <a:off x="8278763" y="1763800"/>
            <a:ext cx="2821856" cy="3084178"/>
          </a:xfrm>
          <a:prstGeom prst="rect">
            <a:avLst/>
          </a:prstGeom>
          <a:noFill/>
        </p:spPr>
        <p:txBody>
          <a:bodyPr wrap="square" rtlCol="0">
            <a:spAutoFit/>
          </a:bodyPr>
          <a:lstStyle/>
          <a:p>
            <a:pPr>
              <a:lnSpc>
                <a:spcPct val="200000"/>
              </a:lnSpc>
            </a:pPr>
            <a:r>
              <a:rPr lang="en-GB" sz="1600" b="1"/>
              <a:t>4 Profiles were identified</a:t>
            </a:r>
          </a:p>
          <a:p>
            <a:pPr marL="342900" indent="-342900">
              <a:lnSpc>
                <a:spcPct val="200000"/>
              </a:lnSpc>
              <a:buFont typeface="+mj-lt"/>
              <a:buAutoNum type="arabicPeriod"/>
            </a:pPr>
            <a:r>
              <a:rPr lang="en-GB" sz="1600"/>
              <a:t>Low-Usage Users</a:t>
            </a:r>
          </a:p>
          <a:p>
            <a:pPr marL="342900" indent="-342900">
              <a:lnSpc>
                <a:spcPct val="200000"/>
              </a:lnSpc>
              <a:buFont typeface="+mj-lt"/>
              <a:buAutoNum type="arabicPeriod"/>
            </a:pPr>
            <a:r>
              <a:rPr lang="en-GB" sz="1600"/>
              <a:t>Balanced Users</a:t>
            </a:r>
          </a:p>
          <a:p>
            <a:pPr marL="342900" indent="-342900">
              <a:lnSpc>
                <a:spcPct val="200000"/>
              </a:lnSpc>
              <a:buFont typeface="+mj-lt"/>
              <a:buAutoNum type="arabicPeriod"/>
            </a:pPr>
            <a:r>
              <a:rPr lang="en-GB" sz="1600"/>
              <a:t>Moderate-Risk Users </a:t>
            </a:r>
          </a:p>
          <a:p>
            <a:pPr marL="342900" indent="-342900">
              <a:lnSpc>
                <a:spcPct val="200000"/>
              </a:lnSpc>
              <a:buFont typeface="+mj-lt"/>
              <a:buAutoNum type="arabicPeriod"/>
            </a:pPr>
            <a:r>
              <a:rPr lang="en-GB" sz="1600"/>
              <a:t>High-Risk Addicted Users</a:t>
            </a:r>
          </a:p>
        </p:txBody>
      </p:sp>
    </p:spTree>
    <p:extLst>
      <p:ext uri="{BB962C8B-B14F-4D97-AF65-F5344CB8AC3E}">
        <p14:creationId xmlns:p14="http://schemas.microsoft.com/office/powerpoint/2010/main" val="2987834896"/>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7D0B6-B634-0B21-4E0A-342AEEFCADA0}"/>
            </a:ext>
          </a:extLst>
        </p:cNvPr>
        <p:cNvGrpSpPr/>
        <p:nvPr/>
      </p:nvGrpSpPr>
      <p:grpSpPr>
        <a:xfrm>
          <a:off x="0" y="0"/>
          <a:ext cx="0" cy="0"/>
          <a:chOff x="0" y="0"/>
          <a:chExt cx="0" cy="0"/>
        </a:xfrm>
      </p:grpSpPr>
      <p:pic>
        <p:nvPicPr>
          <p:cNvPr id="8" name="Picture 7" descr="A graph with different colored lines&#10;&#10;AI-generated content may be incorrect.">
            <a:extLst>
              <a:ext uri="{FF2B5EF4-FFF2-40B4-BE49-F238E27FC236}">
                <a16:creationId xmlns:a16="http://schemas.microsoft.com/office/drawing/2014/main" id="{932C4542-69BF-D1CD-ABEC-9EF5C547368A}"/>
              </a:ext>
            </a:extLst>
          </p:cNvPr>
          <p:cNvPicPr>
            <a:picLocks noChangeAspect="1"/>
          </p:cNvPicPr>
          <p:nvPr/>
        </p:nvPicPr>
        <p:blipFill>
          <a:blip r:embed="rId3"/>
          <a:stretch>
            <a:fillRect/>
          </a:stretch>
        </p:blipFill>
        <p:spPr>
          <a:xfrm>
            <a:off x="957414" y="1740411"/>
            <a:ext cx="3894487" cy="3239895"/>
          </a:xfrm>
          <a:prstGeom prst="rect">
            <a:avLst/>
          </a:prstGeom>
        </p:spPr>
      </p:pic>
      <p:pic>
        <p:nvPicPr>
          <p:cNvPr id="4" name="Picture 3" descr="A graph with a blue line&#10;&#10;AI-generated content may be incorrect.">
            <a:extLst>
              <a:ext uri="{FF2B5EF4-FFF2-40B4-BE49-F238E27FC236}">
                <a16:creationId xmlns:a16="http://schemas.microsoft.com/office/drawing/2014/main" id="{9D7FB661-996B-871C-C239-58EF59B4068D}"/>
              </a:ext>
            </a:extLst>
          </p:cNvPr>
          <p:cNvPicPr>
            <a:picLocks noChangeAspect="1"/>
          </p:cNvPicPr>
          <p:nvPr/>
        </p:nvPicPr>
        <p:blipFill>
          <a:blip r:embed="rId4"/>
          <a:stretch>
            <a:fillRect/>
          </a:stretch>
        </p:blipFill>
        <p:spPr>
          <a:xfrm>
            <a:off x="6077606" y="1775127"/>
            <a:ext cx="5156980" cy="3400110"/>
          </a:xfrm>
          <a:prstGeom prst="rect">
            <a:avLst/>
          </a:prstGeom>
        </p:spPr>
      </p:pic>
      <p:sp>
        <p:nvSpPr>
          <p:cNvPr id="2" name="Title 1">
            <a:extLst>
              <a:ext uri="{FF2B5EF4-FFF2-40B4-BE49-F238E27FC236}">
                <a16:creationId xmlns:a16="http://schemas.microsoft.com/office/drawing/2014/main" id="{4C9B88B6-FBFB-3BDD-0B5E-51FD83E6FBDB}"/>
              </a:ext>
            </a:extLst>
          </p:cNvPr>
          <p:cNvSpPr>
            <a:spLocks noGrp="1"/>
          </p:cNvSpPr>
          <p:nvPr>
            <p:ph type="title"/>
          </p:nvPr>
        </p:nvSpPr>
        <p:spPr>
          <a:xfrm>
            <a:off x="766233" y="545122"/>
            <a:ext cx="10668000" cy="447330"/>
          </a:xfrm>
        </p:spPr>
        <p:txBody>
          <a:bodyPr wrap="square" anchor="ctr">
            <a:normAutofit/>
          </a:bodyPr>
          <a:lstStyle/>
          <a:p>
            <a:pPr>
              <a:lnSpc>
                <a:spcPct val="90000"/>
              </a:lnSpc>
            </a:pPr>
            <a:r>
              <a:rPr lang="es-MX">
                <a:ea typeface="SimHei"/>
              </a:rPr>
              <a:t>Appendix 5 : Clustering</a:t>
            </a:r>
            <a:endParaRPr lang="en-US" kern="1200">
              <a:ea typeface="SimHei"/>
              <a:cs typeface="Arial"/>
            </a:endParaRPr>
          </a:p>
        </p:txBody>
      </p:sp>
      <p:sp>
        <p:nvSpPr>
          <p:cNvPr id="11" name="Slide Number Placeholder 3">
            <a:extLst>
              <a:ext uri="{FF2B5EF4-FFF2-40B4-BE49-F238E27FC236}">
                <a16:creationId xmlns:a16="http://schemas.microsoft.com/office/drawing/2014/main" id="{12FF4980-776E-C11B-227F-A978F981E5BE}"/>
              </a:ext>
            </a:extLst>
          </p:cNvPr>
          <p:cNvSpPr>
            <a:spLocks noGrp="1"/>
          </p:cNvSpPr>
          <p:nvPr>
            <p:ph type="sldNum" sz="quarter" idx="11"/>
          </p:nvPr>
        </p:nvSpPr>
        <p:spPr/>
        <p:txBody>
          <a:bodyPr/>
          <a:lstStyle/>
          <a:p>
            <a:pPr>
              <a:spcAft>
                <a:spcPts val="600"/>
              </a:spcAft>
            </a:pPr>
            <a:fld id="{2DA035EE-A575-442D-B43B-59075C422C34}" type="slidenum">
              <a:rPr lang="zh-CN" altLang="en-US" smtClean="0"/>
              <a:pPr>
                <a:spcAft>
                  <a:spcPts val="600"/>
                </a:spcAft>
              </a:pPr>
              <a:t>25</a:t>
            </a:fld>
            <a:endParaRPr lang="zh-CN" altLang="en-US"/>
          </a:p>
        </p:txBody>
      </p:sp>
      <p:sp>
        <p:nvSpPr>
          <p:cNvPr id="18" name="TextBox 17">
            <a:extLst>
              <a:ext uri="{FF2B5EF4-FFF2-40B4-BE49-F238E27FC236}">
                <a16:creationId xmlns:a16="http://schemas.microsoft.com/office/drawing/2014/main" id="{55D91106-11C9-3036-987B-E08B091F4F58}"/>
              </a:ext>
            </a:extLst>
          </p:cNvPr>
          <p:cNvSpPr txBox="1"/>
          <p:nvPr/>
        </p:nvSpPr>
        <p:spPr>
          <a:xfrm>
            <a:off x="957414" y="1337187"/>
            <a:ext cx="10277172" cy="369332"/>
          </a:xfrm>
          <a:prstGeom prst="rect">
            <a:avLst/>
          </a:prstGeom>
          <a:noFill/>
        </p:spPr>
        <p:txBody>
          <a:bodyPr wrap="square" rtlCol="0">
            <a:spAutoFit/>
          </a:bodyPr>
          <a:lstStyle/>
          <a:p>
            <a:pPr algn="ctr"/>
            <a:r>
              <a:rPr lang="en-GB" b="1" i="1" dirty="0"/>
              <a:t>How many distinct sunshine exposure patterns can be identified among countries?</a:t>
            </a:r>
          </a:p>
        </p:txBody>
      </p:sp>
      <p:sp>
        <p:nvSpPr>
          <p:cNvPr id="5" name="TextBox 4">
            <a:extLst>
              <a:ext uri="{FF2B5EF4-FFF2-40B4-BE49-F238E27FC236}">
                <a16:creationId xmlns:a16="http://schemas.microsoft.com/office/drawing/2014/main" id="{ADF60756-4A6B-30D7-6A0F-CEE572BFA68E}"/>
              </a:ext>
            </a:extLst>
          </p:cNvPr>
          <p:cNvSpPr txBox="1"/>
          <p:nvPr/>
        </p:nvSpPr>
        <p:spPr>
          <a:xfrm>
            <a:off x="957413" y="4994787"/>
            <a:ext cx="10277171" cy="1200329"/>
          </a:xfrm>
          <a:prstGeom prst="rect">
            <a:avLst/>
          </a:prstGeom>
          <a:noFill/>
        </p:spPr>
        <p:txBody>
          <a:bodyPr wrap="square" lIns="91440" tIns="45720" rIns="91440" bIns="45720" rtlCol="0" anchor="t">
            <a:spAutoFit/>
          </a:bodyPr>
          <a:lstStyle/>
          <a:p>
            <a:r>
              <a:rPr lang="en-GB" b="1" i="1" dirty="0"/>
              <a:t>Three </a:t>
            </a:r>
            <a:r>
              <a:rPr lang="en-GB" dirty="0"/>
              <a:t>patterns were identified: </a:t>
            </a:r>
          </a:p>
          <a:p>
            <a:pPr marL="800100" lvl="1" indent="-342900">
              <a:buFont typeface="+mj-lt"/>
              <a:buAutoNum type="arabicPeriod"/>
            </a:pPr>
            <a:r>
              <a:rPr lang="en-GB" b="1" dirty="0"/>
              <a:t>High-Sunlight Countries</a:t>
            </a:r>
            <a:r>
              <a:rPr lang="en-GB" dirty="0"/>
              <a:t> </a:t>
            </a:r>
          </a:p>
          <a:p>
            <a:pPr marL="800100" lvl="1" indent="-342900">
              <a:buFont typeface="+mj-lt"/>
              <a:buAutoNum type="arabicPeriod"/>
            </a:pPr>
            <a:r>
              <a:rPr lang="en-GB" b="1" dirty="0"/>
              <a:t>Moderate-Sunlight Countries</a:t>
            </a:r>
            <a:r>
              <a:rPr lang="en-GB" dirty="0"/>
              <a:t> </a:t>
            </a:r>
          </a:p>
          <a:p>
            <a:pPr marL="800100" lvl="1" indent="-342900">
              <a:buFont typeface="+mj-lt"/>
              <a:buAutoNum type="arabicPeriod"/>
            </a:pPr>
            <a:r>
              <a:rPr lang="en-GB" b="1" dirty="0"/>
              <a:t>Low-Sunlight Countries</a:t>
            </a:r>
            <a:endParaRPr lang="en-GB" b="1" i="1" dirty="0">
              <a:cs typeface="Arial"/>
            </a:endParaRPr>
          </a:p>
        </p:txBody>
      </p:sp>
    </p:spTree>
    <p:extLst>
      <p:ext uri="{BB962C8B-B14F-4D97-AF65-F5344CB8AC3E}">
        <p14:creationId xmlns:p14="http://schemas.microsoft.com/office/powerpoint/2010/main" val="1965335992"/>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11143-B90D-B8F6-403B-DD66D103D6D8}"/>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1C3C124-551F-DE50-F794-8A50ECC1D67D}"/>
              </a:ext>
            </a:extLst>
          </p:cNvPr>
          <p:cNvPicPr>
            <a:picLocks noGrp="1" noChangeAspect="1"/>
          </p:cNvPicPr>
          <p:nvPr>
            <p:ph idx="13"/>
          </p:nvPr>
        </p:nvPicPr>
        <p:blipFill>
          <a:blip r:embed="rId2"/>
          <a:srcRect t="12708" r="111"/>
          <a:stretch>
            <a:fillRect/>
          </a:stretch>
        </p:blipFill>
        <p:spPr bwMode="auto">
          <a:xfrm>
            <a:off x="619125" y="1184699"/>
            <a:ext cx="10554692" cy="4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DD62888-D20B-A53E-A8C4-6507F407B6C8}"/>
              </a:ext>
            </a:extLst>
          </p:cNvPr>
          <p:cNvSpPr txBox="1"/>
          <p:nvPr/>
        </p:nvSpPr>
        <p:spPr>
          <a:xfrm>
            <a:off x="820616" y="53340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MX" sz="2400" b="1" baseline="0">
                <a:solidFill>
                  <a:srgbClr val="743481"/>
                </a:solidFill>
                <a:latin typeface="Arial"/>
              </a:rPr>
              <a:t>Appendix </a:t>
            </a:r>
            <a:r>
              <a:rPr lang="es-MX" sz="2400" b="1">
                <a:solidFill>
                  <a:srgbClr val="743481"/>
                </a:solidFill>
                <a:latin typeface="Arial"/>
              </a:rPr>
              <a:t>6: ANOVA</a:t>
            </a:r>
            <a:endParaRPr lang="en-US"/>
          </a:p>
          <a:p>
            <a:pPr algn="ctr"/>
            <a:endParaRPr lang="en-US"/>
          </a:p>
        </p:txBody>
      </p:sp>
    </p:spTree>
    <p:extLst>
      <p:ext uri="{BB962C8B-B14F-4D97-AF65-F5344CB8AC3E}">
        <p14:creationId xmlns:p14="http://schemas.microsoft.com/office/powerpoint/2010/main" val="1956790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240C-9BC7-6CB7-4FFC-6D3935E5346C}"/>
            </a:ext>
          </a:extLst>
        </p:cNvPr>
        <p:cNvGrpSpPr/>
        <p:nvPr/>
      </p:nvGrpSpPr>
      <p:grpSpPr>
        <a:xfrm>
          <a:off x="0" y="0"/>
          <a:ext cx="0" cy="0"/>
          <a:chOff x="0" y="0"/>
          <a:chExt cx="0" cy="0"/>
        </a:xfrm>
      </p:grpSpPr>
      <p:pic>
        <p:nvPicPr>
          <p:cNvPr id="2" name="Content Placeholder 1" descr="A screenshot of a graph&#10;&#10;AI-generated content may be incorrect.">
            <a:extLst>
              <a:ext uri="{FF2B5EF4-FFF2-40B4-BE49-F238E27FC236}">
                <a16:creationId xmlns:a16="http://schemas.microsoft.com/office/drawing/2014/main" id="{AEBD2E51-745A-48C3-8AD7-8028BFE0FDF3}"/>
              </a:ext>
            </a:extLst>
          </p:cNvPr>
          <p:cNvPicPr>
            <a:picLocks noGrp="1" noChangeAspect="1"/>
          </p:cNvPicPr>
          <p:nvPr>
            <p:ph idx="13"/>
          </p:nvPr>
        </p:nvPicPr>
        <p:blipFill>
          <a:blip r:embed="rId2"/>
          <a:srcRect t="14634" r="-111" b="244"/>
          <a:stretch>
            <a:fillRect/>
          </a:stretch>
        </p:blipFill>
        <p:spPr bwMode="auto">
          <a:xfrm>
            <a:off x="648062" y="1166995"/>
            <a:ext cx="10578127" cy="408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FF37D3C-7832-3020-058E-F74F1C33327E}"/>
              </a:ext>
            </a:extLst>
          </p:cNvPr>
          <p:cNvSpPr txBox="1"/>
          <p:nvPr/>
        </p:nvSpPr>
        <p:spPr>
          <a:xfrm>
            <a:off x="820615" y="545123"/>
            <a:ext cx="6096000" cy="612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75"/>
              </a:lnSpc>
            </a:pPr>
            <a:r>
              <a:rPr lang="es-MX" sz="2400" b="1" baseline="0">
                <a:solidFill>
                  <a:srgbClr val="743481"/>
                </a:solidFill>
                <a:latin typeface="Arial"/>
                <a:ea typeface="Segoe UI"/>
                <a:cs typeface="Segoe UI"/>
              </a:rPr>
              <a:t>Appendix </a:t>
            </a:r>
            <a:r>
              <a:rPr lang="es-MX" sz="2400" b="1">
                <a:solidFill>
                  <a:srgbClr val="743481"/>
                </a:solidFill>
                <a:latin typeface="Arial"/>
                <a:ea typeface="Segoe UI"/>
                <a:cs typeface="Segoe UI"/>
              </a:rPr>
              <a:t>7: Gender</a:t>
            </a:r>
            <a:r>
              <a:rPr lang="en-US">
                <a:solidFill>
                  <a:srgbClr val="262626"/>
                </a:solidFill>
                <a:latin typeface="Arial"/>
                <a:ea typeface="Segoe UI"/>
                <a:cs typeface="Segoe UI"/>
              </a:rPr>
              <a:t>​</a:t>
            </a:r>
            <a:endParaRPr lang="en-US" sz="2400">
              <a:solidFill>
                <a:srgbClr val="262626"/>
              </a:solidFill>
              <a:latin typeface="Arial"/>
              <a:ea typeface="Segoe UI"/>
              <a:cs typeface="Segoe UI"/>
            </a:endParaRPr>
          </a:p>
          <a:p>
            <a:pPr algn="ctr"/>
            <a:endParaRPr lang="en-US"/>
          </a:p>
        </p:txBody>
      </p:sp>
    </p:spTree>
    <p:extLst>
      <p:ext uri="{BB962C8B-B14F-4D97-AF65-F5344CB8AC3E}">
        <p14:creationId xmlns:p14="http://schemas.microsoft.com/office/powerpoint/2010/main" val="12320359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29971e93-599a-40a2-b506-e35e3c2905d5"/>
  <p:tag name="EE4P_AGENDAWIZARD" val="&lt;ee4p&gt;&lt;layouts&gt;&lt;layout name=&quot;Box 1&quot; id=&quot;1_1&quot;&gt;&lt;standard&gt;&lt;textframe horizontalAnchor=&quot;1&quot; marginBottom=&quot;6&quot; marginLeft=&quot;0&quot; marginRight=&quot;0&quot; marginTop=&quot;6&quot; orientation=&quot;1&quot; verticalAnchor=&quot;1&quot; /&gt;&lt;font name=&quot;+mn-lt&quot; bold=&quot;0&quot; italic=&quot;0&quot; color=&quot;13&quot; /&gt;&lt;paragraphformat firstLineIndent=&quot;0&quot; leftIndent=&quot;0&quot; rightIndent=&quot;0&quot; lineRuleBefore=&quot;&quot; lineRuleWithin=&quot;&quot; lineRuleAfter=&quot;&quot; spaceBefore=&quot;&quot; spaceWithin=&quot;&quot; spaceAfter=&quot;&quot; /&gt;&lt;fill visible=&quot;0&quot; /&gt;&lt;line visible=&quot;0&quot; /&gt;&lt;shadow visible=&quot;0&quot; /&gt;&lt;bulletformat visible=&quot;0&quot; /&gt;&lt;/standard&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40.49992&quot; top=&quot;135.25&quot; width=&quot;878.8124&quot; height=&quot;350.2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10.5|11|12|14|16|18&quot; allowedTimeFormatIds=&quot;1|2|3&quot; slideLayout=&quot;11&quot; customLayoutName=&quot;Nur Titel|Title Only&quot; customLayoutIndex=&quot;&quot; showBreak=&quot;1&quot; singleAgendaSlideSelected=&quot;0&quot; backupSlideTitle=&quot;Backup: %agendaName%&quot; topMargin=&quot;0&quot; leftMargin=&quot;0&quot; allowedLevels=&quot;4&quot; itemNoFormats=&quot;{1}¦{1}.{2}¦{3:alphaLC}¦{3:alphaLC}.{4:alphaLC}&quot; /&gt;&lt;!-- Agenda item formats --&gt;&lt;cases&gt;&lt;case level=&quot;1&quot; selected=&quot;0&quot; break=&quot;0&quot; topMinSpacing=&quot;5&quot; topMaxSpacing=&quot;5&quot; bottomMinSpacing=&quot;0&quot; bottomMaxSpacing=&quot;0&quo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5&quot; visible=&quot;1&quot; /&gt;&lt;font bold=&quot;1&quot; color=&quot;14&quot; /&gt;&lt;/element&gt;&lt;element field=&quot;topic&quot; type=&quot;autoshape&quot; autoShapeType=&quot;1&quot; indent=&quot;(level-1)*(itemSingleHeight+topicLeftSpacing)&quot; indentType=&quot;2&quot;&gt;&lt;paragraphformat alignment=&quot;1&quot; /&gt;&lt;textframe marginLeft=&quot;6&quot; /&gt;&lt;font bold=&quot;1&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5&quot; visible=&quot;1&quot; /&gt;&lt;font bold=&quot;1&quot; color=&quot;14&quot; /&gt;&lt;/element&gt;&lt;element field=&quot;topic&quot; type=&quot;autoshape&quot; autoShapeType=&quot;1&quot; indent=&quot;(level-1)*(itemSingleHeight+topicLeftSpacing)&quot; indentType=&quot;2&quot;&gt;&lt;paragraphformat alignment=&quot;1&quot; /&gt;&lt;font bold=&quot;1&quot; /&gt;&lt;textframe marginLeft=&quot;6&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topicLeftSpacing)&quot; indentType=&quot;2&quot;&gt;&lt;paragraphformat alignment=&quot;1&quot; /&gt;&lt;textframe marginLeft=&quot;6&quot; /&gt;&lt;font bold=&quot;1&quot; italic=&quot;1&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topic&quot; type=&quot;autoshape&quot; autoShapeType=&quot;1&quot; indent=&quot;(level-1)*(itemSingleHeight+topicLeftSpacing)&quot; indentType=&quot;2&quot;&gt;&lt;paragraphformat alignment=&quot;1&quot; /&gt;&lt;font bold=&quot;1&quot; italic=&quot;1&quot; /&gt;&lt;textframe marginLeft=&quot;6&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layoutId=&quot;1_1&quot; hideSeparatingSlides=&quot;0&quot; createSections=&quot;0&quot;&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 /&gt;&lt;/agenda&gt;&lt;/contents&gt;&lt;/ee4p&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Z0EE90743keQWseqtphMs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eqUPqZ8XUeccgDIQ8F.W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p_ShkQZR0mKO6gnqyvNn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kY_IW3V5tky3.ItTIvJt3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RgmpTzZl4UWy.TLREhxMIA"/>
</p:tagLst>
</file>

<file path=ppt/tags/tag7.xml><?xml version="1.0" encoding="utf-8"?>
<p:tagLst xmlns:a="http://schemas.openxmlformats.org/drawingml/2006/main" xmlns:r="http://schemas.openxmlformats.org/officeDocument/2006/relationships" xmlns:p="http://schemas.openxmlformats.org/presentationml/2006/main">
  <p:tag name="EE4P_SMART_ELEMENT_XML" val="&lt;smartelement id=&quot;ProcessArrow&quot; custom=&quot;1&quot;&gt;&lt;value angle=&quot;4&quot; /&gt;&lt;/smartelement&gt;"/>
  <p:tag name="EE4P_STYLE_ID" val="6cd991bf-f022-4378-96e7-2c338aeb3f5a"/>
  <p:tag name="EE4P_STYLE_NAME" val="Box"/>
</p:tagLst>
</file>

<file path=ppt/theme/theme1.xml><?xml version="1.0" encoding="utf-8"?>
<a:theme xmlns:a="http://schemas.openxmlformats.org/drawingml/2006/main" name="tops-seminar-wide">
  <a:themeElements>
    <a:clrScheme name="Tsinghua">
      <a:dk1>
        <a:srgbClr val="262626"/>
      </a:dk1>
      <a:lt1>
        <a:srgbClr val="FFFFFF"/>
      </a:lt1>
      <a:dk2>
        <a:srgbClr val="5B2965"/>
      </a:dk2>
      <a:lt2>
        <a:srgbClr val="E7E6E6"/>
      </a:lt2>
      <a:accent1>
        <a:srgbClr val="743481"/>
      </a:accent1>
      <a:accent2>
        <a:srgbClr val="CA96D4"/>
      </a:accent2>
      <a:accent3>
        <a:srgbClr val="A5A5A5"/>
      </a:accent3>
      <a:accent4>
        <a:srgbClr val="CA96D4"/>
      </a:accent4>
      <a:accent5>
        <a:srgbClr val="CA96D4"/>
      </a:accent5>
      <a:accent6>
        <a:srgbClr val="CA96D4"/>
      </a:accent6>
      <a:hlink>
        <a:srgbClr val="E49800"/>
      </a:hlink>
      <a:folHlink>
        <a:srgbClr val="5D8587"/>
      </a:folHlink>
    </a:clrScheme>
    <a:fontScheme name="Profil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ops-seminar-wide" id="{E91D8D9C-60F0-4E7C-AD84-B783DDBF4347}" vid="{F4578D97-1C8E-4BC2-BCCF-DA84510A71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120</TotalTime>
  <Words>1541</Words>
  <Application>Microsoft Office PowerPoint</Application>
  <PresentationFormat>Grand écran</PresentationFormat>
  <Paragraphs>231</Paragraphs>
  <Slides>27</Slides>
  <Notes>6</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27</vt:i4>
      </vt:variant>
    </vt:vector>
  </HeadingPairs>
  <TitlesOfParts>
    <vt:vector size="38" baseType="lpstr">
      <vt:lpstr>等线</vt:lpstr>
      <vt:lpstr>黑体</vt:lpstr>
      <vt:lpstr>黑体</vt:lpstr>
      <vt:lpstr>System Font Regular</vt:lpstr>
      <vt:lpstr>Wingdings,Sans-Serif</vt:lpstr>
      <vt:lpstr>Aptos</vt:lpstr>
      <vt:lpstr>Arial</vt:lpstr>
      <vt:lpstr>Calibri</vt:lpstr>
      <vt:lpstr>Consolas</vt:lpstr>
      <vt:lpstr>Wingdings</vt:lpstr>
      <vt:lpstr>tops-seminar-wide</vt:lpstr>
      <vt:lpstr>Students’ Social Media Addiction</vt:lpstr>
      <vt:lpstr>Présentation PowerPoint</vt:lpstr>
      <vt:lpstr>Overview</vt:lpstr>
      <vt:lpstr>Présentation PowerPoint</vt:lpstr>
      <vt:lpstr>Correlation Analysis</vt:lpstr>
      <vt:lpstr>Study</vt:lpstr>
      <vt:lpstr>Présentation PowerPoint</vt:lpstr>
      <vt:lpstr>Présentation PowerPoint</vt:lpstr>
      <vt:lpstr>Hypothesis Testing: Investigating Sunshine's Impact on Addiction</vt:lpstr>
      <vt:lpstr>Présentation PowerPoint</vt:lpstr>
      <vt:lpstr>The Engine of Addiction: Platform Comparison</vt:lpstr>
      <vt:lpstr>Présentation PowerPoint</vt:lpstr>
      <vt:lpstr>Présentation PowerPoint</vt:lpstr>
      <vt:lpstr>Présentation PowerPoint</vt:lpstr>
      <vt:lpstr>How does Social Media Impact Academic Performance?</vt:lpstr>
      <vt:lpstr>How individual factors contribute to the academic performance?</vt:lpstr>
      <vt:lpstr>Which factors best predict academic harm together?</vt:lpstr>
      <vt:lpstr>Présentation PowerPoint</vt:lpstr>
      <vt:lpstr>Conclusion Key Drivers of Student Social Media Addiction and Academic Impact</vt:lpstr>
      <vt:lpstr>Do you have any questions? </vt:lpstr>
      <vt:lpstr>Appendix 1 : Cohen's d measure</vt:lpstr>
      <vt:lpstr>Appendix 2: Detailed Data Tables</vt:lpstr>
      <vt:lpstr>Appendix 3 : Clustering: </vt:lpstr>
      <vt:lpstr>Appendix 4: Clustering</vt:lpstr>
      <vt:lpstr>Appendix 5 : Clustering</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IE课程体系改革项目报告</dc:title>
  <dc:creator>Zhao Lei</dc:creator>
  <cp:lastModifiedBy>theo lin</cp:lastModifiedBy>
  <cp:revision>193</cp:revision>
  <dcterms:created xsi:type="dcterms:W3CDTF">2019-12-21T15:40:28Z</dcterms:created>
  <dcterms:modified xsi:type="dcterms:W3CDTF">2025-12-26T03:19:10Z</dcterms:modified>
</cp:coreProperties>
</file>